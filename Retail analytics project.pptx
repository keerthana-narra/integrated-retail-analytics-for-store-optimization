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Lst>
  <p:sldSz cy="6858000" cx="12192000"/>
  <p:notesSz cx="6858000" cy="9144000"/>
  <p:embeddedFontLst>
    <p:embeddedFont>
      <p:font typeface="EB Garamond"/>
      <p:regular r:id="rId32"/>
      <p:bold r:id="rId33"/>
      <p:italic r:id="rId34"/>
      <p:boldItalic r:id="rId3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6" roundtripDataSignature="AMtx7mjaHc0LVHyhoy/3pCKPJKXfKW4m6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slide" Target="slides/slide25.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11" Type="http://schemas.openxmlformats.org/officeDocument/2006/relationships/slide" Target="slides/slide7.xml"/><Relationship Id="rId33" Type="http://schemas.openxmlformats.org/officeDocument/2006/relationships/font" Target="fonts/EBGaramond-bold.fntdata"/><Relationship Id="rId10" Type="http://schemas.openxmlformats.org/officeDocument/2006/relationships/slide" Target="slides/slide6.xml"/><Relationship Id="rId32" Type="http://schemas.openxmlformats.org/officeDocument/2006/relationships/font" Target="fonts/EBGaramond-regular.fntdata"/><Relationship Id="rId13" Type="http://schemas.openxmlformats.org/officeDocument/2006/relationships/slide" Target="slides/slide9.xml"/><Relationship Id="rId35" Type="http://schemas.openxmlformats.org/officeDocument/2006/relationships/font" Target="fonts/EBGaramond-boldItalic.fntdata"/><Relationship Id="rId12" Type="http://schemas.openxmlformats.org/officeDocument/2006/relationships/slide" Target="slides/slide8.xml"/><Relationship Id="rId34" Type="http://schemas.openxmlformats.org/officeDocument/2006/relationships/font" Target="fonts/EBGaramond-italic.fntdata"/><Relationship Id="rId15" Type="http://schemas.openxmlformats.org/officeDocument/2006/relationships/slide" Target="slides/slide11.xml"/><Relationship Id="rId14" Type="http://schemas.openxmlformats.org/officeDocument/2006/relationships/slide" Target="slides/slide10.xml"/><Relationship Id="rId36" Type="http://customschemas.google.com/relationships/presentationmetadata" Target="metadata"/><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3" name="Google Shape;83;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6" name="Google Shape;96;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2" name="Google Shape;102;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4" name="Google Shape;154;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4" name="Google Shape;174;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1" name="Google Shape;181;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9" name="Google Shape;189;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8" name="Google Shape;198;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05" name="Google Shape;205;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17" name="Google Shape;217;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25" name="Google Shape;225;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31" name="Google Shape;231;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40" name="Google Shape;240;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48" name="Google Shape;248;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55" name="Google Shape;255;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64" name="Google Shape;264;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72" name="Google Shape;272;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80" name="Google Shape;280;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89" name="Google Shape;289;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98" name="Google Shape;298;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07" name="Google Shape;307;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13" name="Google Shape;313;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25" name="Google Shape;325;p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33" name="Google Shape;333;p2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41" name="Google Shape;341;p2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p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48" name="Google Shape;348;p2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p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55" name="Google Shape;355;p2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2" name="Shape 12"/>
        <p:cNvGrpSpPr/>
        <p:nvPr/>
      </p:nvGrpSpPr>
      <p:grpSpPr>
        <a:xfrm>
          <a:off x="0" y="0"/>
          <a:ext cx="0" cy="0"/>
          <a:chOff x="0" y="0"/>
          <a:chExt cx="0" cy="0"/>
        </a:xfrm>
      </p:grpSpPr>
      <p:sp>
        <p:nvSpPr>
          <p:cNvPr id="13" name="Google Shape;13;p29"/>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accent5"/>
              </a:buClr>
              <a:buSzPts val="5400"/>
              <a:buFont typeface="EB Garamond"/>
              <a:buNone/>
              <a:defRPr sz="5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 name="Google Shape;14;p29"/>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110000"/>
              </a:lnSpc>
              <a:spcBef>
                <a:spcPts val="1000"/>
              </a:spcBef>
              <a:spcAft>
                <a:spcPts val="0"/>
              </a:spcAft>
              <a:buSzPts val="1920"/>
              <a:buNone/>
              <a:defRPr sz="2400"/>
            </a:lvl1pPr>
            <a:lvl2pPr lvl="1" algn="ctr">
              <a:lnSpc>
                <a:spcPct val="110000"/>
              </a:lnSpc>
              <a:spcBef>
                <a:spcPts val="500"/>
              </a:spcBef>
              <a:spcAft>
                <a:spcPts val="0"/>
              </a:spcAft>
              <a:buSzPts val="1600"/>
              <a:buNone/>
              <a:defRPr sz="2000"/>
            </a:lvl2pPr>
            <a:lvl3pPr lvl="2" algn="ctr">
              <a:lnSpc>
                <a:spcPct val="110000"/>
              </a:lnSpc>
              <a:spcBef>
                <a:spcPts val="500"/>
              </a:spcBef>
              <a:spcAft>
                <a:spcPts val="0"/>
              </a:spcAft>
              <a:buSzPts val="1440"/>
              <a:buNone/>
              <a:defRPr sz="1800"/>
            </a:lvl3pPr>
            <a:lvl4pPr lvl="3" algn="ctr">
              <a:lnSpc>
                <a:spcPct val="110000"/>
              </a:lnSpc>
              <a:spcBef>
                <a:spcPts val="500"/>
              </a:spcBef>
              <a:spcAft>
                <a:spcPts val="0"/>
              </a:spcAft>
              <a:buSzPts val="1280"/>
              <a:buNone/>
              <a:defRPr sz="1600"/>
            </a:lvl4pPr>
            <a:lvl5pPr lvl="4" algn="ctr">
              <a:lnSpc>
                <a:spcPct val="110000"/>
              </a:lnSpc>
              <a:spcBef>
                <a:spcPts val="500"/>
              </a:spcBef>
              <a:spcAft>
                <a:spcPts val="0"/>
              </a:spcAft>
              <a:buSzPts val="128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5" name="Google Shape;15;p29"/>
          <p:cNvSpPr txBox="1"/>
          <p:nvPr>
            <p:ph idx="10" type="dt"/>
          </p:nvPr>
        </p:nvSpPr>
        <p:spPr>
          <a:xfrm>
            <a:off x="838200" y="6429375"/>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 name="Google Shape;16;p29"/>
          <p:cNvSpPr txBox="1"/>
          <p:nvPr>
            <p:ph idx="11" type="ftr"/>
          </p:nvPr>
        </p:nvSpPr>
        <p:spPr>
          <a:xfrm>
            <a:off x="4038600" y="6429375"/>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29"/>
          <p:cNvSpPr txBox="1"/>
          <p:nvPr>
            <p:ph idx="12" type="sldNum"/>
          </p:nvPr>
        </p:nvSpPr>
        <p:spPr>
          <a:xfrm>
            <a:off x="8610600" y="6429375"/>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8" name="Shape 18"/>
        <p:cNvGrpSpPr/>
        <p:nvPr/>
      </p:nvGrpSpPr>
      <p:grpSpPr>
        <a:xfrm>
          <a:off x="0" y="0"/>
          <a:ext cx="0" cy="0"/>
          <a:chOff x="0" y="0"/>
          <a:chExt cx="0" cy="0"/>
        </a:xfrm>
      </p:grpSpPr>
      <p:sp>
        <p:nvSpPr>
          <p:cNvPr id="19" name="Google Shape;19;p30"/>
          <p:cNvSpPr txBox="1"/>
          <p:nvPr>
            <p:ph type="title"/>
          </p:nvPr>
        </p:nvSpPr>
        <p:spPr>
          <a:xfrm>
            <a:off x="838200" y="681037"/>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accent5"/>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30"/>
          <p:cNvSpPr txBox="1"/>
          <p:nvPr>
            <p:ph idx="1" type="body"/>
          </p:nvPr>
        </p:nvSpPr>
        <p:spPr>
          <a:xfrm>
            <a:off x="838200" y="2178657"/>
            <a:ext cx="10515600" cy="3998306"/>
          </a:xfrm>
          <a:prstGeom prst="rect">
            <a:avLst/>
          </a:prstGeom>
          <a:noFill/>
          <a:ln>
            <a:noFill/>
          </a:ln>
        </p:spPr>
        <p:txBody>
          <a:bodyPr anchorCtr="0" anchor="t" bIns="45700" lIns="91425" spcFirstLastPara="1" rIns="91425" wrap="square" tIns="45700">
            <a:normAutofit/>
          </a:bodyPr>
          <a:lstStyle>
            <a:lvl1pPr indent="-370840" lvl="0" marL="457200" algn="l">
              <a:lnSpc>
                <a:spcPct val="110000"/>
              </a:lnSpc>
              <a:spcBef>
                <a:spcPts val="1000"/>
              </a:spcBef>
              <a:spcAft>
                <a:spcPts val="0"/>
              </a:spcAft>
              <a:buSzPts val="2240"/>
              <a:buFont typeface="Noto Sans Symbols"/>
              <a:buChar char="▪"/>
              <a:defRPr/>
            </a:lvl1pPr>
            <a:lvl2pPr indent="-350520" lvl="1" marL="914400" algn="l">
              <a:lnSpc>
                <a:spcPct val="110000"/>
              </a:lnSpc>
              <a:spcBef>
                <a:spcPts val="500"/>
              </a:spcBef>
              <a:spcAft>
                <a:spcPts val="0"/>
              </a:spcAft>
              <a:buSzPts val="1920"/>
              <a:buFont typeface="Noto Sans Symbols"/>
              <a:buChar char="▪"/>
              <a:defRPr/>
            </a:lvl2pPr>
            <a:lvl3pPr indent="-330200" lvl="2" marL="1371600" algn="l">
              <a:lnSpc>
                <a:spcPct val="110000"/>
              </a:lnSpc>
              <a:spcBef>
                <a:spcPts val="500"/>
              </a:spcBef>
              <a:spcAft>
                <a:spcPts val="0"/>
              </a:spcAft>
              <a:buSzPts val="1600"/>
              <a:buFont typeface="Noto Sans Symbols"/>
              <a:buChar char="▪"/>
              <a:defRPr/>
            </a:lvl3pPr>
            <a:lvl4pPr indent="-320040" lvl="3" marL="1828800" algn="l">
              <a:lnSpc>
                <a:spcPct val="110000"/>
              </a:lnSpc>
              <a:spcBef>
                <a:spcPts val="500"/>
              </a:spcBef>
              <a:spcAft>
                <a:spcPts val="0"/>
              </a:spcAft>
              <a:buSzPts val="1440"/>
              <a:buFont typeface="Noto Sans Symbols"/>
              <a:buChar char="▪"/>
              <a:defRPr/>
            </a:lvl4pPr>
            <a:lvl5pPr indent="-320040" lvl="4" marL="2286000" algn="l">
              <a:lnSpc>
                <a:spcPct val="110000"/>
              </a:lnSpc>
              <a:spcBef>
                <a:spcPts val="500"/>
              </a:spcBef>
              <a:spcAft>
                <a:spcPts val="0"/>
              </a:spcAft>
              <a:buSzPts val="1440"/>
              <a:buFont typeface="Noto Sans Symbols"/>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1" name="Google Shape;21;p30"/>
          <p:cNvSpPr txBox="1"/>
          <p:nvPr>
            <p:ph idx="10" type="dt"/>
          </p:nvPr>
        </p:nvSpPr>
        <p:spPr>
          <a:xfrm>
            <a:off x="838200" y="6429375"/>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p30"/>
          <p:cNvSpPr txBox="1"/>
          <p:nvPr>
            <p:ph idx="11" type="ftr"/>
          </p:nvPr>
        </p:nvSpPr>
        <p:spPr>
          <a:xfrm>
            <a:off x="4038600" y="6429375"/>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30"/>
          <p:cNvSpPr txBox="1"/>
          <p:nvPr>
            <p:ph idx="12" type="sldNum"/>
          </p:nvPr>
        </p:nvSpPr>
        <p:spPr>
          <a:xfrm>
            <a:off x="8610600" y="6429375"/>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4" name="Shape 24"/>
        <p:cNvGrpSpPr/>
        <p:nvPr/>
      </p:nvGrpSpPr>
      <p:grpSpPr>
        <a:xfrm>
          <a:off x="0" y="0"/>
          <a:ext cx="0" cy="0"/>
          <a:chOff x="0" y="0"/>
          <a:chExt cx="0" cy="0"/>
        </a:xfrm>
      </p:grpSpPr>
      <p:sp>
        <p:nvSpPr>
          <p:cNvPr id="25" name="Google Shape;25;p31"/>
          <p:cNvSpPr txBox="1"/>
          <p:nvPr>
            <p:ph idx="10" type="dt"/>
          </p:nvPr>
        </p:nvSpPr>
        <p:spPr>
          <a:xfrm>
            <a:off x="838200" y="6429375"/>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31"/>
          <p:cNvSpPr txBox="1"/>
          <p:nvPr>
            <p:ph idx="11" type="ftr"/>
          </p:nvPr>
        </p:nvSpPr>
        <p:spPr>
          <a:xfrm>
            <a:off x="4038600" y="6429375"/>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31"/>
          <p:cNvSpPr txBox="1"/>
          <p:nvPr>
            <p:ph idx="12" type="sldNum"/>
          </p:nvPr>
        </p:nvSpPr>
        <p:spPr>
          <a:xfrm>
            <a:off x="8610600" y="6429375"/>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8" name="Shape 28"/>
        <p:cNvGrpSpPr/>
        <p:nvPr/>
      </p:nvGrpSpPr>
      <p:grpSpPr>
        <a:xfrm>
          <a:off x="0" y="0"/>
          <a:ext cx="0" cy="0"/>
          <a:chOff x="0" y="0"/>
          <a:chExt cx="0" cy="0"/>
        </a:xfrm>
      </p:grpSpPr>
      <p:sp>
        <p:nvSpPr>
          <p:cNvPr id="29" name="Google Shape;29;p32"/>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accent5"/>
              </a:buClr>
              <a:buSzPts val="5400"/>
              <a:buFont typeface="EB Garamond"/>
              <a:buNone/>
              <a:defRPr sz="5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32"/>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110000"/>
              </a:lnSpc>
              <a:spcBef>
                <a:spcPts val="1000"/>
              </a:spcBef>
              <a:spcAft>
                <a:spcPts val="0"/>
              </a:spcAft>
              <a:buSzPts val="1920"/>
              <a:buNone/>
              <a:defRPr sz="2400">
                <a:solidFill>
                  <a:srgbClr val="888888"/>
                </a:solidFill>
              </a:defRPr>
            </a:lvl1pPr>
            <a:lvl2pPr indent="-228600" lvl="1" marL="914400" algn="l">
              <a:lnSpc>
                <a:spcPct val="110000"/>
              </a:lnSpc>
              <a:spcBef>
                <a:spcPts val="500"/>
              </a:spcBef>
              <a:spcAft>
                <a:spcPts val="0"/>
              </a:spcAft>
              <a:buSzPts val="1600"/>
              <a:buNone/>
              <a:defRPr sz="2000">
                <a:solidFill>
                  <a:srgbClr val="888888"/>
                </a:solidFill>
              </a:defRPr>
            </a:lvl2pPr>
            <a:lvl3pPr indent="-228600" lvl="2" marL="1371600" algn="l">
              <a:lnSpc>
                <a:spcPct val="110000"/>
              </a:lnSpc>
              <a:spcBef>
                <a:spcPts val="500"/>
              </a:spcBef>
              <a:spcAft>
                <a:spcPts val="0"/>
              </a:spcAft>
              <a:buSzPts val="1440"/>
              <a:buNone/>
              <a:defRPr sz="1800">
                <a:solidFill>
                  <a:srgbClr val="888888"/>
                </a:solidFill>
              </a:defRPr>
            </a:lvl3pPr>
            <a:lvl4pPr indent="-228600" lvl="3" marL="1828800" algn="l">
              <a:lnSpc>
                <a:spcPct val="110000"/>
              </a:lnSpc>
              <a:spcBef>
                <a:spcPts val="500"/>
              </a:spcBef>
              <a:spcAft>
                <a:spcPts val="0"/>
              </a:spcAft>
              <a:buSzPts val="1280"/>
              <a:buNone/>
              <a:defRPr sz="1600">
                <a:solidFill>
                  <a:srgbClr val="888888"/>
                </a:solidFill>
              </a:defRPr>
            </a:lvl4pPr>
            <a:lvl5pPr indent="-228600" lvl="4" marL="2286000" algn="l">
              <a:lnSpc>
                <a:spcPct val="110000"/>
              </a:lnSpc>
              <a:spcBef>
                <a:spcPts val="500"/>
              </a:spcBef>
              <a:spcAft>
                <a:spcPts val="0"/>
              </a:spcAft>
              <a:buSzPts val="128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1" name="Google Shape;31;p32"/>
          <p:cNvSpPr txBox="1"/>
          <p:nvPr>
            <p:ph idx="10" type="dt"/>
          </p:nvPr>
        </p:nvSpPr>
        <p:spPr>
          <a:xfrm>
            <a:off x="838200" y="6429375"/>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32"/>
          <p:cNvSpPr txBox="1"/>
          <p:nvPr>
            <p:ph idx="11" type="ftr"/>
          </p:nvPr>
        </p:nvSpPr>
        <p:spPr>
          <a:xfrm>
            <a:off x="4038600" y="6429375"/>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32"/>
          <p:cNvSpPr txBox="1"/>
          <p:nvPr>
            <p:ph idx="12" type="sldNum"/>
          </p:nvPr>
        </p:nvSpPr>
        <p:spPr>
          <a:xfrm>
            <a:off x="8610600" y="6429375"/>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4" name="Shape 34"/>
        <p:cNvGrpSpPr/>
        <p:nvPr/>
      </p:nvGrpSpPr>
      <p:grpSpPr>
        <a:xfrm>
          <a:off x="0" y="0"/>
          <a:ext cx="0" cy="0"/>
          <a:chOff x="0" y="0"/>
          <a:chExt cx="0" cy="0"/>
        </a:xfrm>
      </p:grpSpPr>
      <p:sp>
        <p:nvSpPr>
          <p:cNvPr id="35" name="Google Shape;35;p33"/>
          <p:cNvSpPr txBox="1"/>
          <p:nvPr>
            <p:ph type="title"/>
          </p:nvPr>
        </p:nvSpPr>
        <p:spPr>
          <a:xfrm>
            <a:off x="838200" y="681037"/>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accent5"/>
              </a:buClr>
              <a:buSzPts val="4800"/>
              <a:buFont typeface="EB Garamond"/>
              <a:buNone/>
              <a:defRPr sz="48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33"/>
          <p:cNvSpPr txBox="1"/>
          <p:nvPr>
            <p:ph idx="1" type="body"/>
          </p:nvPr>
        </p:nvSpPr>
        <p:spPr>
          <a:xfrm>
            <a:off x="838200" y="2057399"/>
            <a:ext cx="5181600" cy="4119563"/>
          </a:xfrm>
          <a:prstGeom prst="rect">
            <a:avLst/>
          </a:prstGeom>
          <a:noFill/>
          <a:ln>
            <a:noFill/>
          </a:ln>
        </p:spPr>
        <p:txBody>
          <a:bodyPr anchorCtr="0" anchor="t" bIns="45700" lIns="91425" spcFirstLastPara="1" rIns="91425" wrap="square" tIns="45700">
            <a:normAutofit/>
          </a:bodyPr>
          <a:lstStyle>
            <a:lvl1pPr indent="-320040" lvl="0" marL="457200" algn="l">
              <a:lnSpc>
                <a:spcPct val="110000"/>
              </a:lnSpc>
              <a:spcBef>
                <a:spcPts val="1000"/>
              </a:spcBef>
              <a:spcAft>
                <a:spcPts val="0"/>
              </a:spcAft>
              <a:buSzPts val="1440"/>
              <a:buChar char="▪"/>
              <a:defRPr/>
            </a:lvl1pPr>
            <a:lvl2pPr indent="-320040" lvl="1" marL="914400" algn="l">
              <a:lnSpc>
                <a:spcPct val="110000"/>
              </a:lnSpc>
              <a:spcBef>
                <a:spcPts val="500"/>
              </a:spcBef>
              <a:spcAft>
                <a:spcPts val="0"/>
              </a:spcAft>
              <a:buSzPts val="1440"/>
              <a:buChar char="▪"/>
              <a:defRPr/>
            </a:lvl2pPr>
            <a:lvl3pPr indent="-320040" lvl="2" marL="1371600" algn="l">
              <a:lnSpc>
                <a:spcPct val="110000"/>
              </a:lnSpc>
              <a:spcBef>
                <a:spcPts val="500"/>
              </a:spcBef>
              <a:spcAft>
                <a:spcPts val="0"/>
              </a:spcAft>
              <a:buSzPts val="1440"/>
              <a:buChar char="▪"/>
              <a:defRPr/>
            </a:lvl3pPr>
            <a:lvl4pPr indent="-320040" lvl="3" marL="1828800" algn="l">
              <a:lnSpc>
                <a:spcPct val="110000"/>
              </a:lnSpc>
              <a:spcBef>
                <a:spcPts val="500"/>
              </a:spcBef>
              <a:spcAft>
                <a:spcPts val="0"/>
              </a:spcAft>
              <a:buSzPts val="1440"/>
              <a:buChar char="▪"/>
              <a:defRPr/>
            </a:lvl4pPr>
            <a:lvl5pPr indent="-320040" lvl="4" marL="2286000" algn="l">
              <a:lnSpc>
                <a:spcPct val="110000"/>
              </a:lnSpc>
              <a:spcBef>
                <a:spcPts val="500"/>
              </a:spcBef>
              <a:spcAft>
                <a:spcPts val="0"/>
              </a:spcAft>
              <a:buSzPts val="144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 name="Google Shape;37;p33"/>
          <p:cNvSpPr txBox="1"/>
          <p:nvPr>
            <p:ph idx="2" type="body"/>
          </p:nvPr>
        </p:nvSpPr>
        <p:spPr>
          <a:xfrm>
            <a:off x="6172200" y="2057399"/>
            <a:ext cx="5181600" cy="4119563"/>
          </a:xfrm>
          <a:prstGeom prst="rect">
            <a:avLst/>
          </a:prstGeom>
          <a:noFill/>
          <a:ln>
            <a:noFill/>
          </a:ln>
        </p:spPr>
        <p:txBody>
          <a:bodyPr anchorCtr="0" anchor="t" bIns="45700" lIns="91425" spcFirstLastPara="1" rIns="91425" wrap="square" tIns="45700">
            <a:normAutofit/>
          </a:bodyPr>
          <a:lstStyle>
            <a:lvl1pPr indent="-320040" lvl="0" marL="457200" algn="l">
              <a:lnSpc>
                <a:spcPct val="110000"/>
              </a:lnSpc>
              <a:spcBef>
                <a:spcPts val="1000"/>
              </a:spcBef>
              <a:spcAft>
                <a:spcPts val="0"/>
              </a:spcAft>
              <a:buSzPts val="1440"/>
              <a:buChar char="▪"/>
              <a:defRPr/>
            </a:lvl1pPr>
            <a:lvl2pPr indent="-320040" lvl="1" marL="914400" algn="l">
              <a:lnSpc>
                <a:spcPct val="110000"/>
              </a:lnSpc>
              <a:spcBef>
                <a:spcPts val="500"/>
              </a:spcBef>
              <a:spcAft>
                <a:spcPts val="0"/>
              </a:spcAft>
              <a:buSzPts val="1440"/>
              <a:buChar char="▪"/>
              <a:defRPr/>
            </a:lvl2pPr>
            <a:lvl3pPr indent="-320040" lvl="2" marL="1371600" algn="l">
              <a:lnSpc>
                <a:spcPct val="110000"/>
              </a:lnSpc>
              <a:spcBef>
                <a:spcPts val="500"/>
              </a:spcBef>
              <a:spcAft>
                <a:spcPts val="0"/>
              </a:spcAft>
              <a:buSzPts val="1440"/>
              <a:buChar char="▪"/>
              <a:defRPr/>
            </a:lvl3pPr>
            <a:lvl4pPr indent="-320040" lvl="3" marL="1828800" algn="l">
              <a:lnSpc>
                <a:spcPct val="110000"/>
              </a:lnSpc>
              <a:spcBef>
                <a:spcPts val="500"/>
              </a:spcBef>
              <a:spcAft>
                <a:spcPts val="0"/>
              </a:spcAft>
              <a:buSzPts val="1440"/>
              <a:buChar char="▪"/>
              <a:defRPr/>
            </a:lvl4pPr>
            <a:lvl5pPr indent="-320040" lvl="4" marL="2286000" algn="l">
              <a:lnSpc>
                <a:spcPct val="110000"/>
              </a:lnSpc>
              <a:spcBef>
                <a:spcPts val="500"/>
              </a:spcBef>
              <a:spcAft>
                <a:spcPts val="0"/>
              </a:spcAft>
              <a:buSzPts val="144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8" name="Google Shape;38;p33"/>
          <p:cNvSpPr txBox="1"/>
          <p:nvPr>
            <p:ph idx="10" type="dt"/>
          </p:nvPr>
        </p:nvSpPr>
        <p:spPr>
          <a:xfrm>
            <a:off x="838200" y="6429375"/>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33"/>
          <p:cNvSpPr txBox="1"/>
          <p:nvPr>
            <p:ph idx="11" type="ftr"/>
          </p:nvPr>
        </p:nvSpPr>
        <p:spPr>
          <a:xfrm>
            <a:off x="4038600" y="6429375"/>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 name="Google Shape;40;p33"/>
          <p:cNvSpPr txBox="1"/>
          <p:nvPr>
            <p:ph idx="12" type="sldNum"/>
          </p:nvPr>
        </p:nvSpPr>
        <p:spPr>
          <a:xfrm>
            <a:off x="8610600" y="6429375"/>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1" name="Shape 41"/>
        <p:cNvGrpSpPr/>
        <p:nvPr/>
      </p:nvGrpSpPr>
      <p:grpSpPr>
        <a:xfrm>
          <a:off x="0" y="0"/>
          <a:ext cx="0" cy="0"/>
          <a:chOff x="0" y="0"/>
          <a:chExt cx="0" cy="0"/>
        </a:xfrm>
      </p:grpSpPr>
      <p:sp>
        <p:nvSpPr>
          <p:cNvPr id="42" name="Google Shape;42;p34"/>
          <p:cNvSpPr txBox="1"/>
          <p:nvPr>
            <p:ph type="title"/>
          </p:nvPr>
        </p:nvSpPr>
        <p:spPr>
          <a:xfrm>
            <a:off x="839788" y="668338"/>
            <a:ext cx="10515600" cy="108426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accent5"/>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34"/>
          <p:cNvSpPr txBox="1"/>
          <p:nvPr>
            <p:ph idx="1" type="body"/>
          </p:nvPr>
        </p:nvSpPr>
        <p:spPr>
          <a:xfrm>
            <a:off x="839788" y="1828800"/>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110000"/>
              </a:lnSpc>
              <a:spcBef>
                <a:spcPts val="1000"/>
              </a:spcBef>
              <a:spcAft>
                <a:spcPts val="0"/>
              </a:spcAft>
              <a:buSzPts val="1920"/>
              <a:buNone/>
              <a:defRPr b="0" sz="2400"/>
            </a:lvl1pPr>
            <a:lvl2pPr indent="-228600" lvl="1" marL="914400" algn="l">
              <a:lnSpc>
                <a:spcPct val="110000"/>
              </a:lnSpc>
              <a:spcBef>
                <a:spcPts val="500"/>
              </a:spcBef>
              <a:spcAft>
                <a:spcPts val="0"/>
              </a:spcAft>
              <a:buSzPts val="1600"/>
              <a:buNone/>
              <a:defRPr b="1" sz="2000"/>
            </a:lvl2pPr>
            <a:lvl3pPr indent="-228600" lvl="2" marL="1371600" algn="l">
              <a:lnSpc>
                <a:spcPct val="110000"/>
              </a:lnSpc>
              <a:spcBef>
                <a:spcPts val="500"/>
              </a:spcBef>
              <a:spcAft>
                <a:spcPts val="0"/>
              </a:spcAft>
              <a:buSzPts val="1440"/>
              <a:buNone/>
              <a:defRPr b="1" sz="1800"/>
            </a:lvl3pPr>
            <a:lvl4pPr indent="-228600" lvl="3" marL="1828800" algn="l">
              <a:lnSpc>
                <a:spcPct val="110000"/>
              </a:lnSpc>
              <a:spcBef>
                <a:spcPts val="500"/>
              </a:spcBef>
              <a:spcAft>
                <a:spcPts val="0"/>
              </a:spcAft>
              <a:buSzPts val="1280"/>
              <a:buNone/>
              <a:defRPr b="1" sz="1600"/>
            </a:lvl4pPr>
            <a:lvl5pPr indent="-228600" lvl="4" marL="2286000" algn="l">
              <a:lnSpc>
                <a:spcPct val="110000"/>
              </a:lnSpc>
              <a:spcBef>
                <a:spcPts val="500"/>
              </a:spcBef>
              <a:spcAft>
                <a:spcPts val="0"/>
              </a:spcAft>
              <a:buSzPts val="128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4" name="Google Shape;44;p34"/>
          <p:cNvSpPr txBox="1"/>
          <p:nvPr>
            <p:ph idx="2" type="body"/>
          </p:nvPr>
        </p:nvSpPr>
        <p:spPr>
          <a:xfrm>
            <a:off x="839788" y="2743199"/>
            <a:ext cx="5157787" cy="3446463"/>
          </a:xfrm>
          <a:prstGeom prst="rect">
            <a:avLst/>
          </a:prstGeom>
          <a:noFill/>
          <a:ln>
            <a:noFill/>
          </a:ln>
        </p:spPr>
        <p:txBody>
          <a:bodyPr anchorCtr="0" anchor="t" bIns="45700" lIns="91425" spcFirstLastPara="1" rIns="91425" wrap="square" tIns="45700">
            <a:normAutofit/>
          </a:bodyPr>
          <a:lstStyle>
            <a:lvl1pPr indent="-320040" lvl="0" marL="457200" algn="l">
              <a:lnSpc>
                <a:spcPct val="110000"/>
              </a:lnSpc>
              <a:spcBef>
                <a:spcPts val="1000"/>
              </a:spcBef>
              <a:spcAft>
                <a:spcPts val="0"/>
              </a:spcAft>
              <a:buSzPts val="1440"/>
              <a:buChar char="▪"/>
              <a:defRPr/>
            </a:lvl1pPr>
            <a:lvl2pPr indent="-320040" lvl="1" marL="914400" algn="l">
              <a:lnSpc>
                <a:spcPct val="110000"/>
              </a:lnSpc>
              <a:spcBef>
                <a:spcPts val="500"/>
              </a:spcBef>
              <a:spcAft>
                <a:spcPts val="0"/>
              </a:spcAft>
              <a:buSzPts val="1440"/>
              <a:buChar char="▪"/>
              <a:defRPr/>
            </a:lvl2pPr>
            <a:lvl3pPr indent="-320040" lvl="2" marL="1371600" algn="l">
              <a:lnSpc>
                <a:spcPct val="110000"/>
              </a:lnSpc>
              <a:spcBef>
                <a:spcPts val="500"/>
              </a:spcBef>
              <a:spcAft>
                <a:spcPts val="0"/>
              </a:spcAft>
              <a:buSzPts val="1440"/>
              <a:buChar char="▪"/>
              <a:defRPr/>
            </a:lvl3pPr>
            <a:lvl4pPr indent="-320040" lvl="3" marL="1828800" algn="l">
              <a:lnSpc>
                <a:spcPct val="110000"/>
              </a:lnSpc>
              <a:spcBef>
                <a:spcPts val="500"/>
              </a:spcBef>
              <a:spcAft>
                <a:spcPts val="0"/>
              </a:spcAft>
              <a:buSzPts val="1440"/>
              <a:buChar char="▪"/>
              <a:defRPr/>
            </a:lvl4pPr>
            <a:lvl5pPr indent="-320040" lvl="4" marL="2286000" algn="l">
              <a:lnSpc>
                <a:spcPct val="110000"/>
              </a:lnSpc>
              <a:spcBef>
                <a:spcPts val="500"/>
              </a:spcBef>
              <a:spcAft>
                <a:spcPts val="0"/>
              </a:spcAft>
              <a:buSzPts val="144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5" name="Google Shape;45;p34"/>
          <p:cNvSpPr txBox="1"/>
          <p:nvPr>
            <p:ph idx="3" type="body"/>
          </p:nvPr>
        </p:nvSpPr>
        <p:spPr>
          <a:xfrm>
            <a:off x="6172200" y="1828800"/>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110000"/>
              </a:lnSpc>
              <a:spcBef>
                <a:spcPts val="1000"/>
              </a:spcBef>
              <a:spcAft>
                <a:spcPts val="0"/>
              </a:spcAft>
              <a:buSzPts val="1920"/>
              <a:buNone/>
              <a:defRPr b="0" sz="2400"/>
            </a:lvl1pPr>
            <a:lvl2pPr indent="-228600" lvl="1" marL="914400" algn="l">
              <a:lnSpc>
                <a:spcPct val="110000"/>
              </a:lnSpc>
              <a:spcBef>
                <a:spcPts val="500"/>
              </a:spcBef>
              <a:spcAft>
                <a:spcPts val="0"/>
              </a:spcAft>
              <a:buSzPts val="1600"/>
              <a:buNone/>
              <a:defRPr b="1" sz="2000"/>
            </a:lvl2pPr>
            <a:lvl3pPr indent="-228600" lvl="2" marL="1371600" algn="l">
              <a:lnSpc>
                <a:spcPct val="110000"/>
              </a:lnSpc>
              <a:spcBef>
                <a:spcPts val="500"/>
              </a:spcBef>
              <a:spcAft>
                <a:spcPts val="0"/>
              </a:spcAft>
              <a:buSzPts val="1440"/>
              <a:buNone/>
              <a:defRPr b="1" sz="1800"/>
            </a:lvl3pPr>
            <a:lvl4pPr indent="-228600" lvl="3" marL="1828800" algn="l">
              <a:lnSpc>
                <a:spcPct val="110000"/>
              </a:lnSpc>
              <a:spcBef>
                <a:spcPts val="500"/>
              </a:spcBef>
              <a:spcAft>
                <a:spcPts val="0"/>
              </a:spcAft>
              <a:buSzPts val="1280"/>
              <a:buNone/>
              <a:defRPr b="1" sz="1600"/>
            </a:lvl4pPr>
            <a:lvl5pPr indent="-228600" lvl="4" marL="2286000" algn="l">
              <a:lnSpc>
                <a:spcPct val="110000"/>
              </a:lnSpc>
              <a:spcBef>
                <a:spcPts val="500"/>
              </a:spcBef>
              <a:spcAft>
                <a:spcPts val="0"/>
              </a:spcAft>
              <a:buSzPts val="128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6" name="Google Shape;46;p34"/>
          <p:cNvSpPr txBox="1"/>
          <p:nvPr>
            <p:ph idx="4" type="body"/>
          </p:nvPr>
        </p:nvSpPr>
        <p:spPr>
          <a:xfrm>
            <a:off x="6172200" y="2743199"/>
            <a:ext cx="5183188" cy="3446463"/>
          </a:xfrm>
          <a:prstGeom prst="rect">
            <a:avLst/>
          </a:prstGeom>
          <a:noFill/>
          <a:ln>
            <a:noFill/>
          </a:ln>
        </p:spPr>
        <p:txBody>
          <a:bodyPr anchorCtr="0" anchor="t" bIns="45700" lIns="91425" spcFirstLastPara="1" rIns="91425" wrap="square" tIns="45700">
            <a:normAutofit/>
          </a:bodyPr>
          <a:lstStyle>
            <a:lvl1pPr indent="-320040" lvl="0" marL="457200" algn="l">
              <a:lnSpc>
                <a:spcPct val="110000"/>
              </a:lnSpc>
              <a:spcBef>
                <a:spcPts val="1000"/>
              </a:spcBef>
              <a:spcAft>
                <a:spcPts val="0"/>
              </a:spcAft>
              <a:buSzPts val="1440"/>
              <a:buChar char="▪"/>
              <a:defRPr/>
            </a:lvl1pPr>
            <a:lvl2pPr indent="-320040" lvl="1" marL="914400" algn="l">
              <a:lnSpc>
                <a:spcPct val="110000"/>
              </a:lnSpc>
              <a:spcBef>
                <a:spcPts val="500"/>
              </a:spcBef>
              <a:spcAft>
                <a:spcPts val="0"/>
              </a:spcAft>
              <a:buSzPts val="1440"/>
              <a:buChar char="▪"/>
              <a:defRPr/>
            </a:lvl2pPr>
            <a:lvl3pPr indent="-320040" lvl="2" marL="1371600" algn="l">
              <a:lnSpc>
                <a:spcPct val="110000"/>
              </a:lnSpc>
              <a:spcBef>
                <a:spcPts val="500"/>
              </a:spcBef>
              <a:spcAft>
                <a:spcPts val="0"/>
              </a:spcAft>
              <a:buSzPts val="1440"/>
              <a:buChar char="▪"/>
              <a:defRPr/>
            </a:lvl3pPr>
            <a:lvl4pPr indent="-320040" lvl="3" marL="1828800" algn="l">
              <a:lnSpc>
                <a:spcPct val="110000"/>
              </a:lnSpc>
              <a:spcBef>
                <a:spcPts val="500"/>
              </a:spcBef>
              <a:spcAft>
                <a:spcPts val="0"/>
              </a:spcAft>
              <a:buSzPts val="1440"/>
              <a:buChar char="▪"/>
              <a:defRPr/>
            </a:lvl4pPr>
            <a:lvl5pPr indent="-320040" lvl="4" marL="2286000" algn="l">
              <a:lnSpc>
                <a:spcPct val="110000"/>
              </a:lnSpc>
              <a:spcBef>
                <a:spcPts val="500"/>
              </a:spcBef>
              <a:spcAft>
                <a:spcPts val="0"/>
              </a:spcAft>
              <a:buSzPts val="144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7" name="Google Shape;47;p34"/>
          <p:cNvSpPr txBox="1"/>
          <p:nvPr>
            <p:ph idx="10" type="dt"/>
          </p:nvPr>
        </p:nvSpPr>
        <p:spPr>
          <a:xfrm>
            <a:off x="838200" y="6429375"/>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34"/>
          <p:cNvSpPr txBox="1"/>
          <p:nvPr>
            <p:ph idx="11" type="ftr"/>
          </p:nvPr>
        </p:nvSpPr>
        <p:spPr>
          <a:xfrm>
            <a:off x="4038600" y="6429375"/>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34"/>
          <p:cNvSpPr txBox="1"/>
          <p:nvPr>
            <p:ph idx="12" type="sldNum"/>
          </p:nvPr>
        </p:nvSpPr>
        <p:spPr>
          <a:xfrm>
            <a:off x="8610600" y="6429375"/>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0" name="Shape 50"/>
        <p:cNvGrpSpPr/>
        <p:nvPr/>
      </p:nvGrpSpPr>
      <p:grpSpPr>
        <a:xfrm>
          <a:off x="0" y="0"/>
          <a:ext cx="0" cy="0"/>
          <a:chOff x="0" y="0"/>
          <a:chExt cx="0" cy="0"/>
        </a:xfrm>
      </p:grpSpPr>
      <p:sp>
        <p:nvSpPr>
          <p:cNvPr id="51" name="Google Shape;51;p35"/>
          <p:cNvSpPr txBox="1"/>
          <p:nvPr>
            <p:ph type="title"/>
          </p:nvPr>
        </p:nvSpPr>
        <p:spPr>
          <a:xfrm>
            <a:off x="838200" y="681037"/>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accent5"/>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35"/>
          <p:cNvSpPr txBox="1"/>
          <p:nvPr>
            <p:ph idx="10" type="dt"/>
          </p:nvPr>
        </p:nvSpPr>
        <p:spPr>
          <a:xfrm>
            <a:off x="838200" y="6429375"/>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35"/>
          <p:cNvSpPr txBox="1"/>
          <p:nvPr>
            <p:ph idx="11" type="ftr"/>
          </p:nvPr>
        </p:nvSpPr>
        <p:spPr>
          <a:xfrm>
            <a:off x="4038600" y="6429375"/>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4" name="Google Shape;54;p35"/>
          <p:cNvSpPr txBox="1"/>
          <p:nvPr>
            <p:ph idx="12" type="sldNum"/>
          </p:nvPr>
        </p:nvSpPr>
        <p:spPr>
          <a:xfrm>
            <a:off x="8610600" y="6429375"/>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5" name="Shape 55"/>
        <p:cNvGrpSpPr/>
        <p:nvPr/>
      </p:nvGrpSpPr>
      <p:grpSpPr>
        <a:xfrm>
          <a:off x="0" y="0"/>
          <a:ext cx="0" cy="0"/>
          <a:chOff x="0" y="0"/>
          <a:chExt cx="0" cy="0"/>
        </a:xfrm>
      </p:grpSpPr>
      <p:sp>
        <p:nvSpPr>
          <p:cNvPr id="56" name="Google Shape;56;p36"/>
          <p:cNvSpPr txBox="1"/>
          <p:nvPr>
            <p:ph type="title"/>
          </p:nvPr>
        </p:nvSpPr>
        <p:spPr>
          <a:xfrm>
            <a:off x="839788" y="685800"/>
            <a:ext cx="3932237" cy="13716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accent5"/>
              </a:buClr>
              <a:buSzPts val="3200"/>
              <a:buFont typeface="EB Garamond"/>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36"/>
          <p:cNvSpPr txBox="1"/>
          <p:nvPr>
            <p:ph idx="1" type="body"/>
          </p:nvPr>
        </p:nvSpPr>
        <p:spPr>
          <a:xfrm>
            <a:off x="5183188" y="685801"/>
            <a:ext cx="6172200" cy="5175250"/>
          </a:xfrm>
          <a:prstGeom prst="rect">
            <a:avLst/>
          </a:prstGeom>
          <a:noFill/>
          <a:ln>
            <a:noFill/>
          </a:ln>
        </p:spPr>
        <p:txBody>
          <a:bodyPr anchorCtr="0" anchor="t" bIns="45700" lIns="91425" spcFirstLastPara="1" rIns="91425" wrap="square" tIns="45700">
            <a:normAutofit/>
          </a:bodyPr>
          <a:lstStyle>
            <a:lvl1pPr indent="-391160" lvl="0" marL="457200" algn="l">
              <a:lnSpc>
                <a:spcPct val="110000"/>
              </a:lnSpc>
              <a:spcBef>
                <a:spcPts val="1000"/>
              </a:spcBef>
              <a:spcAft>
                <a:spcPts val="0"/>
              </a:spcAft>
              <a:buSzPts val="2560"/>
              <a:buChar char="▪"/>
              <a:defRPr sz="3200"/>
            </a:lvl1pPr>
            <a:lvl2pPr indent="-370840" lvl="1" marL="914400" algn="l">
              <a:lnSpc>
                <a:spcPct val="110000"/>
              </a:lnSpc>
              <a:spcBef>
                <a:spcPts val="500"/>
              </a:spcBef>
              <a:spcAft>
                <a:spcPts val="0"/>
              </a:spcAft>
              <a:buSzPts val="2240"/>
              <a:buChar char="▪"/>
              <a:defRPr sz="2800"/>
            </a:lvl2pPr>
            <a:lvl3pPr indent="-350520" lvl="2" marL="1371600" algn="l">
              <a:lnSpc>
                <a:spcPct val="110000"/>
              </a:lnSpc>
              <a:spcBef>
                <a:spcPts val="500"/>
              </a:spcBef>
              <a:spcAft>
                <a:spcPts val="0"/>
              </a:spcAft>
              <a:buSzPts val="1920"/>
              <a:buChar char="▪"/>
              <a:defRPr sz="2400"/>
            </a:lvl3pPr>
            <a:lvl4pPr indent="-330200" lvl="3" marL="1828800" algn="l">
              <a:lnSpc>
                <a:spcPct val="110000"/>
              </a:lnSpc>
              <a:spcBef>
                <a:spcPts val="500"/>
              </a:spcBef>
              <a:spcAft>
                <a:spcPts val="0"/>
              </a:spcAft>
              <a:buSzPts val="1600"/>
              <a:buChar char="▪"/>
              <a:defRPr sz="2000"/>
            </a:lvl4pPr>
            <a:lvl5pPr indent="-330200" lvl="4" marL="2286000" algn="l">
              <a:lnSpc>
                <a:spcPct val="110000"/>
              </a:lnSpc>
              <a:spcBef>
                <a:spcPts val="500"/>
              </a:spcBef>
              <a:spcAft>
                <a:spcPts val="0"/>
              </a:spcAft>
              <a:buSzPts val="16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8" name="Google Shape;58;p36"/>
          <p:cNvSpPr txBox="1"/>
          <p:nvPr>
            <p:ph idx="2" type="body"/>
          </p:nvPr>
        </p:nvSpPr>
        <p:spPr>
          <a:xfrm>
            <a:off x="839788" y="2209800"/>
            <a:ext cx="3932237" cy="3659188"/>
          </a:xfrm>
          <a:prstGeom prst="rect">
            <a:avLst/>
          </a:prstGeom>
          <a:noFill/>
          <a:ln>
            <a:noFill/>
          </a:ln>
        </p:spPr>
        <p:txBody>
          <a:bodyPr anchorCtr="0" anchor="t" bIns="45700" lIns="91425" spcFirstLastPara="1" rIns="91425" wrap="square" tIns="45700">
            <a:normAutofit/>
          </a:bodyPr>
          <a:lstStyle>
            <a:lvl1pPr indent="-228600" lvl="0" marL="457200" algn="l">
              <a:lnSpc>
                <a:spcPct val="110000"/>
              </a:lnSpc>
              <a:spcBef>
                <a:spcPts val="1000"/>
              </a:spcBef>
              <a:spcAft>
                <a:spcPts val="0"/>
              </a:spcAft>
              <a:buSzPts val="1280"/>
              <a:buNone/>
              <a:defRPr sz="1600"/>
            </a:lvl1pPr>
            <a:lvl2pPr indent="-228600" lvl="1" marL="914400" algn="l">
              <a:lnSpc>
                <a:spcPct val="110000"/>
              </a:lnSpc>
              <a:spcBef>
                <a:spcPts val="500"/>
              </a:spcBef>
              <a:spcAft>
                <a:spcPts val="0"/>
              </a:spcAft>
              <a:buSzPts val="1120"/>
              <a:buNone/>
              <a:defRPr sz="1400"/>
            </a:lvl2pPr>
            <a:lvl3pPr indent="-228600" lvl="2" marL="1371600" algn="l">
              <a:lnSpc>
                <a:spcPct val="110000"/>
              </a:lnSpc>
              <a:spcBef>
                <a:spcPts val="500"/>
              </a:spcBef>
              <a:spcAft>
                <a:spcPts val="0"/>
              </a:spcAft>
              <a:buSzPts val="960"/>
              <a:buNone/>
              <a:defRPr sz="1200"/>
            </a:lvl3pPr>
            <a:lvl4pPr indent="-228600" lvl="3" marL="1828800" algn="l">
              <a:lnSpc>
                <a:spcPct val="110000"/>
              </a:lnSpc>
              <a:spcBef>
                <a:spcPts val="500"/>
              </a:spcBef>
              <a:spcAft>
                <a:spcPts val="0"/>
              </a:spcAft>
              <a:buSzPts val="800"/>
              <a:buNone/>
              <a:defRPr sz="1000"/>
            </a:lvl4pPr>
            <a:lvl5pPr indent="-228600" lvl="4" marL="2286000" algn="l">
              <a:lnSpc>
                <a:spcPct val="110000"/>
              </a:lnSpc>
              <a:spcBef>
                <a:spcPts val="500"/>
              </a:spcBef>
              <a:spcAft>
                <a:spcPts val="0"/>
              </a:spcAft>
              <a:buSzPts val="8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9" name="Google Shape;59;p36"/>
          <p:cNvSpPr txBox="1"/>
          <p:nvPr>
            <p:ph idx="10" type="dt"/>
          </p:nvPr>
        </p:nvSpPr>
        <p:spPr>
          <a:xfrm>
            <a:off x="838200" y="6429375"/>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36"/>
          <p:cNvSpPr txBox="1"/>
          <p:nvPr>
            <p:ph idx="11" type="ftr"/>
          </p:nvPr>
        </p:nvSpPr>
        <p:spPr>
          <a:xfrm>
            <a:off x="4038600" y="6429375"/>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1" name="Google Shape;61;p36"/>
          <p:cNvSpPr txBox="1"/>
          <p:nvPr>
            <p:ph idx="12" type="sldNum"/>
          </p:nvPr>
        </p:nvSpPr>
        <p:spPr>
          <a:xfrm>
            <a:off x="8610600" y="6429375"/>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2" name="Shape 62"/>
        <p:cNvGrpSpPr/>
        <p:nvPr/>
      </p:nvGrpSpPr>
      <p:grpSpPr>
        <a:xfrm>
          <a:off x="0" y="0"/>
          <a:ext cx="0" cy="0"/>
          <a:chOff x="0" y="0"/>
          <a:chExt cx="0" cy="0"/>
        </a:xfrm>
      </p:grpSpPr>
      <p:sp>
        <p:nvSpPr>
          <p:cNvPr id="63" name="Google Shape;63;p37"/>
          <p:cNvSpPr txBox="1"/>
          <p:nvPr>
            <p:ph type="title"/>
          </p:nvPr>
        </p:nvSpPr>
        <p:spPr>
          <a:xfrm>
            <a:off x="839788" y="685800"/>
            <a:ext cx="3932237" cy="13716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accent5"/>
              </a:buClr>
              <a:buSzPts val="3200"/>
              <a:buFont typeface="EB Garamond"/>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37"/>
          <p:cNvSpPr/>
          <p:nvPr>
            <p:ph idx="2" type="pic"/>
          </p:nvPr>
        </p:nvSpPr>
        <p:spPr>
          <a:xfrm>
            <a:off x="5183188" y="685801"/>
            <a:ext cx="6172200" cy="5175250"/>
          </a:xfrm>
          <a:prstGeom prst="rect">
            <a:avLst/>
          </a:prstGeom>
          <a:noFill/>
          <a:ln>
            <a:noFill/>
          </a:ln>
        </p:spPr>
      </p:sp>
      <p:sp>
        <p:nvSpPr>
          <p:cNvPr id="65" name="Google Shape;65;p37"/>
          <p:cNvSpPr txBox="1"/>
          <p:nvPr>
            <p:ph idx="1" type="body"/>
          </p:nvPr>
        </p:nvSpPr>
        <p:spPr>
          <a:xfrm>
            <a:off x="839788" y="2209800"/>
            <a:ext cx="3932237" cy="3659188"/>
          </a:xfrm>
          <a:prstGeom prst="rect">
            <a:avLst/>
          </a:prstGeom>
          <a:noFill/>
          <a:ln>
            <a:noFill/>
          </a:ln>
        </p:spPr>
        <p:txBody>
          <a:bodyPr anchorCtr="0" anchor="t" bIns="45700" lIns="91425" spcFirstLastPara="1" rIns="91425" wrap="square" tIns="45700">
            <a:normAutofit/>
          </a:bodyPr>
          <a:lstStyle>
            <a:lvl1pPr indent="-228600" lvl="0" marL="457200" algn="l">
              <a:lnSpc>
                <a:spcPct val="110000"/>
              </a:lnSpc>
              <a:spcBef>
                <a:spcPts val="1000"/>
              </a:spcBef>
              <a:spcAft>
                <a:spcPts val="0"/>
              </a:spcAft>
              <a:buSzPts val="1280"/>
              <a:buNone/>
              <a:defRPr sz="1600"/>
            </a:lvl1pPr>
            <a:lvl2pPr indent="-228600" lvl="1" marL="914400" algn="l">
              <a:lnSpc>
                <a:spcPct val="110000"/>
              </a:lnSpc>
              <a:spcBef>
                <a:spcPts val="500"/>
              </a:spcBef>
              <a:spcAft>
                <a:spcPts val="0"/>
              </a:spcAft>
              <a:buSzPts val="1120"/>
              <a:buNone/>
              <a:defRPr sz="1400"/>
            </a:lvl2pPr>
            <a:lvl3pPr indent="-228600" lvl="2" marL="1371600" algn="l">
              <a:lnSpc>
                <a:spcPct val="110000"/>
              </a:lnSpc>
              <a:spcBef>
                <a:spcPts val="500"/>
              </a:spcBef>
              <a:spcAft>
                <a:spcPts val="0"/>
              </a:spcAft>
              <a:buSzPts val="960"/>
              <a:buNone/>
              <a:defRPr sz="1200"/>
            </a:lvl3pPr>
            <a:lvl4pPr indent="-228600" lvl="3" marL="1828800" algn="l">
              <a:lnSpc>
                <a:spcPct val="110000"/>
              </a:lnSpc>
              <a:spcBef>
                <a:spcPts val="500"/>
              </a:spcBef>
              <a:spcAft>
                <a:spcPts val="0"/>
              </a:spcAft>
              <a:buSzPts val="800"/>
              <a:buNone/>
              <a:defRPr sz="1000"/>
            </a:lvl4pPr>
            <a:lvl5pPr indent="-228600" lvl="4" marL="2286000" algn="l">
              <a:lnSpc>
                <a:spcPct val="110000"/>
              </a:lnSpc>
              <a:spcBef>
                <a:spcPts val="500"/>
              </a:spcBef>
              <a:spcAft>
                <a:spcPts val="0"/>
              </a:spcAft>
              <a:buSzPts val="8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6" name="Google Shape;66;p37"/>
          <p:cNvSpPr txBox="1"/>
          <p:nvPr>
            <p:ph idx="10" type="dt"/>
          </p:nvPr>
        </p:nvSpPr>
        <p:spPr>
          <a:xfrm>
            <a:off x="838200" y="6429375"/>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37"/>
          <p:cNvSpPr txBox="1"/>
          <p:nvPr>
            <p:ph idx="11" type="ftr"/>
          </p:nvPr>
        </p:nvSpPr>
        <p:spPr>
          <a:xfrm>
            <a:off x="4038600" y="6429375"/>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8" name="Google Shape;68;p37"/>
          <p:cNvSpPr txBox="1"/>
          <p:nvPr>
            <p:ph idx="12" type="sldNum"/>
          </p:nvPr>
        </p:nvSpPr>
        <p:spPr>
          <a:xfrm>
            <a:off x="8610600" y="6429375"/>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9" name="Shape 69"/>
        <p:cNvGrpSpPr/>
        <p:nvPr/>
      </p:nvGrpSpPr>
      <p:grpSpPr>
        <a:xfrm>
          <a:off x="0" y="0"/>
          <a:ext cx="0" cy="0"/>
          <a:chOff x="0" y="0"/>
          <a:chExt cx="0" cy="0"/>
        </a:xfrm>
      </p:grpSpPr>
      <p:sp>
        <p:nvSpPr>
          <p:cNvPr id="70" name="Google Shape;70;p38"/>
          <p:cNvSpPr txBox="1"/>
          <p:nvPr>
            <p:ph type="title"/>
          </p:nvPr>
        </p:nvSpPr>
        <p:spPr>
          <a:xfrm>
            <a:off x="838200" y="681037"/>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accent5"/>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38"/>
          <p:cNvSpPr txBox="1"/>
          <p:nvPr>
            <p:ph idx="1" type="body"/>
          </p:nvPr>
        </p:nvSpPr>
        <p:spPr>
          <a:xfrm rot="5400000">
            <a:off x="4096847" y="-1079990"/>
            <a:ext cx="3998306" cy="10515600"/>
          </a:xfrm>
          <a:prstGeom prst="rect">
            <a:avLst/>
          </a:prstGeom>
          <a:noFill/>
          <a:ln>
            <a:noFill/>
          </a:ln>
        </p:spPr>
        <p:txBody>
          <a:bodyPr anchorCtr="0" anchor="t" bIns="45700" lIns="91425" spcFirstLastPara="1" rIns="91425" wrap="square" tIns="45700">
            <a:normAutofit/>
          </a:bodyPr>
          <a:lstStyle>
            <a:lvl1pPr indent="-320040" lvl="0" marL="457200" algn="l">
              <a:lnSpc>
                <a:spcPct val="110000"/>
              </a:lnSpc>
              <a:spcBef>
                <a:spcPts val="1000"/>
              </a:spcBef>
              <a:spcAft>
                <a:spcPts val="0"/>
              </a:spcAft>
              <a:buSzPts val="1440"/>
              <a:buChar char="▪"/>
              <a:defRPr/>
            </a:lvl1pPr>
            <a:lvl2pPr indent="-320040" lvl="1" marL="914400" algn="l">
              <a:lnSpc>
                <a:spcPct val="110000"/>
              </a:lnSpc>
              <a:spcBef>
                <a:spcPts val="500"/>
              </a:spcBef>
              <a:spcAft>
                <a:spcPts val="0"/>
              </a:spcAft>
              <a:buSzPts val="1440"/>
              <a:buChar char="▪"/>
              <a:defRPr/>
            </a:lvl2pPr>
            <a:lvl3pPr indent="-320040" lvl="2" marL="1371600" algn="l">
              <a:lnSpc>
                <a:spcPct val="110000"/>
              </a:lnSpc>
              <a:spcBef>
                <a:spcPts val="500"/>
              </a:spcBef>
              <a:spcAft>
                <a:spcPts val="0"/>
              </a:spcAft>
              <a:buSzPts val="1440"/>
              <a:buChar char="▪"/>
              <a:defRPr/>
            </a:lvl3pPr>
            <a:lvl4pPr indent="-320040" lvl="3" marL="1828800" algn="l">
              <a:lnSpc>
                <a:spcPct val="110000"/>
              </a:lnSpc>
              <a:spcBef>
                <a:spcPts val="500"/>
              </a:spcBef>
              <a:spcAft>
                <a:spcPts val="0"/>
              </a:spcAft>
              <a:buSzPts val="1440"/>
              <a:buChar char="▪"/>
              <a:defRPr/>
            </a:lvl4pPr>
            <a:lvl5pPr indent="-320040" lvl="4" marL="2286000" algn="l">
              <a:lnSpc>
                <a:spcPct val="110000"/>
              </a:lnSpc>
              <a:spcBef>
                <a:spcPts val="500"/>
              </a:spcBef>
              <a:spcAft>
                <a:spcPts val="0"/>
              </a:spcAft>
              <a:buSzPts val="144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2" name="Google Shape;72;p38"/>
          <p:cNvSpPr txBox="1"/>
          <p:nvPr>
            <p:ph idx="10" type="dt"/>
          </p:nvPr>
        </p:nvSpPr>
        <p:spPr>
          <a:xfrm>
            <a:off x="838200" y="6429375"/>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38"/>
          <p:cNvSpPr txBox="1"/>
          <p:nvPr>
            <p:ph idx="11" type="ftr"/>
          </p:nvPr>
        </p:nvSpPr>
        <p:spPr>
          <a:xfrm>
            <a:off x="4038600" y="6429375"/>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38"/>
          <p:cNvSpPr txBox="1"/>
          <p:nvPr>
            <p:ph idx="12" type="sldNum"/>
          </p:nvPr>
        </p:nvSpPr>
        <p:spPr>
          <a:xfrm>
            <a:off x="8610600" y="6429375"/>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5" name="Shape 75"/>
        <p:cNvGrpSpPr/>
        <p:nvPr/>
      </p:nvGrpSpPr>
      <p:grpSpPr>
        <a:xfrm>
          <a:off x="0" y="0"/>
          <a:ext cx="0" cy="0"/>
          <a:chOff x="0" y="0"/>
          <a:chExt cx="0" cy="0"/>
        </a:xfrm>
      </p:grpSpPr>
      <p:sp>
        <p:nvSpPr>
          <p:cNvPr id="76" name="Google Shape;76;p39"/>
          <p:cNvSpPr txBox="1"/>
          <p:nvPr>
            <p:ph type="title"/>
          </p:nvPr>
        </p:nvSpPr>
        <p:spPr>
          <a:xfrm rot="5400000">
            <a:off x="7331869" y="2155031"/>
            <a:ext cx="5414963"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accent5"/>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39"/>
          <p:cNvSpPr txBox="1"/>
          <p:nvPr>
            <p:ph idx="1" type="body"/>
          </p:nvPr>
        </p:nvSpPr>
        <p:spPr>
          <a:xfrm rot="5400000">
            <a:off x="1997869" y="-397669"/>
            <a:ext cx="5414963" cy="7734300"/>
          </a:xfrm>
          <a:prstGeom prst="rect">
            <a:avLst/>
          </a:prstGeom>
          <a:noFill/>
          <a:ln>
            <a:noFill/>
          </a:ln>
        </p:spPr>
        <p:txBody>
          <a:bodyPr anchorCtr="0" anchor="t" bIns="45700" lIns="91425" spcFirstLastPara="1" rIns="91425" wrap="square" tIns="45700">
            <a:normAutofit/>
          </a:bodyPr>
          <a:lstStyle>
            <a:lvl1pPr indent="-320040" lvl="0" marL="457200" algn="l">
              <a:lnSpc>
                <a:spcPct val="110000"/>
              </a:lnSpc>
              <a:spcBef>
                <a:spcPts val="1000"/>
              </a:spcBef>
              <a:spcAft>
                <a:spcPts val="0"/>
              </a:spcAft>
              <a:buSzPts val="1440"/>
              <a:buChar char="▪"/>
              <a:defRPr/>
            </a:lvl1pPr>
            <a:lvl2pPr indent="-320040" lvl="1" marL="914400" algn="l">
              <a:lnSpc>
                <a:spcPct val="110000"/>
              </a:lnSpc>
              <a:spcBef>
                <a:spcPts val="500"/>
              </a:spcBef>
              <a:spcAft>
                <a:spcPts val="0"/>
              </a:spcAft>
              <a:buSzPts val="1440"/>
              <a:buChar char="▪"/>
              <a:defRPr/>
            </a:lvl2pPr>
            <a:lvl3pPr indent="-320040" lvl="2" marL="1371600" algn="l">
              <a:lnSpc>
                <a:spcPct val="110000"/>
              </a:lnSpc>
              <a:spcBef>
                <a:spcPts val="500"/>
              </a:spcBef>
              <a:spcAft>
                <a:spcPts val="0"/>
              </a:spcAft>
              <a:buSzPts val="1440"/>
              <a:buChar char="▪"/>
              <a:defRPr/>
            </a:lvl3pPr>
            <a:lvl4pPr indent="-320040" lvl="3" marL="1828800" algn="l">
              <a:lnSpc>
                <a:spcPct val="110000"/>
              </a:lnSpc>
              <a:spcBef>
                <a:spcPts val="500"/>
              </a:spcBef>
              <a:spcAft>
                <a:spcPts val="0"/>
              </a:spcAft>
              <a:buSzPts val="1440"/>
              <a:buChar char="▪"/>
              <a:defRPr/>
            </a:lvl4pPr>
            <a:lvl5pPr indent="-320040" lvl="4" marL="2286000" algn="l">
              <a:lnSpc>
                <a:spcPct val="110000"/>
              </a:lnSpc>
              <a:spcBef>
                <a:spcPts val="500"/>
              </a:spcBef>
              <a:spcAft>
                <a:spcPts val="0"/>
              </a:spcAft>
              <a:buSzPts val="144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8" name="Google Shape;78;p39"/>
          <p:cNvSpPr txBox="1"/>
          <p:nvPr>
            <p:ph idx="10" type="dt"/>
          </p:nvPr>
        </p:nvSpPr>
        <p:spPr>
          <a:xfrm>
            <a:off x="838200" y="6429375"/>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39"/>
          <p:cNvSpPr txBox="1"/>
          <p:nvPr>
            <p:ph idx="11" type="ftr"/>
          </p:nvPr>
        </p:nvSpPr>
        <p:spPr>
          <a:xfrm>
            <a:off x="4038600" y="6429375"/>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39"/>
          <p:cNvSpPr txBox="1"/>
          <p:nvPr>
            <p:ph idx="12" type="sldNum"/>
          </p:nvPr>
        </p:nvSpPr>
        <p:spPr>
          <a:xfrm>
            <a:off x="8610600" y="6429375"/>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28"/>
          <p:cNvSpPr/>
          <p:nvPr/>
        </p:nvSpPr>
        <p:spPr>
          <a:xfrm>
            <a:off x="0" y="0"/>
            <a:ext cx="12188952" cy="6858000"/>
          </a:xfrm>
          <a:prstGeom prst="frame">
            <a:avLst>
              <a:gd fmla="val 7164" name="adj1"/>
            </a:avLst>
          </a:prstGeom>
          <a:gradFill>
            <a:gsLst>
              <a:gs pos="0">
                <a:srgbClr val="46B196">
                  <a:alpha val="40000"/>
                </a:srgbClr>
              </a:gs>
              <a:gs pos="100000">
                <a:srgbClr val="3B9EB1">
                  <a:alpha val="40000"/>
                </a:srgbClr>
              </a:gs>
            </a:gsLst>
            <a:lin ang="27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venir"/>
              <a:ea typeface="Avenir"/>
              <a:cs typeface="Avenir"/>
              <a:sym typeface="Avenir"/>
            </a:endParaRPr>
          </a:p>
        </p:txBody>
      </p:sp>
      <p:sp>
        <p:nvSpPr>
          <p:cNvPr id="7" name="Google Shape;7;p28"/>
          <p:cNvSpPr txBox="1"/>
          <p:nvPr>
            <p:ph type="title"/>
          </p:nvPr>
        </p:nvSpPr>
        <p:spPr>
          <a:xfrm>
            <a:off x="838200" y="681037"/>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accent5"/>
              </a:buClr>
              <a:buSzPts val="5200"/>
              <a:buFont typeface="EB Garamond"/>
              <a:buNone/>
              <a:defRPr b="0" i="0" sz="5200" u="none" cap="none" strike="noStrike">
                <a:solidFill>
                  <a:schemeClr val="accent5"/>
                </a:solidFill>
                <a:latin typeface="EB Garamond"/>
                <a:ea typeface="EB Garamond"/>
                <a:cs typeface="EB Garamond"/>
                <a:sym typeface="EB Garamond"/>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8" name="Google Shape;8;p28"/>
          <p:cNvSpPr txBox="1"/>
          <p:nvPr>
            <p:ph idx="1" type="body"/>
          </p:nvPr>
        </p:nvSpPr>
        <p:spPr>
          <a:xfrm>
            <a:off x="838200" y="2178657"/>
            <a:ext cx="10515600" cy="3998306"/>
          </a:xfrm>
          <a:prstGeom prst="rect">
            <a:avLst/>
          </a:prstGeom>
          <a:noFill/>
          <a:ln>
            <a:noFill/>
          </a:ln>
        </p:spPr>
        <p:txBody>
          <a:bodyPr anchorCtr="0" anchor="t" bIns="45700" lIns="91425" spcFirstLastPara="1" rIns="91425" wrap="square" tIns="45700">
            <a:normAutofit/>
          </a:bodyPr>
          <a:lstStyle>
            <a:lvl1pPr indent="-370840" lvl="0" marL="457200" marR="0" rtl="0" algn="l">
              <a:lnSpc>
                <a:spcPct val="110000"/>
              </a:lnSpc>
              <a:spcBef>
                <a:spcPts val="1000"/>
              </a:spcBef>
              <a:spcAft>
                <a:spcPts val="0"/>
              </a:spcAft>
              <a:buClr>
                <a:srgbClr val="E1EFEF"/>
              </a:buClr>
              <a:buSzPts val="2240"/>
              <a:buFont typeface="Noto Sans Symbols"/>
              <a:buChar char="▪"/>
              <a:defRPr b="0" i="0" sz="2800" u="none" cap="none" strike="noStrike">
                <a:solidFill>
                  <a:schemeClr val="dk2"/>
                </a:solidFill>
                <a:latin typeface="Avenir"/>
                <a:ea typeface="Avenir"/>
                <a:cs typeface="Avenir"/>
                <a:sym typeface="Avenir"/>
              </a:defRPr>
            </a:lvl1pPr>
            <a:lvl2pPr indent="-350520" lvl="1" marL="914400" marR="0" rtl="0" algn="l">
              <a:lnSpc>
                <a:spcPct val="110000"/>
              </a:lnSpc>
              <a:spcBef>
                <a:spcPts val="500"/>
              </a:spcBef>
              <a:spcAft>
                <a:spcPts val="0"/>
              </a:spcAft>
              <a:buClr>
                <a:srgbClr val="E1EFEF"/>
              </a:buClr>
              <a:buSzPts val="1920"/>
              <a:buFont typeface="Noto Sans Symbols"/>
              <a:buChar char="▪"/>
              <a:defRPr b="0" i="0" sz="2400" u="none" cap="none" strike="noStrike">
                <a:solidFill>
                  <a:schemeClr val="dk2"/>
                </a:solidFill>
                <a:latin typeface="Avenir"/>
                <a:ea typeface="Avenir"/>
                <a:cs typeface="Avenir"/>
                <a:sym typeface="Avenir"/>
              </a:defRPr>
            </a:lvl2pPr>
            <a:lvl3pPr indent="-330200" lvl="2" marL="1371600" marR="0" rtl="0" algn="l">
              <a:lnSpc>
                <a:spcPct val="110000"/>
              </a:lnSpc>
              <a:spcBef>
                <a:spcPts val="500"/>
              </a:spcBef>
              <a:spcAft>
                <a:spcPts val="0"/>
              </a:spcAft>
              <a:buClr>
                <a:srgbClr val="E1EFEF"/>
              </a:buClr>
              <a:buSzPts val="1600"/>
              <a:buFont typeface="Noto Sans Symbols"/>
              <a:buChar char="▪"/>
              <a:defRPr b="0" i="0" sz="2000" u="none" cap="none" strike="noStrike">
                <a:solidFill>
                  <a:schemeClr val="dk2"/>
                </a:solidFill>
                <a:latin typeface="Avenir"/>
                <a:ea typeface="Avenir"/>
                <a:cs typeface="Avenir"/>
                <a:sym typeface="Avenir"/>
              </a:defRPr>
            </a:lvl3pPr>
            <a:lvl4pPr indent="-320040" lvl="3" marL="1828800" marR="0" rtl="0" algn="l">
              <a:lnSpc>
                <a:spcPct val="110000"/>
              </a:lnSpc>
              <a:spcBef>
                <a:spcPts val="500"/>
              </a:spcBef>
              <a:spcAft>
                <a:spcPts val="0"/>
              </a:spcAft>
              <a:buClr>
                <a:srgbClr val="E1EFEF"/>
              </a:buClr>
              <a:buSzPts val="1440"/>
              <a:buFont typeface="Noto Sans Symbols"/>
              <a:buChar char="▪"/>
              <a:defRPr b="0" i="0" sz="1800" u="none" cap="none" strike="noStrike">
                <a:solidFill>
                  <a:schemeClr val="dk2"/>
                </a:solidFill>
                <a:latin typeface="Avenir"/>
                <a:ea typeface="Avenir"/>
                <a:cs typeface="Avenir"/>
                <a:sym typeface="Avenir"/>
              </a:defRPr>
            </a:lvl4pPr>
            <a:lvl5pPr indent="-320040" lvl="4" marL="2286000" marR="0" rtl="0" algn="l">
              <a:lnSpc>
                <a:spcPct val="110000"/>
              </a:lnSpc>
              <a:spcBef>
                <a:spcPts val="500"/>
              </a:spcBef>
              <a:spcAft>
                <a:spcPts val="0"/>
              </a:spcAft>
              <a:buClr>
                <a:srgbClr val="E1EFEF"/>
              </a:buClr>
              <a:buSzPts val="1440"/>
              <a:buFont typeface="Noto Sans Symbols"/>
              <a:buChar char="▪"/>
              <a:defRPr b="0" i="0" sz="1800" u="none" cap="none" strike="noStrike">
                <a:solidFill>
                  <a:schemeClr val="dk2"/>
                </a:solidFill>
                <a:latin typeface="Avenir"/>
                <a:ea typeface="Avenir"/>
                <a:cs typeface="Avenir"/>
                <a:sym typeface="Avenir"/>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venir"/>
                <a:ea typeface="Avenir"/>
                <a:cs typeface="Avenir"/>
                <a:sym typeface="Avenir"/>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venir"/>
                <a:ea typeface="Avenir"/>
                <a:cs typeface="Avenir"/>
                <a:sym typeface="Avenir"/>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venir"/>
                <a:ea typeface="Avenir"/>
                <a:cs typeface="Avenir"/>
                <a:sym typeface="Avenir"/>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venir"/>
                <a:ea typeface="Avenir"/>
                <a:cs typeface="Avenir"/>
                <a:sym typeface="Avenir"/>
              </a:defRPr>
            </a:lvl9pPr>
          </a:lstStyle>
          <a:p/>
        </p:txBody>
      </p:sp>
      <p:sp>
        <p:nvSpPr>
          <p:cNvPr id="9" name="Google Shape;9;p28"/>
          <p:cNvSpPr txBox="1"/>
          <p:nvPr>
            <p:ph idx="10" type="dt"/>
          </p:nvPr>
        </p:nvSpPr>
        <p:spPr>
          <a:xfrm>
            <a:off x="838200" y="6429375"/>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900" u="none" cap="none" strike="noStrike">
                <a:solidFill>
                  <a:srgbClr val="FFFFFF"/>
                </a:solidFill>
                <a:latin typeface="Avenir"/>
                <a:ea typeface="Avenir"/>
                <a:cs typeface="Avenir"/>
                <a:sym typeface="Avenir"/>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venir"/>
                <a:ea typeface="Avenir"/>
                <a:cs typeface="Avenir"/>
                <a:sym typeface="Avenir"/>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venir"/>
                <a:ea typeface="Avenir"/>
                <a:cs typeface="Avenir"/>
                <a:sym typeface="Avenir"/>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venir"/>
                <a:ea typeface="Avenir"/>
                <a:cs typeface="Avenir"/>
                <a:sym typeface="Avenir"/>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venir"/>
                <a:ea typeface="Avenir"/>
                <a:cs typeface="Avenir"/>
                <a:sym typeface="Avenir"/>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venir"/>
                <a:ea typeface="Avenir"/>
                <a:cs typeface="Avenir"/>
                <a:sym typeface="Avenir"/>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venir"/>
                <a:ea typeface="Avenir"/>
                <a:cs typeface="Avenir"/>
                <a:sym typeface="Avenir"/>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venir"/>
                <a:ea typeface="Avenir"/>
                <a:cs typeface="Avenir"/>
                <a:sym typeface="Avenir"/>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venir"/>
                <a:ea typeface="Avenir"/>
                <a:cs typeface="Avenir"/>
                <a:sym typeface="Avenir"/>
              </a:defRPr>
            </a:lvl9pPr>
          </a:lstStyle>
          <a:p/>
        </p:txBody>
      </p:sp>
      <p:sp>
        <p:nvSpPr>
          <p:cNvPr id="10" name="Google Shape;10;p28"/>
          <p:cNvSpPr txBox="1"/>
          <p:nvPr>
            <p:ph idx="11" type="ftr"/>
          </p:nvPr>
        </p:nvSpPr>
        <p:spPr>
          <a:xfrm>
            <a:off x="4038600" y="6429375"/>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900" u="none" cap="none" strike="noStrike">
                <a:solidFill>
                  <a:srgbClr val="FFFFFF"/>
                </a:solidFill>
                <a:latin typeface="Avenir"/>
                <a:ea typeface="Avenir"/>
                <a:cs typeface="Avenir"/>
                <a:sym typeface="Avenir"/>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venir"/>
                <a:ea typeface="Avenir"/>
                <a:cs typeface="Avenir"/>
                <a:sym typeface="Avenir"/>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venir"/>
                <a:ea typeface="Avenir"/>
                <a:cs typeface="Avenir"/>
                <a:sym typeface="Avenir"/>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venir"/>
                <a:ea typeface="Avenir"/>
                <a:cs typeface="Avenir"/>
                <a:sym typeface="Avenir"/>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venir"/>
                <a:ea typeface="Avenir"/>
                <a:cs typeface="Avenir"/>
                <a:sym typeface="Avenir"/>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venir"/>
                <a:ea typeface="Avenir"/>
                <a:cs typeface="Avenir"/>
                <a:sym typeface="Avenir"/>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venir"/>
                <a:ea typeface="Avenir"/>
                <a:cs typeface="Avenir"/>
                <a:sym typeface="Avenir"/>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venir"/>
                <a:ea typeface="Avenir"/>
                <a:cs typeface="Avenir"/>
                <a:sym typeface="Avenir"/>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venir"/>
                <a:ea typeface="Avenir"/>
                <a:cs typeface="Avenir"/>
                <a:sym typeface="Avenir"/>
              </a:defRPr>
            </a:lvl9pPr>
          </a:lstStyle>
          <a:p/>
        </p:txBody>
      </p:sp>
      <p:sp>
        <p:nvSpPr>
          <p:cNvPr id="11" name="Google Shape;11;p28"/>
          <p:cNvSpPr txBox="1"/>
          <p:nvPr>
            <p:ph idx="12" type="sldNum"/>
          </p:nvPr>
        </p:nvSpPr>
        <p:spPr>
          <a:xfrm>
            <a:off x="8610600" y="6429375"/>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1pPr>
            <a:lvl2pPr indent="0" lvl="1" marL="0" marR="0" rtl="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2pPr>
            <a:lvl3pPr indent="0" lvl="2" marL="0" marR="0" rtl="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3pPr>
            <a:lvl4pPr indent="0" lvl="3" marL="0" marR="0" rtl="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4pPr>
            <a:lvl5pPr indent="0" lvl="4" marL="0" marR="0" rtl="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5pPr>
            <a:lvl6pPr indent="0" lvl="5" marL="0" marR="0" rtl="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6pPr>
            <a:lvl7pPr indent="0" lvl="6" marL="0" marR="0" rtl="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7pPr>
            <a:lvl8pPr indent="0" lvl="7" marL="0" marR="0" rtl="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8pPr>
            <a:lvl9pPr indent="0" lvl="8" marL="0" marR="0" rtl="0" algn="r">
              <a:lnSpc>
                <a:spcPct val="100000"/>
              </a:lnSpc>
              <a:spcBef>
                <a:spcPts val="0"/>
              </a:spcBef>
              <a:spcAft>
                <a:spcPts val="0"/>
              </a:spcAft>
              <a:buClr>
                <a:srgbClr val="000000"/>
              </a:buClr>
              <a:buSzPts val="900"/>
              <a:buFont typeface="Arial"/>
              <a:buNone/>
              <a:defRPr b="0" i="0" sz="900" u="none" cap="none" strike="noStrike">
                <a:solidFill>
                  <a:srgbClr val="FFFFFF"/>
                </a:solidFill>
                <a:latin typeface="Avenir"/>
                <a:ea typeface="Avenir"/>
                <a:cs typeface="Avenir"/>
                <a:sym typeface="Avenir"/>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8.png"/><Relationship Id="rId4" Type="http://schemas.openxmlformats.org/officeDocument/2006/relationships/image" Target="../media/image2.png"/><Relationship Id="rId5"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2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8.png"/><Relationship Id="rId4" Type="http://schemas.openxmlformats.org/officeDocument/2006/relationships/image" Target="../media/image10.png"/><Relationship Id="rId5" Type="http://schemas.openxmlformats.org/officeDocument/2006/relationships/image" Target="../media/image26.png"/><Relationship Id="rId6"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9.png"/><Relationship Id="rId4" Type="http://schemas.openxmlformats.org/officeDocument/2006/relationships/image" Target="../media/image3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3.png"/><Relationship Id="rId4" Type="http://schemas.openxmlformats.org/officeDocument/2006/relationships/image" Target="../media/image3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33.png"/><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3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1.png"/><Relationship Id="rId4" Type="http://schemas.openxmlformats.org/officeDocument/2006/relationships/image" Target="../media/image19.png"/><Relationship Id="rId5" Type="http://schemas.openxmlformats.org/officeDocument/2006/relationships/image" Target="../media/image15.png"/><Relationship Id="rId6" Type="http://schemas.openxmlformats.org/officeDocument/2006/relationships/image" Target="../media/image2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2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34.png"/><Relationship Id="rId4" Type="http://schemas.openxmlformats.org/officeDocument/2006/relationships/image" Target="../media/image2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3.png"/><Relationship Id="rId4" Type="http://schemas.openxmlformats.org/officeDocument/2006/relationships/image" Target="../media/image2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12.png"/><Relationship Id="rId4" Type="http://schemas.openxmlformats.org/officeDocument/2006/relationships/image" Target="../media/image1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3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17.png"/><Relationship Id="rId4" Type="http://schemas.openxmlformats.org/officeDocument/2006/relationships/image" Target="../media/image20.png"/><Relationship Id="rId5" Type="http://schemas.openxmlformats.org/officeDocument/2006/relationships/image" Target="../media/image37.png"/><Relationship Id="rId6" Type="http://schemas.openxmlformats.org/officeDocument/2006/relationships/image" Target="../media/image2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30.png"/><Relationship Id="rId4" Type="http://schemas.openxmlformats.org/officeDocument/2006/relationships/image" Target="../media/image2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2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4" name="Shape 84"/>
        <p:cNvGrpSpPr/>
        <p:nvPr/>
      </p:nvGrpSpPr>
      <p:grpSpPr>
        <a:xfrm>
          <a:off x="0" y="0"/>
          <a:ext cx="0" cy="0"/>
          <a:chOff x="0" y="0"/>
          <a:chExt cx="0" cy="0"/>
        </a:xfrm>
      </p:grpSpPr>
      <p:sp>
        <p:nvSpPr>
          <p:cNvPr id="85" name="Google Shape;85;p1"/>
          <p:cNvSpPr/>
          <p:nvPr/>
        </p:nvSpPr>
        <p:spPr>
          <a:xfrm>
            <a:off x="0" y="0"/>
            <a:ext cx="12188952"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venir"/>
              <a:ea typeface="Avenir"/>
              <a:cs typeface="Avenir"/>
              <a:sym typeface="Avenir"/>
            </a:endParaRPr>
          </a:p>
        </p:txBody>
      </p:sp>
      <p:sp>
        <p:nvSpPr>
          <p:cNvPr id="86" name="Google Shape;86;p1"/>
          <p:cNvSpPr/>
          <p:nvPr/>
        </p:nvSpPr>
        <p:spPr>
          <a:xfrm>
            <a:off x="0" y="0"/>
            <a:ext cx="12188952" cy="6858000"/>
          </a:xfrm>
          <a:prstGeom prst="rect">
            <a:avLst/>
          </a:prstGeom>
          <a:gradFill>
            <a:gsLst>
              <a:gs pos="0">
                <a:srgbClr val="46B196">
                  <a:alpha val="60000"/>
                </a:srgbClr>
              </a:gs>
              <a:gs pos="100000">
                <a:srgbClr val="3B9EB1">
                  <a:alpha val="60000"/>
                </a:srgbClr>
              </a:gs>
            </a:gsLst>
            <a:lin ang="27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venir"/>
              <a:ea typeface="Avenir"/>
              <a:cs typeface="Avenir"/>
              <a:sym typeface="Avenir"/>
            </a:endParaRPr>
          </a:p>
        </p:txBody>
      </p:sp>
      <p:sp>
        <p:nvSpPr>
          <p:cNvPr id="87" name="Google Shape;87;p1"/>
          <p:cNvSpPr/>
          <p:nvPr/>
        </p:nvSpPr>
        <p:spPr>
          <a:xfrm>
            <a:off x="0" y="663"/>
            <a:ext cx="12188952" cy="6858000"/>
          </a:xfrm>
          <a:prstGeom prst="rect">
            <a:avLst/>
          </a:prstGeom>
          <a:solidFill>
            <a:schemeClr val="lt2">
              <a:alpha val="2000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venir"/>
              <a:ea typeface="Avenir"/>
              <a:cs typeface="Avenir"/>
              <a:sym typeface="Avenir"/>
            </a:endParaRPr>
          </a:p>
        </p:txBody>
      </p:sp>
      <p:sp>
        <p:nvSpPr>
          <p:cNvPr id="88" name="Google Shape;88;p1"/>
          <p:cNvSpPr/>
          <p:nvPr/>
        </p:nvSpPr>
        <p:spPr>
          <a:xfrm rot="-5400000">
            <a:off x="2743200" y="0"/>
            <a:ext cx="6857999" cy="6857998"/>
          </a:xfrm>
          <a:prstGeom prst="ellipse">
            <a:avLst/>
          </a:prstGeom>
          <a:gradFill>
            <a:gsLst>
              <a:gs pos="0">
                <a:srgbClr val="D4ECF1">
                  <a:alpha val="40000"/>
                </a:srgbClr>
              </a:gs>
              <a:gs pos="100000">
                <a:srgbClr val="3B9EB1">
                  <a:alpha val="40000"/>
                </a:srgbClr>
              </a:gs>
            </a:gsLst>
            <a:lin ang="27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venir"/>
              <a:ea typeface="Avenir"/>
              <a:cs typeface="Avenir"/>
              <a:sym typeface="Avenir"/>
            </a:endParaRPr>
          </a:p>
        </p:txBody>
      </p:sp>
      <p:sp>
        <p:nvSpPr>
          <p:cNvPr id="89" name="Google Shape;89;p1"/>
          <p:cNvSpPr/>
          <p:nvPr/>
        </p:nvSpPr>
        <p:spPr>
          <a:xfrm rot="-5400000">
            <a:off x="73990" y="1194074"/>
            <a:ext cx="5589934" cy="5737916"/>
          </a:xfrm>
          <a:prstGeom prst="ellipse">
            <a:avLst/>
          </a:prstGeom>
          <a:gradFill>
            <a:gsLst>
              <a:gs pos="0">
                <a:srgbClr val="3B9EB1">
                  <a:alpha val="40000"/>
                </a:srgbClr>
              </a:gs>
              <a:gs pos="100000">
                <a:srgbClr val="C37B4D">
                  <a:alpha val="20000"/>
                </a:srgbClr>
              </a:gs>
            </a:gsLst>
            <a:lin ang="27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venir"/>
              <a:ea typeface="Avenir"/>
              <a:cs typeface="Avenir"/>
              <a:sym typeface="Avenir"/>
            </a:endParaRPr>
          </a:p>
        </p:txBody>
      </p:sp>
      <p:sp>
        <p:nvSpPr>
          <p:cNvPr id="90" name="Google Shape;90;p1"/>
          <p:cNvSpPr/>
          <p:nvPr/>
        </p:nvSpPr>
        <p:spPr>
          <a:xfrm rot="-5400000">
            <a:off x="6439622" y="194269"/>
            <a:ext cx="5760743" cy="5737917"/>
          </a:xfrm>
          <a:prstGeom prst="ellipse">
            <a:avLst/>
          </a:prstGeom>
          <a:gradFill>
            <a:gsLst>
              <a:gs pos="0">
                <a:srgbClr val="3B9EB1">
                  <a:alpha val="20000"/>
                </a:srgbClr>
              </a:gs>
              <a:gs pos="100000">
                <a:srgbClr val="C37B4D">
                  <a:alpha val="40000"/>
                </a:srgbClr>
              </a:gs>
            </a:gsLst>
            <a:lin ang="27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venir"/>
              <a:ea typeface="Avenir"/>
              <a:cs typeface="Avenir"/>
              <a:sym typeface="Avenir"/>
            </a:endParaRPr>
          </a:p>
        </p:txBody>
      </p:sp>
      <p:pic>
        <p:nvPicPr>
          <p:cNvPr descr="Colored pencils inside a pencil holder which is on top of a wood table" id="91" name="Google Shape;91;p1"/>
          <p:cNvPicPr preferRelativeResize="0"/>
          <p:nvPr/>
        </p:nvPicPr>
        <p:blipFill rotWithShape="1">
          <a:blip r:embed="rId3">
            <a:alphaModFix amt="20000"/>
          </a:blip>
          <a:srcRect b="0" l="0" r="-1" t="15710"/>
          <a:stretch/>
        </p:blipFill>
        <p:spPr>
          <a:xfrm>
            <a:off x="0" y="685"/>
            <a:ext cx="12188954" cy="6857989"/>
          </a:xfrm>
          <a:prstGeom prst="rect">
            <a:avLst/>
          </a:prstGeom>
          <a:noFill/>
          <a:ln>
            <a:noFill/>
          </a:ln>
        </p:spPr>
      </p:pic>
      <p:sp>
        <p:nvSpPr>
          <p:cNvPr id="92" name="Google Shape;92;p1"/>
          <p:cNvSpPr txBox="1"/>
          <p:nvPr>
            <p:ph type="ctrTitle"/>
          </p:nvPr>
        </p:nvSpPr>
        <p:spPr>
          <a:xfrm>
            <a:off x="1206006" y="429158"/>
            <a:ext cx="9063817" cy="2034599"/>
          </a:xfrm>
          <a:prstGeom prst="rect">
            <a:avLst/>
          </a:prstGeom>
          <a:solidFill>
            <a:srgbClr val="1D4F58"/>
          </a:solidFill>
          <a:ln cap="flat" cmpd="sng" w="38100">
            <a:solidFill>
              <a:schemeClr val="dk2"/>
            </a:solidFill>
            <a:prstDash val="solid"/>
            <a:round/>
            <a:headEnd len="sm" w="sm" type="none"/>
            <a:tailEnd len="sm" w="sm" type="none"/>
          </a:ln>
        </p:spPr>
        <p:txBody>
          <a:bodyPr anchorCtr="0" anchor="b" bIns="45700" lIns="91425" spcFirstLastPara="1" rIns="91425" wrap="square" tIns="45700">
            <a:normAutofit fontScale="90000"/>
          </a:bodyPr>
          <a:lstStyle/>
          <a:p>
            <a:pPr indent="0" lvl="0" marL="0" rtl="0" algn="ctr">
              <a:lnSpc>
                <a:spcPct val="90000"/>
              </a:lnSpc>
              <a:spcBef>
                <a:spcPts val="0"/>
              </a:spcBef>
              <a:spcAft>
                <a:spcPts val="0"/>
              </a:spcAft>
              <a:buClr>
                <a:schemeClr val="lt1"/>
              </a:buClr>
              <a:buSzPct val="100000"/>
              <a:buFont typeface="EB Garamond"/>
              <a:buNone/>
            </a:pPr>
            <a:r>
              <a:rPr lang="en-US" sz="4400">
                <a:solidFill>
                  <a:schemeClr val="lt1"/>
                </a:solidFill>
              </a:rPr>
              <a:t>Integrated Retail Analytics for Store Optimization and Demand Forecasting (Master’s in Data Science: AI &amp; ML)</a:t>
            </a:r>
            <a:endParaRPr sz="4400">
              <a:solidFill>
                <a:schemeClr val="lt1"/>
              </a:solidFill>
            </a:endParaRPr>
          </a:p>
        </p:txBody>
      </p:sp>
      <p:sp>
        <p:nvSpPr>
          <p:cNvPr id="93" name="Google Shape;93;p1"/>
          <p:cNvSpPr txBox="1"/>
          <p:nvPr>
            <p:ph idx="1" type="subTitle"/>
          </p:nvPr>
        </p:nvSpPr>
        <p:spPr>
          <a:xfrm>
            <a:off x="3586300" y="3380025"/>
            <a:ext cx="3900900" cy="717000"/>
          </a:xfrm>
          <a:prstGeom prst="rect">
            <a:avLst/>
          </a:prstGeom>
          <a:solidFill>
            <a:srgbClr val="D4ECF1"/>
          </a:solidFill>
          <a:ln cap="flat" cmpd="sng" w="38100">
            <a:solidFill>
              <a:srgbClr val="1D4F58"/>
            </a:solidFill>
            <a:prstDash val="solid"/>
            <a:round/>
            <a:headEnd len="sm" w="sm" type="none"/>
            <a:tailEnd len="sm" w="sm" type="none"/>
          </a:ln>
        </p:spPr>
        <p:txBody>
          <a:bodyPr anchorCtr="0" anchor="ctr" bIns="45700" lIns="91425" spcFirstLastPara="1" rIns="91425" wrap="square" tIns="45700">
            <a:normAutofit/>
          </a:bodyPr>
          <a:lstStyle/>
          <a:p>
            <a:pPr indent="0" lvl="0" marL="0" rtl="0" algn="ctr">
              <a:lnSpc>
                <a:spcPct val="110000"/>
              </a:lnSpc>
              <a:spcBef>
                <a:spcPts val="0"/>
              </a:spcBef>
              <a:spcAft>
                <a:spcPts val="0"/>
              </a:spcAft>
              <a:buSzPts val="1760"/>
              <a:buNone/>
            </a:pPr>
            <a:r>
              <a:rPr b="1" lang="en-US" sz="2200">
                <a:solidFill>
                  <a:srgbClr val="1D4F58"/>
                </a:solidFill>
                <a:latin typeface="Arial"/>
                <a:ea typeface="Arial"/>
                <a:cs typeface="Arial"/>
                <a:sym typeface="Arial"/>
              </a:rPr>
              <a:t>Narra Sai Keerthana Reddy</a:t>
            </a:r>
            <a:endParaRPr b="1" sz="2200">
              <a:solidFill>
                <a:srgbClr val="1D4F58"/>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2"/>
          <p:cNvSpPr txBox="1"/>
          <p:nvPr>
            <p:ph type="title"/>
          </p:nvPr>
        </p:nvSpPr>
        <p:spPr>
          <a:xfrm>
            <a:off x="3014816" y="681037"/>
            <a:ext cx="6162368" cy="1325563"/>
          </a:xfrm>
          <a:prstGeom prst="rect">
            <a:avLst/>
          </a:prstGeom>
          <a:noFill/>
          <a:ln cap="flat" cmpd="sng" w="9525">
            <a:solidFill>
              <a:schemeClr val="dk2"/>
            </a:solidFill>
            <a:prstDash val="solid"/>
            <a:round/>
            <a:headEnd len="sm" w="sm" type="none"/>
            <a:tailEnd len="sm" w="sm" type="none"/>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accent5"/>
              </a:buClr>
              <a:buSzPts val="5200"/>
              <a:buFont typeface="EB Garamond"/>
              <a:buNone/>
            </a:pPr>
            <a:r>
              <a:rPr lang="en-US"/>
              <a:t>Project Objective</a:t>
            </a:r>
            <a:endParaRPr/>
          </a:p>
        </p:txBody>
      </p:sp>
      <p:sp>
        <p:nvSpPr>
          <p:cNvPr id="99" name="Google Shape;99;p2"/>
          <p:cNvSpPr txBox="1"/>
          <p:nvPr>
            <p:ph idx="1" type="body"/>
          </p:nvPr>
        </p:nvSpPr>
        <p:spPr>
          <a:xfrm>
            <a:off x="838200" y="2178657"/>
            <a:ext cx="10515600" cy="3998306"/>
          </a:xfrm>
          <a:prstGeom prst="rect">
            <a:avLst/>
          </a:prstGeom>
          <a:noFill/>
          <a:ln cap="flat" cmpd="sng" w="9525">
            <a:solidFill>
              <a:schemeClr val="dk2"/>
            </a:solidFill>
            <a:prstDash val="solid"/>
            <a:round/>
            <a:headEnd len="sm" w="sm" type="none"/>
            <a:tailEnd len="sm" w="sm" type="none"/>
          </a:ln>
        </p:spPr>
        <p:txBody>
          <a:bodyPr anchorCtr="0" anchor="t" bIns="45700" lIns="91425" spcFirstLastPara="1" rIns="91425" wrap="square" tIns="45700">
            <a:normAutofit lnSpcReduction="10000"/>
          </a:bodyPr>
          <a:lstStyle/>
          <a:p>
            <a:pPr indent="-228600" lvl="0" marL="457200" rtl="0" algn="l">
              <a:lnSpc>
                <a:spcPct val="110000"/>
              </a:lnSpc>
              <a:spcBef>
                <a:spcPts val="0"/>
              </a:spcBef>
              <a:spcAft>
                <a:spcPts val="0"/>
              </a:spcAft>
              <a:buSzPts val="1920"/>
              <a:buFont typeface="Noto Sans Symbols"/>
              <a:buChar char="▪"/>
            </a:pPr>
            <a:r>
              <a:rPr lang="en-US" sz="2400">
                <a:latin typeface="Arial"/>
                <a:ea typeface="Arial"/>
                <a:cs typeface="Arial"/>
                <a:sym typeface="Arial"/>
              </a:rPr>
              <a:t>To utilize machine learning and data analysis techniques to </a:t>
            </a:r>
            <a:r>
              <a:rPr b="1" lang="en-US" sz="2400">
                <a:latin typeface="Arial"/>
                <a:ea typeface="Arial"/>
                <a:cs typeface="Arial"/>
                <a:sym typeface="Arial"/>
              </a:rPr>
              <a:t>optimize store performance, forecast demand, and enhance customer experience through segmentation and personalized marketing strategies</a:t>
            </a:r>
            <a:r>
              <a:rPr lang="en-US" sz="2400">
                <a:latin typeface="Arial"/>
                <a:ea typeface="Arial"/>
                <a:cs typeface="Arial"/>
                <a:sym typeface="Arial"/>
              </a:rPr>
              <a:t>.</a:t>
            </a:r>
            <a:endParaRPr/>
          </a:p>
          <a:p>
            <a:pPr indent="-228600" lvl="0" marL="457200" rtl="0" algn="l">
              <a:lnSpc>
                <a:spcPct val="110000"/>
              </a:lnSpc>
              <a:spcBef>
                <a:spcPts val="1000"/>
              </a:spcBef>
              <a:spcAft>
                <a:spcPts val="0"/>
              </a:spcAft>
              <a:buSzPts val="1920"/>
              <a:buFont typeface="Noto Sans Symbols"/>
              <a:buChar char="▪"/>
            </a:pPr>
            <a:r>
              <a:rPr lang="en-US" sz="2400">
                <a:latin typeface="Arial"/>
                <a:ea typeface="Arial"/>
                <a:cs typeface="Arial"/>
                <a:sym typeface="Arial"/>
              </a:rPr>
              <a:t>To foster long-term customer loyalty and satisfaction by delivering personalized experiences that exceed expectations. By continuously refining our strategies based on customer feedback and market insights, we can position ourselves as a trusted partner in meeting the evolving needs of our customers while driving sustainable business success in an increasingly competitive retail landscape.</a:t>
            </a:r>
            <a:endParaRPr/>
          </a:p>
          <a:p>
            <a:pPr indent="-106679" lvl="0" marL="457200" rtl="0" algn="l">
              <a:lnSpc>
                <a:spcPct val="110000"/>
              </a:lnSpc>
              <a:spcBef>
                <a:spcPts val="1000"/>
              </a:spcBef>
              <a:spcAft>
                <a:spcPts val="0"/>
              </a:spcAft>
              <a:buSzPts val="1920"/>
              <a:buFont typeface="Noto Sans Symbols"/>
              <a:buNone/>
            </a:pPr>
            <a:r>
              <a:t/>
            </a:r>
            <a:endParaRPr sz="2400">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grpSp>
        <p:nvGrpSpPr>
          <p:cNvPr id="104" name="Google Shape;104;p3"/>
          <p:cNvGrpSpPr/>
          <p:nvPr/>
        </p:nvGrpSpPr>
        <p:grpSpPr>
          <a:xfrm>
            <a:off x="690715" y="2192595"/>
            <a:ext cx="4471219" cy="3510115"/>
            <a:chOff x="0" y="0"/>
            <a:chExt cx="4471219" cy="3510115"/>
          </a:xfrm>
        </p:grpSpPr>
        <p:cxnSp>
          <p:nvCxnSpPr>
            <p:cNvPr id="105" name="Google Shape;105;p3"/>
            <p:cNvCxnSpPr/>
            <p:nvPr/>
          </p:nvCxnSpPr>
          <p:spPr>
            <a:xfrm>
              <a:off x="0" y="0"/>
              <a:ext cx="4471219" cy="0"/>
            </a:xfrm>
            <a:prstGeom prst="straightConnector1">
              <a:avLst/>
            </a:prstGeom>
            <a:solidFill>
              <a:srgbClr val="45B195"/>
            </a:solidFill>
            <a:ln cap="flat" cmpd="sng" w="12700">
              <a:solidFill>
                <a:srgbClr val="45B195"/>
              </a:solidFill>
              <a:prstDash val="solid"/>
              <a:miter lim="8000"/>
              <a:headEnd len="sm" w="sm" type="none"/>
              <a:tailEnd len="sm" w="sm" type="none"/>
            </a:ln>
          </p:spPr>
        </p:cxnSp>
        <p:sp>
          <p:nvSpPr>
            <p:cNvPr id="106" name="Google Shape;106;p3"/>
            <p:cNvSpPr/>
            <p:nvPr/>
          </p:nvSpPr>
          <p:spPr>
            <a:xfrm>
              <a:off x="0" y="0"/>
              <a:ext cx="4471219" cy="438764"/>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 name="Google Shape;107;p3"/>
            <p:cNvSpPr txBox="1"/>
            <p:nvPr/>
          </p:nvSpPr>
          <p:spPr>
            <a:xfrm>
              <a:off x="0" y="0"/>
              <a:ext cx="4471219" cy="438764"/>
            </a:xfrm>
            <a:prstGeom prst="rect">
              <a:avLst/>
            </a:prstGeom>
            <a:noFill/>
            <a:ln>
              <a:noFill/>
            </a:ln>
          </p:spPr>
          <p:txBody>
            <a:bodyPr anchorCtr="0" anchor="t" bIns="60950" lIns="60950" spcFirstLastPara="1" rIns="60950" wrap="square" tIns="60950">
              <a:noAutofit/>
            </a:bodyPr>
            <a:lstStyle/>
            <a:p>
              <a:pPr indent="0" lvl="0" marL="0" marR="0" rtl="0" algn="l">
                <a:lnSpc>
                  <a:spcPct val="90000"/>
                </a:lnSpc>
                <a:spcBef>
                  <a:spcPts val="0"/>
                </a:spcBef>
                <a:spcAft>
                  <a:spcPts val="0"/>
                </a:spcAft>
                <a:buClr>
                  <a:schemeClr val="dk1"/>
                </a:buClr>
                <a:buSzPts val="1600"/>
                <a:buFont typeface="EB Garamond"/>
                <a:buNone/>
              </a:pPr>
              <a:r>
                <a:rPr b="0" i="0" lang="en-US" sz="1600" u="none" cap="none" strike="noStrike">
                  <a:solidFill>
                    <a:schemeClr val="dk1"/>
                  </a:solidFill>
                  <a:latin typeface="Avenir"/>
                  <a:ea typeface="Avenir"/>
                  <a:cs typeface="Avenir"/>
                  <a:sym typeface="Avenir"/>
                </a:rPr>
                <a:t>About Dataset</a:t>
              </a:r>
              <a:endParaRPr b="0" i="0" sz="1600" u="none" cap="none" strike="noStrike">
                <a:solidFill>
                  <a:schemeClr val="dk1"/>
                </a:solidFill>
                <a:latin typeface="Avenir"/>
                <a:ea typeface="Avenir"/>
                <a:cs typeface="Avenir"/>
                <a:sym typeface="Avenir"/>
              </a:endParaRPr>
            </a:p>
          </p:txBody>
        </p:sp>
        <p:cxnSp>
          <p:nvCxnSpPr>
            <p:cNvPr id="108" name="Google Shape;108;p3"/>
            <p:cNvCxnSpPr/>
            <p:nvPr/>
          </p:nvCxnSpPr>
          <p:spPr>
            <a:xfrm>
              <a:off x="0" y="438764"/>
              <a:ext cx="4471219" cy="0"/>
            </a:xfrm>
            <a:prstGeom prst="straightConnector1">
              <a:avLst/>
            </a:prstGeom>
            <a:solidFill>
              <a:srgbClr val="4C7EC2"/>
            </a:solidFill>
            <a:ln cap="flat" cmpd="sng" w="12700">
              <a:solidFill>
                <a:srgbClr val="4C7EC2"/>
              </a:solidFill>
              <a:prstDash val="solid"/>
              <a:miter lim="8000"/>
              <a:headEnd len="sm" w="sm" type="none"/>
              <a:tailEnd len="sm" w="sm" type="none"/>
            </a:ln>
          </p:spPr>
        </p:cxnSp>
        <p:sp>
          <p:nvSpPr>
            <p:cNvPr id="109" name="Google Shape;109;p3"/>
            <p:cNvSpPr/>
            <p:nvPr/>
          </p:nvSpPr>
          <p:spPr>
            <a:xfrm>
              <a:off x="0" y="438764"/>
              <a:ext cx="4471219" cy="438764"/>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 name="Google Shape;110;p3"/>
            <p:cNvSpPr txBox="1"/>
            <p:nvPr/>
          </p:nvSpPr>
          <p:spPr>
            <a:xfrm>
              <a:off x="0" y="438764"/>
              <a:ext cx="4471219" cy="438764"/>
            </a:xfrm>
            <a:prstGeom prst="rect">
              <a:avLst/>
            </a:prstGeom>
            <a:noFill/>
            <a:ln>
              <a:noFill/>
            </a:ln>
          </p:spPr>
          <p:txBody>
            <a:bodyPr anchorCtr="0" anchor="t" bIns="60950" lIns="60950" spcFirstLastPara="1" rIns="60950" wrap="square" tIns="60950">
              <a:noAutofit/>
            </a:bodyPr>
            <a:lstStyle/>
            <a:p>
              <a:pPr indent="0" lvl="0" marL="0" marR="0" rtl="0" algn="l">
                <a:lnSpc>
                  <a:spcPct val="90000"/>
                </a:lnSpc>
                <a:spcBef>
                  <a:spcPts val="0"/>
                </a:spcBef>
                <a:spcAft>
                  <a:spcPts val="0"/>
                </a:spcAft>
                <a:buClr>
                  <a:schemeClr val="dk1"/>
                </a:buClr>
                <a:buSzPts val="1600"/>
                <a:buFont typeface="EB Garamond"/>
                <a:buNone/>
              </a:pPr>
              <a:r>
                <a:rPr b="0" i="0" lang="en-US" sz="1600" u="none" cap="none" strike="noStrike">
                  <a:solidFill>
                    <a:schemeClr val="dk1"/>
                  </a:solidFill>
                  <a:latin typeface="Avenir"/>
                  <a:ea typeface="Avenir"/>
                  <a:cs typeface="Avenir"/>
                  <a:sym typeface="Avenir"/>
                </a:rPr>
                <a:t>Exploratory Data Analysis</a:t>
              </a:r>
              <a:endParaRPr b="0" i="0" sz="1600" u="none" cap="none" strike="noStrike">
                <a:solidFill>
                  <a:schemeClr val="dk1"/>
                </a:solidFill>
                <a:highlight>
                  <a:srgbClr val="FFFFFF"/>
                </a:highlight>
                <a:latin typeface="Avenir"/>
                <a:ea typeface="Avenir"/>
                <a:cs typeface="Avenir"/>
                <a:sym typeface="Avenir"/>
              </a:endParaRPr>
            </a:p>
          </p:txBody>
        </p:sp>
        <p:cxnSp>
          <p:nvCxnSpPr>
            <p:cNvPr id="111" name="Google Shape;111;p3"/>
            <p:cNvCxnSpPr/>
            <p:nvPr/>
          </p:nvCxnSpPr>
          <p:spPr>
            <a:xfrm>
              <a:off x="0" y="877529"/>
              <a:ext cx="4471219" cy="0"/>
            </a:xfrm>
            <a:prstGeom prst="straightConnector1">
              <a:avLst/>
            </a:prstGeom>
            <a:solidFill>
              <a:srgbClr val="B0393C"/>
            </a:solidFill>
            <a:ln cap="flat" cmpd="sng" w="12700">
              <a:solidFill>
                <a:srgbClr val="B0393C"/>
              </a:solidFill>
              <a:prstDash val="solid"/>
              <a:miter lim="8000"/>
              <a:headEnd len="sm" w="sm" type="none"/>
              <a:tailEnd len="sm" w="sm" type="none"/>
            </a:ln>
          </p:spPr>
        </p:cxnSp>
        <p:sp>
          <p:nvSpPr>
            <p:cNvPr id="112" name="Google Shape;112;p3"/>
            <p:cNvSpPr/>
            <p:nvPr/>
          </p:nvSpPr>
          <p:spPr>
            <a:xfrm>
              <a:off x="0" y="877529"/>
              <a:ext cx="4471219" cy="438764"/>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 name="Google Shape;113;p3"/>
            <p:cNvSpPr txBox="1"/>
            <p:nvPr/>
          </p:nvSpPr>
          <p:spPr>
            <a:xfrm>
              <a:off x="0" y="877529"/>
              <a:ext cx="4471219" cy="438764"/>
            </a:xfrm>
            <a:prstGeom prst="rect">
              <a:avLst/>
            </a:prstGeom>
            <a:noFill/>
            <a:ln>
              <a:noFill/>
            </a:ln>
          </p:spPr>
          <p:txBody>
            <a:bodyPr anchorCtr="0" anchor="t" bIns="60950" lIns="60950" spcFirstLastPara="1" rIns="60950" wrap="square" tIns="60950">
              <a:noAutofit/>
            </a:bodyPr>
            <a:lstStyle/>
            <a:p>
              <a:pPr indent="0" lvl="0" marL="0" marR="0" rtl="0" algn="l">
                <a:lnSpc>
                  <a:spcPct val="90000"/>
                </a:lnSpc>
                <a:spcBef>
                  <a:spcPts val="0"/>
                </a:spcBef>
                <a:spcAft>
                  <a:spcPts val="0"/>
                </a:spcAft>
                <a:buClr>
                  <a:schemeClr val="dk1"/>
                </a:buClr>
                <a:buSzPts val="1600"/>
                <a:buFont typeface="EB Garamond"/>
                <a:buNone/>
              </a:pPr>
              <a:r>
                <a:rPr b="0" i="0" lang="en-US" sz="1600" u="none" cap="none" strike="noStrike">
                  <a:solidFill>
                    <a:schemeClr val="dk1"/>
                  </a:solidFill>
                  <a:highlight>
                    <a:srgbClr val="FFFFFF"/>
                  </a:highlight>
                  <a:latin typeface="Avenir"/>
                  <a:ea typeface="Avenir"/>
                  <a:cs typeface="Avenir"/>
                  <a:sym typeface="Avenir"/>
                </a:rPr>
                <a:t>Data Preprocessing and Feature Engineering</a:t>
              </a:r>
              <a:endParaRPr b="0" i="0" sz="1400" u="none" cap="none" strike="noStrike">
                <a:solidFill>
                  <a:srgbClr val="000000"/>
                </a:solidFill>
                <a:latin typeface="Arial"/>
                <a:ea typeface="Arial"/>
                <a:cs typeface="Arial"/>
                <a:sym typeface="Arial"/>
              </a:endParaRPr>
            </a:p>
          </p:txBody>
        </p:sp>
        <p:cxnSp>
          <p:nvCxnSpPr>
            <p:cNvPr id="114" name="Google Shape;114;p3"/>
            <p:cNvCxnSpPr/>
            <p:nvPr/>
          </p:nvCxnSpPr>
          <p:spPr>
            <a:xfrm>
              <a:off x="0" y="1316293"/>
              <a:ext cx="4471219" cy="0"/>
            </a:xfrm>
            <a:prstGeom prst="straightConnector1">
              <a:avLst/>
            </a:prstGeom>
            <a:solidFill>
              <a:srgbClr val="C27A4C"/>
            </a:solidFill>
            <a:ln cap="flat" cmpd="sng" w="12700">
              <a:solidFill>
                <a:srgbClr val="C27A4C"/>
              </a:solidFill>
              <a:prstDash val="solid"/>
              <a:miter lim="8000"/>
              <a:headEnd len="sm" w="sm" type="none"/>
              <a:tailEnd len="sm" w="sm" type="none"/>
            </a:ln>
          </p:spPr>
        </p:cxnSp>
        <p:sp>
          <p:nvSpPr>
            <p:cNvPr id="115" name="Google Shape;115;p3"/>
            <p:cNvSpPr/>
            <p:nvPr/>
          </p:nvSpPr>
          <p:spPr>
            <a:xfrm>
              <a:off x="0" y="1316293"/>
              <a:ext cx="4471219" cy="438764"/>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 name="Google Shape;116;p3"/>
            <p:cNvSpPr txBox="1"/>
            <p:nvPr/>
          </p:nvSpPr>
          <p:spPr>
            <a:xfrm>
              <a:off x="0" y="1316293"/>
              <a:ext cx="4471219" cy="438764"/>
            </a:xfrm>
            <a:prstGeom prst="rect">
              <a:avLst/>
            </a:prstGeom>
            <a:noFill/>
            <a:ln>
              <a:noFill/>
            </a:ln>
          </p:spPr>
          <p:txBody>
            <a:bodyPr anchorCtr="0" anchor="t" bIns="60950" lIns="60950" spcFirstLastPara="1" rIns="60950" wrap="square" tIns="60950">
              <a:noAutofit/>
            </a:bodyPr>
            <a:lstStyle/>
            <a:p>
              <a:pPr indent="0" lvl="0" marL="0" marR="0" rtl="0" algn="l">
                <a:lnSpc>
                  <a:spcPct val="90000"/>
                </a:lnSpc>
                <a:spcBef>
                  <a:spcPts val="0"/>
                </a:spcBef>
                <a:spcAft>
                  <a:spcPts val="0"/>
                </a:spcAft>
                <a:buClr>
                  <a:schemeClr val="dk1"/>
                </a:buClr>
                <a:buSzPts val="1600"/>
                <a:buFont typeface="EB Garamond"/>
                <a:buNone/>
              </a:pPr>
              <a:r>
                <a:rPr b="0" i="0" lang="en-US" sz="1600" u="none" cap="none" strike="noStrike">
                  <a:solidFill>
                    <a:schemeClr val="dk1"/>
                  </a:solidFill>
                  <a:highlight>
                    <a:srgbClr val="FFFFFF"/>
                  </a:highlight>
                  <a:latin typeface="Avenir"/>
                  <a:ea typeface="Avenir"/>
                  <a:cs typeface="Avenir"/>
                  <a:sym typeface="Avenir"/>
                </a:rPr>
                <a:t>About Dataset</a:t>
              </a:r>
              <a:endParaRPr b="0" i="0" sz="1600" u="none" cap="none" strike="noStrike">
                <a:solidFill>
                  <a:schemeClr val="dk1"/>
                </a:solidFill>
                <a:highlight>
                  <a:srgbClr val="FFFFFF"/>
                </a:highlight>
                <a:latin typeface="Avenir"/>
                <a:ea typeface="Avenir"/>
                <a:cs typeface="Avenir"/>
                <a:sym typeface="Avenir"/>
              </a:endParaRPr>
            </a:p>
          </p:txBody>
        </p:sp>
        <p:cxnSp>
          <p:nvCxnSpPr>
            <p:cNvPr id="117" name="Google Shape;117;p3"/>
            <p:cNvCxnSpPr/>
            <p:nvPr/>
          </p:nvCxnSpPr>
          <p:spPr>
            <a:xfrm>
              <a:off x="0" y="1755058"/>
              <a:ext cx="4471219" cy="0"/>
            </a:xfrm>
            <a:prstGeom prst="straightConnector1">
              <a:avLst/>
            </a:prstGeom>
            <a:solidFill>
              <a:srgbClr val="B09939"/>
            </a:solidFill>
            <a:ln cap="flat" cmpd="sng" w="12700">
              <a:solidFill>
                <a:srgbClr val="B09939"/>
              </a:solidFill>
              <a:prstDash val="solid"/>
              <a:miter lim="8000"/>
              <a:headEnd len="sm" w="sm" type="none"/>
              <a:tailEnd len="sm" w="sm" type="none"/>
            </a:ln>
          </p:spPr>
        </p:cxnSp>
        <p:sp>
          <p:nvSpPr>
            <p:cNvPr id="118" name="Google Shape;118;p3"/>
            <p:cNvSpPr/>
            <p:nvPr/>
          </p:nvSpPr>
          <p:spPr>
            <a:xfrm>
              <a:off x="0" y="1755058"/>
              <a:ext cx="4471219" cy="438764"/>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 name="Google Shape;119;p3"/>
            <p:cNvSpPr txBox="1"/>
            <p:nvPr/>
          </p:nvSpPr>
          <p:spPr>
            <a:xfrm>
              <a:off x="0" y="1755058"/>
              <a:ext cx="4471219" cy="438764"/>
            </a:xfrm>
            <a:prstGeom prst="rect">
              <a:avLst/>
            </a:prstGeom>
            <a:noFill/>
            <a:ln>
              <a:noFill/>
            </a:ln>
          </p:spPr>
          <p:txBody>
            <a:bodyPr anchorCtr="0" anchor="t" bIns="60950" lIns="60950" spcFirstLastPara="1" rIns="60950" wrap="square" tIns="60950">
              <a:noAutofit/>
            </a:bodyPr>
            <a:lstStyle/>
            <a:p>
              <a:pPr indent="0" lvl="0" marL="0" marR="0" rtl="0" algn="l">
                <a:lnSpc>
                  <a:spcPct val="90000"/>
                </a:lnSpc>
                <a:spcBef>
                  <a:spcPts val="0"/>
                </a:spcBef>
                <a:spcAft>
                  <a:spcPts val="0"/>
                </a:spcAft>
                <a:buClr>
                  <a:schemeClr val="dk1"/>
                </a:buClr>
                <a:buSzPts val="1600"/>
                <a:buFont typeface="EB Garamond"/>
                <a:buNone/>
              </a:pPr>
              <a:r>
                <a:rPr b="0" i="0" lang="en-US" sz="1600" u="none" cap="none" strike="noStrike">
                  <a:solidFill>
                    <a:schemeClr val="dk1"/>
                  </a:solidFill>
                  <a:highlight>
                    <a:srgbClr val="FFFFFF"/>
                  </a:highlight>
                  <a:latin typeface="Avenir"/>
                  <a:ea typeface="Avenir"/>
                  <a:cs typeface="Avenir"/>
                  <a:sym typeface="Avenir"/>
                </a:rPr>
                <a:t>Anomaly Detection in Sales Data</a:t>
              </a:r>
              <a:endParaRPr b="0" i="0" sz="1400" u="none" cap="none" strike="noStrike">
                <a:solidFill>
                  <a:srgbClr val="000000"/>
                </a:solidFill>
                <a:latin typeface="Arial"/>
                <a:ea typeface="Arial"/>
                <a:cs typeface="Arial"/>
                <a:sym typeface="Arial"/>
              </a:endParaRPr>
            </a:p>
          </p:txBody>
        </p:sp>
        <p:cxnSp>
          <p:nvCxnSpPr>
            <p:cNvPr id="120" name="Google Shape;120;p3"/>
            <p:cNvCxnSpPr/>
            <p:nvPr/>
          </p:nvCxnSpPr>
          <p:spPr>
            <a:xfrm>
              <a:off x="0" y="2193822"/>
              <a:ext cx="4471219" cy="0"/>
            </a:xfrm>
            <a:prstGeom prst="straightConnector1">
              <a:avLst/>
            </a:prstGeom>
            <a:solidFill>
              <a:srgbClr val="45B195"/>
            </a:solidFill>
            <a:ln cap="flat" cmpd="sng" w="12700">
              <a:solidFill>
                <a:srgbClr val="45B195"/>
              </a:solidFill>
              <a:prstDash val="solid"/>
              <a:miter lim="8000"/>
              <a:headEnd len="sm" w="sm" type="none"/>
              <a:tailEnd len="sm" w="sm" type="none"/>
            </a:ln>
          </p:spPr>
        </p:cxnSp>
        <p:sp>
          <p:nvSpPr>
            <p:cNvPr id="121" name="Google Shape;121;p3"/>
            <p:cNvSpPr/>
            <p:nvPr/>
          </p:nvSpPr>
          <p:spPr>
            <a:xfrm>
              <a:off x="0" y="2193822"/>
              <a:ext cx="4471219" cy="438764"/>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 name="Google Shape;122;p3"/>
            <p:cNvSpPr txBox="1"/>
            <p:nvPr/>
          </p:nvSpPr>
          <p:spPr>
            <a:xfrm>
              <a:off x="0" y="2193822"/>
              <a:ext cx="4471219" cy="438764"/>
            </a:xfrm>
            <a:prstGeom prst="rect">
              <a:avLst/>
            </a:prstGeom>
            <a:noFill/>
            <a:ln>
              <a:noFill/>
            </a:ln>
          </p:spPr>
          <p:txBody>
            <a:bodyPr anchorCtr="0" anchor="t" bIns="60950" lIns="60950" spcFirstLastPara="1" rIns="60950" wrap="square" tIns="60950">
              <a:noAutofit/>
            </a:bodyPr>
            <a:lstStyle/>
            <a:p>
              <a:pPr indent="0" lvl="0" marL="0" marR="0" rtl="0" algn="l">
                <a:lnSpc>
                  <a:spcPct val="90000"/>
                </a:lnSpc>
                <a:spcBef>
                  <a:spcPts val="0"/>
                </a:spcBef>
                <a:spcAft>
                  <a:spcPts val="0"/>
                </a:spcAft>
                <a:buClr>
                  <a:schemeClr val="dk1"/>
                </a:buClr>
                <a:buSzPts val="1600"/>
                <a:buFont typeface="EB Garamond"/>
                <a:buNone/>
              </a:pPr>
              <a:r>
                <a:rPr b="0" i="0" lang="en-US" sz="1600" u="none" cap="none" strike="noStrike">
                  <a:solidFill>
                    <a:schemeClr val="dk1"/>
                  </a:solidFill>
                  <a:latin typeface="Avenir"/>
                  <a:ea typeface="Avenir"/>
                  <a:cs typeface="Avenir"/>
                  <a:sym typeface="Avenir"/>
                </a:rPr>
                <a:t>Data Preprocessing and Feature Engineering</a:t>
              </a:r>
              <a:endParaRPr b="0" i="0" sz="1600" u="none" cap="none" strike="noStrike">
                <a:solidFill>
                  <a:schemeClr val="dk1"/>
                </a:solidFill>
                <a:latin typeface="Avenir"/>
                <a:ea typeface="Avenir"/>
                <a:cs typeface="Avenir"/>
                <a:sym typeface="Avenir"/>
              </a:endParaRPr>
            </a:p>
          </p:txBody>
        </p:sp>
        <p:cxnSp>
          <p:nvCxnSpPr>
            <p:cNvPr id="123" name="Google Shape;123;p3"/>
            <p:cNvCxnSpPr/>
            <p:nvPr/>
          </p:nvCxnSpPr>
          <p:spPr>
            <a:xfrm>
              <a:off x="0" y="2632586"/>
              <a:ext cx="4471219" cy="0"/>
            </a:xfrm>
            <a:prstGeom prst="straightConnector1">
              <a:avLst/>
            </a:prstGeom>
            <a:solidFill>
              <a:srgbClr val="4C7EC2"/>
            </a:solidFill>
            <a:ln cap="flat" cmpd="sng" w="12700">
              <a:solidFill>
                <a:srgbClr val="4C7EC2"/>
              </a:solidFill>
              <a:prstDash val="solid"/>
              <a:miter lim="8000"/>
              <a:headEnd len="sm" w="sm" type="none"/>
              <a:tailEnd len="sm" w="sm" type="none"/>
            </a:ln>
          </p:spPr>
        </p:cxnSp>
        <p:sp>
          <p:nvSpPr>
            <p:cNvPr id="124" name="Google Shape;124;p3"/>
            <p:cNvSpPr/>
            <p:nvPr/>
          </p:nvSpPr>
          <p:spPr>
            <a:xfrm>
              <a:off x="0" y="2632587"/>
              <a:ext cx="4471219" cy="438764"/>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 name="Google Shape;125;p3"/>
            <p:cNvSpPr txBox="1"/>
            <p:nvPr/>
          </p:nvSpPr>
          <p:spPr>
            <a:xfrm>
              <a:off x="0" y="2632587"/>
              <a:ext cx="4471219" cy="438764"/>
            </a:xfrm>
            <a:prstGeom prst="rect">
              <a:avLst/>
            </a:prstGeom>
            <a:noFill/>
            <a:ln>
              <a:noFill/>
            </a:ln>
          </p:spPr>
          <p:txBody>
            <a:bodyPr anchorCtr="0" anchor="t" bIns="60950" lIns="60950" spcFirstLastPara="1" rIns="60950" wrap="square" tIns="60950">
              <a:noAutofit/>
            </a:bodyPr>
            <a:lstStyle/>
            <a:p>
              <a:pPr indent="0" lvl="0" marL="0" marR="0" rtl="0" algn="l">
                <a:lnSpc>
                  <a:spcPct val="90000"/>
                </a:lnSpc>
                <a:spcBef>
                  <a:spcPts val="0"/>
                </a:spcBef>
                <a:spcAft>
                  <a:spcPts val="0"/>
                </a:spcAft>
                <a:buClr>
                  <a:schemeClr val="dk1"/>
                </a:buClr>
                <a:buSzPts val="1600"/>
                <a:buFont typeface="Avenir"/>
                <a:buNone/>
              </a:pPr>
              <a:r>
                <a:rPr b="0" i="0" lang="en-US" sz="1600" u="none" cap="none" strike="noStrike">
                  <a:solidFill>
                    <a:schemeClr val="dk1"/>
                  </a:solidFill>
                  <a:latin typeface="Avenir"/>
                  <a:ea typeface="Avenir"/>
                  <a:cs typeface="Avenir"/>
                  <a:sym typeface="Avenir"/>
                </a:rPr>
                <a:t>Exploratory Data Analysis</a:t>
              </a:r>
              <a:endParaRPr b="0" i="0" sz="1400" u="none" cap="none" strike="noStrike">
                <a:solidFill>
                  <a:srgbClr val="000000"/>
                </a:solidFill>
                <a:latin typeface="Arial"/>
                <a:ea typeface="Arial"/>
                <a:cs typeface="Arial"/>
                <a:sym typeface="Arial"/>
              </a:endParaRPr>
            </a:p>
          </p:txBody>
        </p:sp>
        <p:cxnSp>
          <p:nvCxnSpPr>
            <p:cNvPr id="126" name="Google Shape;126;p3"/>
            <p:cNvCxnSpPr/>
            <p:nvPr/>
          </p:nvCxnSpPr>
          <p:spPr>
            <a:xfrm>
              <a:off x="0" y="3071351"/>
              <a:ext cx="4471219" cy="0"/>
            </a:xfrm>
            <a:prstGeom prst="straightConnector1">
              <a:avLst/>
            </a:prstGeom>
            <a:solidFill>
              <a:srgbClr val="B0393C"/>
            </a:solidFill>
            <a:ln cap="flat" cmpd="sng" w="12700">
              <a:solidFill>
                <a:srgbClr val="B0393C"/>
              </a:solidFill>
              <a:prstDash val="solid"/>
              <a:miter lim="8000"/>
              <a:headEnd len="sm" w="sm" type="none"/>
              <a:tailEnd len="sm" w="sm" type="none"/>
            </a:ln>
          </p:spPr>
        </p:cxnSp>
        <p:sp>
          <p:nvSpPr>
            <p:cNvPr id="127" name="Google Shape;127;p3"/>
            <p:cNvSpPr/>
            <p:nvPr/>
          </p:nvSpPr>
          <p:spPr>
            <a:xfrm>
              <a:off x="0" y="3071351"/>
              <a:ext cx="4471219" cy="438764"/>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 name="Google Shape;128;p3"/>
            <p:cNvSpPr txBox="1"/>
            <p:nvPr/>
          </p:nvSpPr>
          <p:spPr>
            <a:xfrm>
              <a:off x="0" y="3071351"/>
              <a:ext cx="4471219" cy="438764"/>
            </a:xfrm>
            <a:prstGeom prst="rect">
              <a:avLst/>
            </a:prstGeom>
            <a:noFill/>
            <a:ln>
              <a:noFill/>
            </a:ln>
          </p:spPr>
          <p:txBody>
            <a:bodyPr anchorCtr="0" anchor="t" bIns="60950" lIns="60950" spcFirstLastPara="1" rIns="60950" wrap="square" tIns="60950">
              <a:noAutofit/>
            </a:bodyPr>
            <a:lstStyle/>
            <a:p>
              <a:pPr indent="0" lvl="0" marL="0" marR="0" rtl="0" algn="l">
                <a:lnSpc>
                  <a:spcPct val="90000"/>
                </a:lnSpc>
                <a:spcBef>
                  <a:spcPts val="0"/>
                </a:spcBef>
                <a:spcAft>
                  <a:spcPts val="0"/>
                </a:spcAft>
                <a:buClr>
                  <a:schemeClr val="dk1"/>
                </a:buClr>
                <a:buSzPts val="1600"/>
                <a:buFont typeface="Avenir"/>
                <a:buNone/>
              </a:pPr>
              <a:r>
                <a:rPr b="0" i="0" lang="en-US" sz="1600" u="none" cap="none" strike="noStrike">
                  <a:solidFill>
                    <a:schemeClr val="dk1"/>
                  </a:solidFill>
                  <a:highlight>
                    <a:srgbClr val="FFFFFF"/>
                  </a:highlight>
                  <a:latin typeface="Avenir"/>
                  <a:ea typeface="Avenir"/>
                  <a:cs typeface="Avenir"/>
                  <a:sym typeface="Avenir"/>
                </a:rPr>
                <a:t>Time-Based Anomaly Detection</a:t>
              </a:r>
              <a:endParaRPr b="0" i="0" sz="1600" u="none" cap="none" strike="noStrike">
                <a:solidFill>
                  <a:schemeClr val="dk1"/>
                </a:solidFill>
                <a:highlight>
                  <a:srgbClr val="FFFFFF"/>
                </a:highlight>
                <a:latin typeface="Avenir"/>
                <a:ea typeface="Avenir"/>
                <a:cs typeface="Avenir"/>
                <a:sym typeface="Avenir"/>
              </a:endParaRPr>
            </a:p>
          </p:txBody>
        </p:sp>
      </p:grpSp>
      <p:grpSp>
        <p:nvGrpSpPr>
          <p:cNvPr id="129" name="Google Shape;129;p3"/>
          <p:cNvGrpSpPr/>
          <p:nvPr/>
        </p:nvGrpSpPr>
        <p:grpSpPr>
          <a:xfrm>
            <a:off x="5338918" y="2193040"/>
            <a:ext cx="6162367" cy="3646875"/>
            <a:chOff x="0" y="445"/>
            <a:chExt cx="6162367" cy="3646875"/>
          </a:xfrm>
        </p:grpSpPr>
        <p:cxnSp>
          <p:nvCxnSpPr>
            <p:cNvPr id="130" name="Google Shape;130;p3"/>
            <p:cNvCxnSpPr/>
            <p:nvPr/>
          </p:nvCxnSpPr>
          <p:spPr>
            <a:xfrm>
              <a:off x="0" y="445"/>
              <a:ext cx="6162367" cy="0"/>
            </a:xfrm>
            <a:prstGeom prst="straightConnector1">
              <a:avLst/>
            </a:prstGeom>
            <a:solidFill>
              <a:srgbClr val="45B195"/>
            </a:solidFill>
            <a:ln cap="flat" cmpd="sng" w="12700">
              <a:solidFill>
                <a:srgbClr val="45B195"/>
              </a:solidFill>
              <a:prstDash val="solid"/>
              <a:miter lim="8000"/>
              <a:headEnd len="sm" w="sm" type="none"/>
              <a:tailEnd len="sm" w="sm" type="none"/>
            </a:ln>
          </p:spPr>
        </p:cxnSp>
        <p:sp>
          <p:nvSpPr>
            <p:cNvPr id="131" name="Google Shape;131;p3"/>
            <p:cNvSpPr/>
            <p:nvPr/>
          </p:nvSpPr>
          <p:spPr>
            <a:xfrm>
              <a:off x="0" y="445"/>
              <a:ext cx="6162367" cy="520982"/>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 name="Google Shape;132;p3"/>
            <p:cNvSpPr txBox="1"/>
            <p:nvPr/>
          </p:nvSpPr>
          <p:spPr>
            <a:xfrm>
              <a:off x="0" y="445"/>
              <a:ext cx="6162367" cy="520982"/>
            </a:xfrm>
            <a:prstGeom prst="rect">
              <a:avLst/>
            </a:prstGeom>
            <a:noFill/>
            <a:ln>
              <a:noFill/>
            </a:ln>
          </p:spPr>
          <p:txBody>
            <a:bodyPr anchorCtr="0" anchor="t" bIns="57150" lIns="57150" spcFirstLastPara="1" rIns="57150" wrap="square" tIns="57150">
              <a:noAutofit/>
            </a:bodyPr>
            <a:lstStyle/>
            <a:p>
              <a:pPr indent="0" lvl="0" marL="0" marR="0" rtl="0" algn="l">
                <a:lnSpc>
                  <a:spcPct val="90000"/>
                </a:lnSpc>
                <a:spcBef>
                  <a:spcPts val="0"/>
                </a:spcBef>
                <a:spcAft>
                  <a:spcPts val="0"/>
                </a:spcAft>
                <a:buClr>
                  <a:schemeClr val="dk1"/>
                </a:buClr>
                <a:buSzPts val="1500"/>
                <a:buFont typeface="Avenir"/>
                <a:buNone/>
              </a:pPr>
              <a:r>
                <a:rPr b="0" i="0" lang="en-US" sz="1500" u="none" cap="none" strike="noStrike">
                  <a:solidFill>
                    <a:schemeClr val="dk1"/>
                  </a:solidFill>
                  <a:highlight>
                    <a:srgbClr val="FFFFFF"/>
                  </a:highlight>
                  <a:latin typeface="Avenir"/>
                  <a:ea typeface="Avenir"/>
                  <a:cs typeface="Avenir"/>
                  <a:sym typeface="Avenir"/>
                </a:rPr>
                <a:t>Customer Segmentation Analysis &amp; Segmentation Quality Evaluation</a:t>
              </a:r>
              <a:endParaRPr b="0" i="0" sz="1400" u="none" cap="none" strike="noStrike">
                <a:solidFill>
                  <a:srgbClr val="000000"/>
                </a:solidFill>
                <a:latin typeface="Arial"/>
                <a:ea typeface="Arial"/>
                <a:cs typeface="Arial"/>
                <a:sym typeface="Arial"/>
              </a:endParaRPr>
            </a:p>
          </p:txBody>
        </p:sp>
        <p:cxnSp>
          <p:nvCxnSpPr>
            <p:cNvPr id="133" name="Google Shape;133;p3"/>
            <p:cNvCxnSpPr/>
            <p:nvPr/>
          </p:nvCxnSpPr>
          <p:spPr>
            <a:xfrm>
              <a:off x="0" y="521427"/>
              <a:ext cx="6162367" cy="0"/>
            </a:xfrm>
            <a:prstGeom prst="straightConnector1">
              <a:avLst/>
            </a:prstGeom>
            <a:solidFill>
              <a:srgbClr val="4C7EC2"/>
            </a:solidFill>
            <a:ln cap="flat" cmpd="sng" w="12700">
              <a:solidFill>
                <a:srgbClr val="4C7EC2"/>
              </a:solidFill>
              <a:prstDash val="solid"/>
              <a:miter lim="8000"/>
              <a:headEnd len="sm" w="sm" type="none"/>
              <a:tailEnd len="sm" w="sm" type="none"/>
            </a:ln>
          </p:spPr>
        </p:cxnSp>
        <p:sp>
          <p:nvSpPr>
            <p:cNvPr id="134" name="Google Shape;134;p3"/>
            <p:cNvSpPr/>
            <p:nvPr/>
          </p:nvSpPr>
          <p:spPr>
            <a:xfrm>
              <a:off x="0" y="521427"/>
              <a:ext cx="6162367" cy="520982"/>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 name="Google Shape;135;p3"/>
            <p:cNvSpPr txBox="1"/>
            <p:nvPr/>
          </p:nvSpPr>
          <p:spPr>
            <a:xfrm>
              <a:off x="0" y="521427"/>
              <a:ext cx="6162367" cy="520982"/>
            </a:xfrm>
            <a:prstGeom prst="rect">
              <a:avLst/>
            </a:prstGeom>
            <a:noFill/>
            <a:ln>
              <a:noFill/>
            </a:ln>
          </p:spPr>
          <p:txBody>
            <a:bodyPr anchorCtr="0" anchor="t" bIns="57150" lIns="57150" spcFirstLastPara="1" rIns="57150" wrap="square" tIns="57150">
              <a:noAutofit/>
            </a:bodyPr>
            <a:lstStyle/>
            <a:p>
              <a:pPr indent="0" lvl="0" marL="0" marR="0" rtl="0" algn="l">
                <a:lnSpc>
                  <a:spcPct val="90000"/>
                </a:lnSpc>
                <a:spcBef>
                  <a:spcPts val="0"/>
                </a:spcBef>
                <a:spcAft>
                  <a:spcPts val="0"/>
                </a:spcAft>
                <a:buClr>
                  <a:schemeClr val="dk1"/>
                </a:buClr>
                <a:buSzPts val="1500"/>
                <a:buFont typeface="Avenir"/>
                <a:buNone/>
              </a:pPr>
              <a:r>
                <a:rPr b="0" i="0" lang="en-US" sz="1500" u="none" cap="none" strike="noStrike">
                  <a:solidFill>
                    <a:schemeClr val="dk1"/>
                  </a:solidFill>
                  <a:highlight>
                    <a:srgbClr val="FFFFFF"/>
                  </a:highlight>
                  <a:latin typeface="Avenir"/>
                  <a:ea typeface="Avenir"/>
                  <a:cs typeface="Avenir"/>
                  <a:sym typeface="Avenir"/>
                </a:rPr>
                <a:t>Personalization Strategies</a:t>
              </a:r>
              <a:endParaRPr b="0" i="0" sz="1500" u="none" cap="none" strike="noStrike">
                <a:solidFill>
                  <a:schemeClr val="dk1"/>
                </a:solidFill>
                <a:highlight>
                  <a:srgbClr val="FFFFFF"/>
                </a:highlight>
                <a:latin typeface="Avenir"/>
                <a:ea typeface="Avenir"/>
                <a:cs typeface="Avenir"/>
                <a:sym typeface="Avenir"/>
              </a:endParaRPr>
            </a:p>
          </p:txBody>
        </p:sp>
        <p:cxnSp>
          <p:nvCxnSpPr>
            <p:cNvPr id="136" name="Google Shape;136;p3"/>
            <p:cNvCxnSpPr/>
            <p:nvPr/>
          </p:nvCxnSpPr>
          <p:spPr>
            <a:xfrm>
              <a:off x="0" y="1042409"/>
              <a:ext cx="6162367" cy="0"/>
            </a:xfrm>
            <a:prstGeom prst="straightConnector1">
              <a:avLst/>
            </a:prstGeom>
            <a:solidFill>
              <a:srgbClr val="B0393C"/>
            </a:solidFill>
            <a:ln cap="flat" cmpd="sng" w="12700">
              <a:solidFill>
                <a:srgbClr val="B0393C"/>
              </a:solidFill>
              <a:prstDash val="solid"/>
              <a:miter lim="8000"/>
              <a:headEnd len="sm" w="sm" type="none"/>
              <a:tailEnd len="sm" w="sm" type="none"/>
            </a:ln>
          </p:spPr>
        </p:cxnSp>
        <p:sp>
          <p:nvSpPr>
            <p:cNvPr id="137" name="Google Shape;137;p3"/>
            <p:cNvSpPr/>
            <p:nvPr/>
          </p:nvSpPr>
          <p:spPr>
            <a:xfrm>
              <a:off x="0" y="1042409"/>
              <a:ext cx="6162367" cy="520982"/>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 name="Google Shape;138;p3"/>
            <p:cNvSpPr txBox="1"/>
            <p:nvPr/>
          </p:nvSpPr>
          <p:spPr>
            <a:xfrm>
              <a:off x="0" y="1042409"/>
              <a:ext cx="6162367" cy="520982"/>
            </a:xfrm>
            <a:prstGeom prst="rect">
              <a:avLst/>
            </a:prstGeom>
            <a:noFill/>
            <a:ln>
              <a:noFill/>
            </a:ln>
          </p:spPr>
          <p:txBody>
            <a:bodyPr anchorCtr="0" anchor="t" bIns="57150" lIns="57150" spcFirstLastPara="1" rIns="57150" wrap="square" tIns="57150">
              <a:noAutofit/>
            </a:bodyPr>
            <a:lstStyle/>
            <a:p>
              <a:pPr indent="0" lvl="0" marL="0" marR="0" rtl="0" algn="l">
                <a:lnSpc>
                  <a:spcPct val="90000"/>
                </a:lnSpc>
                <a:spcBef>
                  <a:spcPts val="0"/>
                </a:spcBef>
                <a:spcAft>
                  <a:spcPts val="0"/>
                </a:spcAft>
                <a:buClr>
                  <a:schemeClr val="dk1"/>
                </a:buClr>
                <a:buSzPts val="1500"/>
                <a:buFont typeface="Avenir"/>
                <a:buNone/>
              </a:pPr>
              <a:r>
                <a:rPr b="0" i="0" lang="en-US" sz="1500" u="none" cap="none" strike="noStrike">
                  <a:solidFill>
                    <a:schemeClr val="dk1"/>
                  </a:solidFill>
                  <a:highlight>
                    <a:srgbClr val="FFFFFF"/>
                  </a:highlight>
                  <a:latin typeface="Avenir"/>
                  <a:ea typeface="Avenir"/>
                  <a:cs typeface="Avenir"/>
                  <a:sym typeface="Avenir"/>
                </a:rPr>
                <a:t>Market Basket Analysis</a:t>
              </a:r>
              <a:endParaRPr b="0" i="0" sz="1500" u="none" cap="none" strike="noStrike">
                <a:solidFill>
                  <a:schemeClr val="dk1"/>
                </a:solidFill>
                <a:highlight>
                  <a:srgbClr val="FFFFFF"/>
                </a:highlight>
                <a:latin typeface="Avenir"/>
                <a:ea typeface="Avenir"/>
                <a:cs typeface="Avenir"/>
                <a:sym typeface="Avenir"/>
              </a:endParaRPr>
            </a:p>
          </p:txBody>
        </p:sp>
        <p:cxnSp>
          <p:nvCxnSpPr>
            <p:cNvPr id="139" name="Google Shape;139;p3"/>
            <p:cNvCxnSpPr/>
            <p:nvPr/>
          </p:nvCxnSpPr>
          <p:spPr>
            <a:xfrm>
              <a:off x="0" y="1563391"/>
              <a:ext cx="6162367" cy="0"/>
            </a:xfrm>
            <a:prstGeom prst="straightConnector1">
              <a:avLst/>
            </a:prstGeom>
            <a:solidFill>
              <a:srgbClr val="C27A4C"/>
            </a:solidFill>
            <a:ln cap="flat" cmpd="sng" w="12700">
              <a:solidFill>
                <a:srgbClr val="C27A4C"/>
              </a:solidFill>
              <a:prstDash val="solid"/>
              <a:miter lim="8000"/>
              <a:headEnd len="sm" w="sm" type="none"/>
              <a:tailEnd len="sm" w="sm" type="none"/>
            </a:ln>
          </p:spPr>
        </p:cxnSp>
        <p:sp>
          <p:nvSpPr>
            <p:cNvPr id="140" name="Google Shape;140;p3"/>
            <p:cNvSpPr/>
            <p:nvPr/>
          </p:nvSpPr>
          <p:spPr>
            <a:xfrm>
              <a:off x="0" y="1563391"/>
              <a:ext cx="6162367" cy="520982"/>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 name="Google Shape;141;p3"/>
            <p:cNvSpPr txBox="1"/>
            <p:nvPr/>
          </p:nvSpPr>
          <p:spPr>
            <a:xfrm>
              <a:off x="0" y="1563391"/>
              <a:ext cx="6162367" cy="520982"/>
            </a:xfrm>
            <a:prstGeom prst="rect">
              <a:avLst/>
            </a:prstGeom>
            <a:noFill/>
            <a:ln>
              <a:noFill/>
            </a:ln>
          </p:spPr>
          <p:txBody>
            <a:bodyPr anchorCtr="0" anchor="t" bIns="57150" lIns="57150" spcFirstLastPara="1" rIns="57150" wrap="square" tIns="57150">
              <a:noAutofit/>
            </a:bodyPr>
            <a:lstStyle/>
            <a:p>
              <a:pPr indent="0" lvl="0" marL="0" marR="0" rtl="0" algn="l">
                <a:lnSpc>
                  <a:spcPct val="90000"/>
                </a:lnSpc>
                <a:spcBef>
                  <a:spcPts val="0"/>
                </a:spcBef>
                <a:spcAft>
                  <a:spcPts val="0"/>
                </a:spcAft>
                <a:buClr>
                  <a:schemeClr val="dk1"/>
                </a:buClr>
                <a:buSzPts val="1500"/>
                <a:buFont typeface="Avenir"/>
                <a:buNone/>
              </a:pPr>
              <a:r>
                <a:rPr b="0" i="0" lang="en-US" sz="1500" u="none" cap="none" strike="noStrike">
                  <a:solidFill>
                    <a:schemeClr val="dk1"/>
                  </a:solidFill>
                  <a:highlight>
                    <a:srgbClr val="FFFFFF"/>
                  </a:highlight>
                  <a:latin typeface="Avenir"/>
                  <a:ea typeface="Avenir"/>
                  <a:cs typeface="Avenir"/>
                  <a:sym typeface="Avenir"/>
                </a:rPr>
                <a:t>Demand Forecasting</a:t>
              </a:r>
              <a:endParaRPr b="0" i="0" sz="1500" u="none" cap="none" strike="noStrike">
                <a:solidFill>
                  <a:schemeClr val="dk1"/>
                </a:solidFill>
                <a:highlight>
                  <a:srgbClr val="FFFFFF"/>
                </a:highlight>
                <a:latin typeface="Avenir"/>
                <a:ea typeface="Avenir"/>
                <a:cs typeface="Avenir"/>
                <a:sym typeface="Avenir"/>
              </a:endParaRPr>
            </a:p>
          </p:txBody>
        </p:sp>
        <p:cxnSp>
          <p:nvCxnSpPr>
            <p:cNvPr id="142" name="Google Shape;142;p3"/>
            <p:cNvCxnSpPr/>
            <p:nvPr/>
          </p:nvCxnSpPr>
          <p:spPr>
            <a:xfrm>
              <a:off x="0" y="2084374"/>
              <a:ext cx="6162367" cy="0"/>
            </a:xfrm>
            <a:prstGeom prst="straightConnector1">
              <a:avLst/>
            </a:prstGeom>
            <a:solidFill>
              <a:srgbClr val="B09939"/>
            </a:solidFill>
            <a:ln cap="flat" cmpd="sng" w="12700">
              <a:solidFill>
                <a:srgbClr val="B09939"/>
              </a:solidFill>
              <a:prstDash val="solid"/>
              <a:miter lim="8000"/>
              <a:headEnd len="sm" w="sm" type="none"/>
              <a:tailEnd len="sm" w="sm" type="none"/>
            </a:ln>
          </p:spPr>
        </p:cxnSp>
        <p:sp>
          <p:nvSpPr>
            <p:cNvPr id="143" name="Google Shape;143;p3"/>
            <p:cNvSpPr/>
            <p:nvPr/>
          </p:nvSpPr>
          <p:spPr>
            <a:xfrm>
              <a:off x="0" y="2084374"/>
              <a:ext cx="6162367" cy="520982"/>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4" name="Google Shape;144;p3"/>
            <p:cNvSpPr txBox="1"/>
            <p:nvPr/>
          </p:nvSpPr>
          <p:spPr>
            <a:xfrm>
              <a:off x="0" y="2084374"/>
              <a:ext cx="6162367" cy="520982"/>
            </a:xfrm>
            <a:prstGeom prst="rect">
              <a:avLst/>
            </a:prstGeom>
            <a:noFill/>
            <a:ln>
              <a:noFill/>
            </a:ln>
          </p:spPr>
          <p:txBody>
            <a:bodyPr anchorCtr="0" anchor="t" bIns="57150" lIns="57150" spcFirstLastPara="1" rIns="57150" wrap="square" tIns="57150">
              <a:noAutofit/>
            </a:bodyPr>
            <a:lstStyle/>
            <a:p>
              <a:pPr indent="0" lvl="0" marL="0" marR="0" rtl="0" algn="l">
                <a:lnSpc>
                  <a:spcPct val="90000"/>
                </a:lnSpc>
                <a:spcBef>
                  <a:spcPts val="0"/>
                </a:spcBef>
                <a:spcAft>
                  <a:spcPts val="0"/>
                </a:spcAft>
                <a:buClr>
                  <a:schemeClr val="dk1"/>
                </a:buClr>
                <a:buSzPts val="1500"/>
                <a:buFont typeface="Avenir"/>
                <a:buNone/>
              </a:pPr>
              <a:r>
                <a:rPr b="0" i="0" lang="en-US" sz="1500" u="none" cap="none" strike="noStrike">
                  <a:solidFill>
                    <a:schemeClr val="dk1"/>
                  </a:solidFill>
                  <a:highlight>
                    <a:srgbClr val="FFFFFF"/>
                  </a:highlight>
                  <a:latin typeface="Avenir"/>
                  <a:ea typeface="Avenir"/>
                  <a:cs typeface="Avenir"/>
                  <a:sym typeface="Avenir"/>
                </a:rPr>
                <a:t>Impact of External Factors</a:t>
              </a:r>
              <a:endParaRPr b="0" i="0" sz="1500" u="none" cap="none" strike="noStrike">
                <a:solidFill>
                  <a:schemeClr val="dk1"/>
                </a:solidFill>
                <a:highlight>
                  <a:srgbClr val="FFFFFF"/>
                </a:highlight>
                <a:latin typeface="Avenir"/>
                <a:ea typeface="Avenir"/>
                <a:cs typeface="Avenir"/>
                <a:sym typeface="Avenir"/>
              </a:endParaRPr>
            </a:p>
          </p:txBody>
        </p:sp>
        <p:cxnSp>
          <p:nvCxnSpPr>
            <p:cNvPr id="145" name="Google Shape;145;p3"/>
            <p:cNvCxnSpPr/>
            <p:nvPr/>
          </p:nvCxnSpPr>
          <p:spPr>
            <a:xfrm>
              <a:off x="0" y="2605356"/>
              <a:ext cx="6162367" cy="0"/>
            </a:xfrm>
            <a:prstGeom prst="straightConnector1">
              <a:avLst/>
            </a:prstGeom>
            <a:solidFill>
              <a:srgbClr val="45B195"/>
            </a:solidFill>
            <a:ln cap="flat" cmpd="sng" w="12700">
              <a:solidFill>
                <a:srgbClr val="45B195"/>
              </a:solidFill>
              <a:prstDash val="solid"/>
              <a:miter lim="8000"/>
              <a:headEnd len="sm" w="sm" type="none"/>
              <a:tailEnd len="sm" w="sm" type="none"/>
            </a:ln>
          </p:spPr>
        </p:cxnSp>
        <p:sp>
          <p:nvSpPr>
            <p:cNvPr id="146" name="Google Shape;146;p3"/>
            <p:cNvSpPr/>
            <p:nvPr/>
          </p:nvSpPr>
          <p:spPr>
            <a:xfrm>
              <a:off x="0" y="2605356"/>
              <a:ext cx="6162367" cy="520982"/>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7" name="Google Shape;147;p3"/>
            <p:cNvSpPr txBox="1"/>
            <p:nvPr/>
          </p:nvSpPr>
          <p:spPr>
            <a:xfrm>
              <a:off x="0" y="2605356"/>
              <a:ext cx="6162367" cy="520982"/>
            </a:xfrm>
            <a:prstGeom prst="rect">
              <a:avLst/>
            </a:prstGeom>
            <a:noFill/>
            <a:ln>
              <a:noFill/>
            </a:ln>
          </p:spPr>
          <p:txBody>
            <a:bodyPr anchorCtr="0" anchor="t" bIns="57150" lIns="57150" spcFirstLastPara="1" rIns="57150" wrap="square" tIns="57150">
              <a:noAutofit/>
            </a:bodyPr>
            <a:lstStyle/>
            <a:p>
              <a:pPr indent="0" lvl="0" marL="0" marR="0" rtl="0" algn="l">
                <a:lnSpc>
                  <a:spcPct val="90000"/>
                </a:lnSpc>
                <a:spcBef>
                  <a:spcPts val="0"/>
                </a:spcBef>
                <a:spcAft>
                  <a:spcPts val="0"/>
                </a:spcAft>
                <a:buClr>
                  <a:schemeClr val="dk1"/>
                </a:buClr>
                <a:buSzPts val="1500"/>
                <a:buFont typeface="Avenir"/>
                <a:buNone/>
              </a:pPr>
              <a:r>
                <a:rPr b="0" i="0" lang="en-US" sz="1500" u="none" cap="none" strike="noStrike">
                  <a:solidFill>
                    <a:schemeClr val="dk1"/>
                  </a:solidFill>
                  <a:highlight>
                    <a:srgbClr val="FFFFFF"/>
                  </a:highlight>
                  <a:latin typeface="Avenir"/>
                  <a:ea typeface="Avenir"/>
                  <a:cs typeface="Avenir"/>
                  <a:sym typeface="Avenir"/>
                </a:rPr>
                <a:t>Real-World Application and Strategy Formulation</a:t>
              </a:r>
              <a:endParaRPr b="0" i="0" sz="1500" u="none" cap="none" strike="noStrike">
                <a:solidFill>
                  <a:schemeClr val="dk1"/>
                </a:solidFill>
                <a:highlight>
                  <a:srgbClr val="FFFFFF"/>
                </a:highlight>
                <a:latin typeface="Avenir"/>
                <a:ea typeface="Avenir"/>
                <a:cs typeface="Avenir"/>
                <a:sym typeface="Avenir"/>
              </a:endParaRPr>
            </a:p>
          </p:txBody>
        </p:sp>
        <p:cxnSp>
          <p:nvCxnSpPr>
            <p:cNvPr id="148" name="Google Shape;148;p3"/>
            <p:cNvCxnSpPr/>
            <p:nvPr/>
          </p:nvCxnSpPr>
          <p:spPr>
            <a:xfrm>
              <a:off x="0" y="3126338"/>
              <a:ext cx="6162367" cy="0"/>
            </a:xfrm>
            <a:prstGeom prst="straightConnector1">
              <a:avLst/>
            </a:prstGeom>
            <a:solidFill>
              <a:srgbClr val="4C7EC2"/>
            </a:solidFill>
            <a:ln cap="flat" cmpd="sng" w="12700">
              <a:solidFill>
                <a:srgbClr val="4C7EC2"/>
              </a:solidFill>
              <a:prstDash val="solid"/>
              <a:miter lim="8000"/>
              <a:headEnd len="sm" w="sm" type="none"/>
              <a:tailEnd len="sm" w="sm" type="none"/>
            </a:ln>
          </p:spPr>
        </p:cxnSp>
        <p:sp>
          <p:nvSpPr>
            <p:cNvPr id="149" name="Google Shape;149;p3"/>
            <p:cNvSpPr/>
            <p:nvPr/>
          </p:nvSpPr>
          <p:spPr>
            <a:xfrm>
              <a:off x="0" y="3126338"/>
              <a:ext cx="6162367" cy="520982"/>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0" name="Google Shape;150;p3"/>
            <p:cNvSpPr txBox="1"/>
            <p:nvPr/>
          </p:nvSpPr>
          <p:spPr>
            <a:xfrm>
              <a:off x="0" y="3126338"/>
              <a:ext cx="6162367" cy="520982"/>
            </a:xfrm>
            <a:prstGeom prst="rect">
              <a:avLst/>
            </a:prstGeom>
            <a:noFill/>
            <a:ln>
              <a:noFill/>
            </a:ln>
          </p:spPr>
          <p:txBody>
            <a:bodyPr anchorCtr="0" anchor="t" bIns="57150" lIns="57150" spcFirstLastPara="1" rIns="57150" wrap="square" tIns="57150">
              <a:noAutofit/>
            </a:bodyPr>
            <a:lstStyle/>
            <a:p>
              <a:pPr indent="0" lvl="0" marL="0" marR="0" rtl="0" algn="l">
                <a:lnSpc>
                  <a:spcPct val="90000"/>
                </a:lnSpc>
                <a:spcBef>
                  <a:spcPts val="0"/>
                </a:spcBef>
                <a:spcAft>
                  <a:spcPts val="0"/>
                </a:spcAft>
                <a:buClr>
                  <a:schemeClr val="dk1"/>
                </a:buClr>
                <a:buSzPts val="1500"/>
                <a:buFont typeface="Avenir"/>
                <a:buNone/>
              </a:pPr>
              <a:r>
                <a:rPr b="0" i="0" lang="en-US" sz="1500" u="none" cap="none" strike="noStrike">
                  <a:solidFill>
                    <a:schemeClr val="dk1"/>
                  </a:solidFill>
                  <a:highlight>
                    <a:srgbClr val="FFFFFF"/>
                  </a:highlight>
                  <a:latin typeface="Avenir"/>
                  <a:ea typeface="Avenir"/>
                  <a:cs typeface="Avenir"/>
                  <a:sym typeface="Avenir"/>
                </a:rPr>
                <a:t>Conclusion</a:t>
              </a:r>
              <a:endParaRPr b="0" i="0" sz="1500" u="none" cap="none" strike="noStrike">
                <a:solidFill>
                  <a:schemeClr val="dk1"/>
                </a:solidFill>
                <a:latin typeface="Avenir"/>
                <a:ea typeface="Avenir"/>
                <a:cs typeface="Avenir"/>
                <a:sym typeface="Avenir"/>
              </a:endParaRPr>
            </a:p>
          </p:txBody>
        </p:sp>
      </p:grpSp>
      <p:sp>
        <p:nvSpPr>
          <p:cNvPr id="151" name="Google Shape;151;p3"/>
          <p:cNvSpPr txBox="1"/>
          <p:nvPr>
            <p:ph type="title"/>
          </p:nvPr>
        </p:nvSpPr>
        <p:spPr>
          <a:xfrm>
            <a:off x="3014816" y="523721"/>
            <a:ext cx="6162368" cy="1325563"/>
          </a:xfrm>
          <a:prstGeom prst="rect">
            <a:avLst/>
          </a:prstGeom>
          <a:noFill/>
          <a:ln cap="flat" cmpd="sng" w="9525">
            <a:solidFill>
              <a:schemeClr val="dk2"/>
            </a:solidFill>
            <a:prstDash val="solid"/>
            <a:round/>
            <a:headEnd len="sm" w="sm" type="none"/>
            <a:tailEnd len="sm" w="sm" type="none"/>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accent5"/>
              </a:buClr>
              <a:buSzPts val="5200"/>
              <a:buFont typeface="EB Garamond"/>
              <a:buNone/>
            </a:pPr>
            <a:r>
              <a:rPr lang="en-US"/>
              <a:t>Project Components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4"/>
          <p:cNvSpPr txBox="1"/>
          <p:nvPr>
            <p:ph type="title"/>
          </p:nvPr>
        </p:nvSpPr>
        <p:spPr>
          <a:xfrm>
            <a:off x="589935" y="1000527"/>
            <a:ext cx="4473678" cy="931454"/>
          </a:xfrm>
          <a:prstGeom prst="rect">
            <a:avLst/>
          </a:prstGeom>
          <a:noFill/>
          <a:ln cap="flat" cmpd="sng" w="19050">
            <a:solidFill>
              <a:srgbClr val="2A4A48"/>
            </a:solidFill>
            <a:prstDash val="solid"/>
            <a:round/>
            <a:headEnd len="sm" w="sm" type="none"/>
            <a:tailEnd len="sm" w="sm" type="none"/>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accent5"/>
              </a:buClr>
              <a:buSzPts val="5200"/>
              <a:buFont typeface="EB Garamond"/>
              <a:buNone/>
            </a:pPr>
            <a:r>
              <a:rPr lang="en-US"/>
              <a:t>About Dataset</a:t>
            </a:r>
            <a:endParaRPr/>
          </a:p>
        </p:txBody>
      </p:sp>
      <p:grpSp>
        <p:nvGrpSpPr>
          <p:cNvPr id="157" name="Google Shape;157;p4"/>
          <p:cNvGrpSpPr/>
          <p:nvPr/>
        </p:nvGrpSpPr>
        <p:grpSpPr>
          <a:xfrm>
            <a:off x="5349470" y="1015784"/>
            <a:ext cx="6124050" cy="3756016"/>
            <a:chOff x="723" y="15257"/>
            <a:chExt cx="6124050" cy="3756016"/>
          </a:xfrm>
        </p:grpSpPr>
        <p:sp>
          <p:nvSpPr>
            <p:cNvPr id="158" name="Google Shape;158;p4"/>
            <p:cNvSpPr/>
            <p:nvPr/>
          </p:nvSpPr>
          <p:spPr>
            <a:xfrm>
              <a:off x="723" y="15257"/>
              <a:ext cx="2629058" cy="662400"/>
            </a:xfrm>
            <a:prstGeom prst="rect">
              <a:avLst/>
            </a:prstGeom>
            <a:solidFill>
              <a:srgbClr val="399DB0"/>
            </a:solidFill>
            <a:ln cap="flat" cmpd="sng" w="12700">
              <a:solidFill>
                <a:srgbClr val="399DB0"/>
              </a:solidFill>
              <a:prstDash val="solid"/>
              <a:miter lim="8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9" name="Google Shape;159;p4"/>
            <p:cNvSpPr txBox="1"/>
            <p:nvPr/>
          </p:nvSpPr>
          <p:spPr>
            <a:xfrm>
              <a:off x="723" y="15257"/>
              <a:ext cx="2629058" cy="662400"/>
            </a:xfrm>
            <a:prstGeom prst="rect">
              <a:avLst/>
            </a:prstGeom>
            <a:noFill/>
            <a:ln>
              <a:noFill/>
            </a:ln>
          </p:spPr>
          <p:txBody>
            <a:bodyPr anchorCtr="0" anchor="ctr" bIns="65000" lIns="113775" spcFirstLastPara="1" rIns="113775" wrap="square" tIns="65000">
              <a:noAutofit/>
            </a:bodyPr>
            <a:lstStyle/>
            <a:p>
              <a:pPr indent="0" lvl="0" marL="0" marR="0" rtl="0" algn="ctr">
                <a:lnSpc>
                  <a:spcPct val="90000"/>
                </a:lnSpc>
                <a:spcBef>
                  <a:spcPts val="0"/>
                </a:spcBef>
                <a:spcAft>
                  <a:spcPts val="0"/>
                </a:spcAft>
                <a:buClr>
                  <a:schemeClr val="lt1"/>
                </a:buClr>
                <a:buSzPts val="1600"/>
                <a:buFont typeface="Arial"/>
                <a:buNone/>
              </a:pPr>
              <a:r>
                <a:rPr b="1" i="0" lang="en-US" sz="1600" u="none" cap="none" strike="noStrike">
                  <a:solidFill>
                    <a:schemeClr val="lt1"/>
                  </a:solidFill>
                  <a:latin typeface="Arial"/>
                  <a:ea typeface="Arial"/>
                  <a:cs typeface="Arial"/>
                  <a:sym typeface="Arial"/>
                </a:rPr>
                <a:t>Feature Dataset</a:t>
              </a:r>
              <a:endParaRPr b="0" i="0" sz="1600" u="none" cap="none" strike="noStrike">
                <a:solidFill>
                  <a:schemeClr val="lt1"/>
                </a:solidFill>
                <a:latin typeface="Arial"/>
                <a:ea typeface="Arial"/>
                <a:cs typeface="Arial"/>
                <a:sym typeface="Arial"/>
              </a:endParaRPr>
            </a:p>
          </p:txBody>
        </p:sp>
        <p:sp>
          <p:nvSpPr>
            <p:cNvPr id="160" name="Google Shape;160;p4"/>
            <p:cNvSpPr/>
            <p:nvPr/>
          </p:nvSpPr>
          <p:spPr>
            <a:xfrm>
              <a:off x="6599" y="677658"/>
              <a:ext cx="2617307" cy="3093615"/>
            </a:xfrm>
            <a:prstGeom prst="rect">
              <a:avLst/>
            </a:prstGeom>
            <a:solidFill>
              <a:srgbClr val="CDDEE3">
                <a:alpha val="89411"/>
              </a:srgbClr>
            </a:solidFill>
            <a:ln cap="flat" cmpd="sng" w="12700">
              <a:solidFill>
                <a:srgbClr val="CDDEE3">
                  <a:alpha val="89411"/>
                </a:srgbClr>
              </a:solidFill>
              <a:prstDash val="solid"/>
              <a:miter lim="8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1" name="Google Shape;161;p4"/>
            <p:cNvSpPr txBox="1"/>
            <p:nvPr/>
          </p:nvSpPr>
          <p:spPr>
            <a:xfrm>
              <a:off x="6599" y="677658"/>
              <a:ext cx="2617307" cy="3093615"/>
            </a:xfrm>
            <a:prstGeom prst="rect">
              <a:avLst/>
            </a:prstGeom>
            <a:noFill/>
            <a:ln>
              <a:noFill/>
            </a:ln>
          </p:spPr>
          <p:txBody>
            <a:bodyPr anchorCtr="0" anchor="t" bIns="104000" lIns="69325" spcFirstLastPara="1" rIns="92450" wrap="square" tIns="69325">
              <a:noAutofit/>
            </a:bodyPr>
            <a:lstStyle/>
            <a:p>
              <a:pPr indent="-114300" lvl="1" marL="114300" marR="0" rtl="0" algn="l">
                <a:lnSpc>
                  <a:spcPct val="90000"/>
                </a:lnSpc>
                <a:spcBef>
                  <a:spcPts val="0"/>
                </a:spcBef>
                <a:spcAft>
                  <a:spcPts val="0"/>
                </a:spcAft>
                <a:buClr>
                  <a:schemeClr val="dk1"/>
                </a:buClr>
                <a:buSzPts val="1300"/>
                <a:buFont typeface="Arial"/>
                <a:buChar char="•"/>
              </a:pPr>
              <a:r>
                <a:rPr b="0" i="0" lang="en-US" sz="1300" u="none" cap="none" strike="noStrike">
                  <a:solidFill>
                    <a:schemeClr val="dk1"/>
                  </a:solidFill>
                  <a:latin typeface="Arial"/>
                  <a:ea typeface="Arial"/>
                  <a:cs typeface="Arial"/>
                  <a:sym typeface="Arial"/>
                </a:rPr>
                <a:t>Store</a:t>
              </a:r>
              <a:endParaRPr b="0" i="0" sz="1300" u="none" cap="none" strike="noStrike">
                <a:solidFill>
                  <a:schemeClr val="dk1"/>
                </a:solidFill>
                <a:latin typeface="Arial"/>
                <a:ea typeface="Arial"/>
                <a:cs typeface="Arial"/>
                <a:sym typeface="Arial"/>
              </a:endParaRPr>
            </a:p>
            <a:p>
              <a:pPr indent="-114300" lvl="1" marL="114300" marR="0" rtl="0" algn="l">
                <a:lnSpc>
                  <a:spcPct val="90000"/>
                </a:lnSpc>
                <a:spcBef>
                  <a:spcPts val="195"/>
                </a:spcBef>
                <a:spcAft>
                  <a:spcPts val="0"/>
                </a:spcAft>
                <a:buClr>
                  <a:schemeClr val="dk1"/>
                </a:buClr>
                <a:buSzPts val="1300"/>
                <a:buFont typeface="Arial"/>
                <a:buChar char="•"/>
              </a:pPr>
              <a:r>
                <a:rPr b="0" i="0" lang="en-US" sz="1300" u="none" cap="none" strike="noStrike">
                  <a:solidFill>
                    <a:schemeClr val="dk1"/>
                  </a:solidFill>
                  <a:latin typeface="Arial"/>
                  <a:ea typeface="Arial"/>
                  <a:cs typeface="Arial"/>
                  <a:sym typeface="Arial"/>
                </a:rPr>
                <a:t>Date</a:t>
              </a:r>
              <a:endParaRPr b="0" i="0" sz="1300" u="none" cap="none" strike="noStrike">
                <a:solidFill>
                  <a:schemeClr val="dk1"/>
                </a:solidFill>
                <a:latin typeface="Arial"/>
                <a:ea typeface="Arial"/>
                <a:cs typeface="Arial"/>
                <a:sym typeface="Arial"/>
              </a:endParaRPr>
            </a:p>
            <a:p>
              <a:pPr indent="-114300" lvl="1" marL="114300" marR="0" rtl="0" algn="l">
                <a:lnSpc>
                  <a:spcPct val="90000"/>
                </a:lnSpc>
                <a:spcBef>
                  <a:spcPts val="195"/>
                </a:spcBef>
                <a:spcAft>
                  <a:spcPts val="0"/>
                </a:spcAft>
                <a:buClr>
                  <a:schemeClr val="dk1"/>
                </a:buClr>
                <a:buSzPts val="1300"/>
                <a:buFont typeface="Arial"/>
                <a:buChar char="•"/>
              </a:pPr>
              <a:r>
                <a:rPr b="0" i="0" lang="en-US" sz="1300" u="none" cap="none" strike="noStrike">
                  <a:solidFill>
                    <a:schemeClr val="dk1"/>
                  </a:solidFill>
                  <a:latin typeface="Arial"/>
                  <a:ea typeface="Arial"/>
                  <a:cs typeface="Arial"/>
                  <a:sym typeface="Arial"/>
                </a:rPr>
                <a:t>Temperature (average temperature in the region)</a:t>
              </a:r>
              <a:endParaRPr b="0" i="0" sz="1300" u="none" cap="none" strike="noStrike">
                <a:solidFill>
                  <a:schemeClr val="dk1"/>
                </a:solidFill>
                <a:latin typeface="Arial"/>
                <a:ea typeface="Arial"/>
                <a:cs typeface="Arial"/>
                <a:sym typeface="Arial"/>
              </a:endParaRPr>
            </a:p>
            <a:p>
              <a:pPr indent="-114300" lvl="1" marL="114300" marR="0" rtl="0" algn="l">
                <a:lnSpc>
                  <a:spcPct val="90000"/>
                </a:lnSpc>
                <a:spcBef>
                  <a:spcPts val="195"/>
                </a:spcBef>
                <a:spcAft>
                  <a:spcPts val="0"/>
                </a:spcAft>
                <a:buClr>
                  <a:schemeClr val="dk1"/>
                </a:buClr>
                <a:buSzPts val="1300"/>
                <a:buFont typeface="Arial"/>
                <a:buChar char="•"/>
              </a:pPr>
              <a:r>
                <a:rPr b="0" i="0" lang="en-US" sz="1300" u="none" cap="none" strike="noStrike">
                  <a:solidFill>
                    <a:schemeClr val="dk1"/>
                  </a:solidFill>
                  <a:latin typeface="Arial"/>
                  <a:ea typeface="Arial"/>
                  <a:cs typeface="Arial"/>
                  <a:sym typeface="Arial"/>
                </a:rPr>
                <a:t>Fuel Price (cost of fuel in the region)</a:t>
              </a:r>
              <a:endParaRPr b="0" i="0" sz="1300" u="none" cap="none" strike="noStrike">
                <a:solidFill>
                  <a:schemeClr val="dk1"/>
                </a:solidFill>
                <a:latin typeface="Arial"/>
                <a:ea typeface="Arial"/>
                <a:cs typeface="Arial"/>
                <a:sym typeface="Arial"/>
              </a:endParaRPr>
            </a:p>
            <a:p>
              <a:pPr indent="-114300" lvl="1" marL="114300" marR="0" rtl="0" algn="l">
                <a:lnSpc>
                  <a:spcPct val="90000"/>
                </a:lnSpc>
                <a:spcBef>
                  <a:spcPts val="195"/>
                </a:spcBef>
                <a:spcAft>
                  <a:spcPts val="0"/>
                </a:spcAft>
                <a:buClr>
                  <a:schemeClr val="dk1"/>
                </a:buClr>
                <a:buSzPts val="1300"/>
                <a:buFont typeface="Arial"/>
                <a:buChar char="•"/>
              </a:pPr>
              <a:r>
                <a:rPr b="0" i="0" lang="en-US" sz="1300" u="none" cap="none" strike="noStrike">
                  <a:solidFill>
                    <a:schemeClr val="dk1"/>
                  </a:solidFill>
                  <a:latin typeface="Arial"/>
                  <a:ea typeface="Arial"/>
                  <a:cs typeface="Arial"/>
                  <a:sym typeface="Arial"/>
                </a:rPr>
                <a:t>Markdown 1</a:t>
              </a:r>
              <a:endParaRPr b="0" i="0" sz="1300" u="none" cap="none" strike="noStrike">
                <a:solidFill>
                  <a:schemeClr val="dk1"/>
                </a:solidFill>
                <a:latin typeface="Arial"/>
                <a:ea typeface="Arial"/>
                <a:cs typeface="Arial"/>
                <a:sym typeface="Arial"/>
              </a:endParaRPr>
            </a:p>
            <a:p>
              <a:pPr indent="-114300" lvl="1" marL="114300" marR="0" rtl="0" algn="l">
                <a:lnSpc>
                  <a:spcPct val="90000"/>
                </a:lnSpc>
                <a:spcBef>
                  <a:spcPts val="195"/>
                </a:spcBef>
                <a:spcAft>
                  <a:spcPts val="0"/>
                </a:spcAft>
                <a:buClr>
                  <a:schemeClr val="dk1"/>
                </a:buClr>
                <a:buSzPts val="1300"/>
                <a:buFont typeface="Arial"/>
                <a:buChar char="•"/>
              </a:pPr>
              <a:r>
                <a:rPr b="0" i="0" lang="en-US" sz="1300" u="none" cap="none" strike="noStrike">
                  <a:solidFill>
                    <a:schemeClr val="dk1"/>
                  </a:solidFill>
                  <a:latin typeface="Arial"/>
                  <a:ea typeface="Arial"/>
                  <a:cs typeface="Arial"/>
                  <a:sym typeface="Arial"/>
                </a:rPr>
                <a:t>Markdown 2</a:t>
              </a:r>
              <a:endParaRPr b="0" i="0" sz="1300" u="none" cap="none" strike="noStrike">
                <a:solidFill>
                  <a:schemeClr val="dk1"/>
                </a:solidFill>
                <a:latin typeface="Arial"/>
                <a:ea typeface="Arial"/>
                <a:cs typeface="Arial"/>
                <a:sym typeface="Arial"/>
              </a:endParaRPr>
            </a:p>
            <a:p>
              <a:pPr indent="-114300" lvl="1" marL="114300" marR="0" rtl="0" algn="l">
                <a:lnSpc>
                  <a:spcPct val="90000"/>
                </a:lnSpc>
                <a:spcBef>
                  <a:spcPts val="195"/>
                </a:spcBef>
                <a:spcAft>
                  <a:spcPts val="0"/>
                </a:spcAft>
                <a:buClr>
                  <a:schemeClr val="dk1"/>
                </a:buClr>
                <a:buSzPts val="1300"/>
                <a:buFont typeface="Arial"/>
                <a:buChar char="•"/>
              </a:pPr>
              <a:r>
                <a:rPr b="0" i="0" lang="en-US" sz="1300" u="none" cap="none" strike="noStrike">
                  <a:solidFill>
                    <a:schemeClr val="dk1"/>
                  </a:solidFill>
                  <a:latin typeface="Arial"/>
                  <a:ea typeface="Arial"/>
                  <a:cs typeface="Arial"/>
                  <a:sym typeface="Arial"/>
                </a:rPr>
                <a:t>Markdown 3</a:t>
              </a:r>
              <a:endParaRPr b="0" i="0" sz="1300" u="none" cap="none" strike="noStrike">
                <a:solidFill>
                  <a:schemeClr val="dk1"/>
                </a:solidFill>
                <a:latin typeface="Arial"/>
                <a:ea typeface="Arial"/>
                <a:cs typeface="Arial"/>
                <a:sym typeface="Arial"/>
              </a:endParaRPr>
            </a:p>
            <a:p>
              <a:pPr indent="-114300" lvl="1" marL="114300" marR="0" rtl="0" algn="l">
                <a:lnSpc>
                  <a:spcPct val="90000"/>
                </a:lnSpc>
                <a:spcBef>
                  <a:spcPts val="195"/>
                </a:spcBef>
                <a:spcAft>
                  <a:spcPts val="0"/>
                </a:spcAft>
                <a:buClr>
                  <a:schemeClr val="dk1"/>
                </a:buClr>
                <a:buSzPts val="1300"/>
                <a:buFont typeface="Arial"/>
                <a:buChar char="•"/>
              </a:pPr>
              <a:r>
                <a:rPr b="0" i="0" lang="en-US" sz="1300" u="none" cap="none" strike="noStrike">
                  <a:solidFill>
                    <a:schemeClr val="dk1"/>
                  </a:solidFill>
                  <a:latin typeface="Arial"/>
                  <a:ea typeface="Arial"/>
                  <a:cs typeface="Arial"/>
                  <a:sym typeface="Arial"/>
                </a:rPr>
                <a:t>Markdown 4</a:t>
              </a:r>
              <a:endParaRPr b="0" i="0" sz="1300" u="none" cap="none" strike="noStrike">
                <a:solidFill>
                  <a:schemeClr val="dk1"/>
                </a:solidFill>
                <a:latin typeface="Arial"/>
                <a:ea typeface="Arial"/>
                <a:cs typeface="Arial"/>
                <a:sym typeface="Arial"/>
              </a:endParaRPr>
            </a:p>
            <a:p>
              <a:pPr indent="-114300" lvl="1" marL="114300" marR="0" rtl="0" algn="l">
                <a:lnSpc>
                  <a:spcPct val="90000"/>
                </a:lnSpc>
                <a:spcBef>
                  <a:spcPts val="195"/>
                </a:spcBef>
                <a:spcAft>
                  <a:spcPts val="0"/>
                </a:spcAft>
                <a:buClr>
                  <a:schemeClr val="dk1"/>
                </a:buClr>
                <a:buSzPts val="1300"/>
                <a:buFont typeface="Arial"/>
                <a:buChar char="•"/>
              </a:pPr>
              <a:r>
                <a:rPr b="0" i="0" lang="en-US" sz="1300" u="none" cap="none" strike="noStrike">
                  <a:solidFill>
                    <a:schemeClr val="dk1"/>
                  </a:solidFill>
                  <a:latin typeface="Arial"/>
                  <a:ea typeface="Arial"/>
                  <a:cs typeface="Arial"/>
                  <a:sym typeface="Arial"/>
                </a:rPr>
                <a:t>Markdown 5</a:t>
              </a:r>
              <a:endParaRPr b="0" i="0" sz="1300" u="none" cap="none" strike="noStrike">
                <a:solidFill>
                  <a:schemeClr val="dk1"/>
                </a:solidFill>
                <a:latin typeface="Arial"/>
                <a:ea typeface="Arial"/>
                <a:cs typeface="Arial"/>
                <a:sym typeface="Arial"/>
              </a:endParaRPr>
            </a:p>
            <a:p>
              <a:pPr indent="-114300" lvl="1" marL="114300" marR="0" rtl="0" algn="l">
                <a:lnSpc>
                  <a:spcPct val="90000"/>
                </a:lnSpc>
                <a:spcBef>
                  <a:spcPts val="195"/>
                </a:spcBef>
                <a:spcAft>
                  <a:spcPts val="0"/>
                </a:spcAft>
                <a:buClr>
                  <a:schemeClr val="dk1"/>
                </a:buClr>
                <a:buSzPts val="1300"/>
                <a:buFont typeface="Arial"/>
                <a:buChar char="•"/>
              </a:pPr>
              <a:r>
                <a:rPr b="0" i="0" lang="en-US" sz="1300" u="none" cap="none" strike="noStrike">
                  <a:solidFill>
                    <a:schemeClr val="dk1"/>
                  </a:solidFill>
                  <a:latin typeface="Arial"/>
                  <a:ea typeface="Arial"/>
                  <a:cs typeface="Arial"/>
                  <a:sym typeface="Arial"/>
                </a:rPr>
                <a:t>CPI (consumer price index)</a:t>
              </a:r>
              <a:endParaRPr b="0" i="0" sz="1300" u="none" cap="none" strike="noStrike">
                <a:solidFill>
                  <a:schemeClr val="dk1"/>
                </a:solidFill>
                <a:latin typeface="Arial"/>
                <a:ea typeface="Arial"/>
                <a:cs typeface="Arial"/>
                <a:sym typeface="Arial"/>
              </a:endParaRPr>
            </a:p>
            <a:p>
              <a:pPr indent="-114300" lvl="1" marL="114300" marR="0" rtl="0" algn="l">
                <a:lnSpc>
                  <a:spcPct val="90000"/>
                </a:lnSpc>
                <a:spcBef>
                  <a:spcPts val="195"/>
                </a:spcBef>
                <a:spcAft>
                  <a:spcPts val="0"/>
                </a:spcAft>
                <a:buClr>
                  <a:schemeClr val="dk1"/>
                </a:buClr>
                <a:buSzPts val="1300"/>
                <a:buFont typeface="Arial"/>
                <a:buChar char="•"/>
              </a:pPr>
              <a:r>
                <a:rPr b="0" i="0" lang="en-US" sz="1300" u="none" cap="none" strike="noStrike">
                  <a:solidFill>
                    <a:schemeClr val="dk1"/>
                  </a:solidFill>
                  <a:latin typeface="Arial"/>
                  <a:ea typeface="Arial"/>
                  <a:cs typeface="Arial"/>
                  <a:sym typeface="Arial"/>
                </a:rPr>
                <a:t>Unemployment (unemployment rate)</a:t>
              </a:r>
              <a:endParaRPr b="0" i="0" sz="1300" u="none" cap="none" strike="noStrike">
                <a:solidFill>
                  <a:schemeClr val="dk1"/>
                </a:solidFill>
                <a:latin typeface="Arial"/>
                <a:ea typeface="Arial"/>
                <a:cs typeface="Arial"/>
                <a:sym typeface="Arial"/>
              </a:endParaRPr>
            </a:p>
            <a:p>
              <a:pPr indent="-114300" lvl="1" marL="114300" marR="0" rtl="0" algn="l">
                <a:lnSpc>
                  <a:spcPct val="90000"/>
                </a:lnSpc>
                <a:spcBef>
                  <a:spcPts val="195"/>
                </a:spcBef>
                <a:spcAft>
                  <a:spcPts val="0"/>
                </a:spcAft>
                <a:buClr>
                  <a:schemeClr val="dk1"/>
                </a:buClr>
                <a:buSzPts val="1300"/>
                <a:buFont typeface="Arial"/>
                <a:buChar char="•"/>
              </a:pPr>
              <a:r>
                <a:rPr b="0" i="0" lang="en-US" sz="1300" u="none" cap="none" strike="noStrike">
                  <a:solidFill>
                    <a:schemeClr val="dk1"/>
                  </a:solidFill>
                  <a:latin typeface="Arial"/>
                  <a:ea typeface="Arial"/>
                  <a:cs typeface="Arial"/>
                  <a:sym typeface="Arial"/>
                </a:rPr>
                <a:t>Is holiday</a:t>
              </a:r>
              <a:endParaRPr b="0" i="0" sz="1300" u="none" cap="none" strike="noStrike">
                <a:solidFill>
                  <a:schemeClr val="dk1"/>
                </a:solidFill>
                <a:latin typeface="Arial"/>
                <a:ea typeface="Arial"/>
                <a:cs typeface="Arial"/>
                <a:sym typeface="Arial"/>
              </a:endParaRPr>
            </a:p>
          </p:txBody>
        </p:sp>
        <p:sp>
          <p:nvSpPr>
            <p:cNvPr id="162" name="Google Shape;162;p4"/>
            <p:cNvSpPr/>
            <p:nvPr/>
          </p:nvSpPr>
          <p:spPr>
            <a:xfrm>
              <a:off x="2997850" y="15257"/>
              <a:ext cx="1512523" cy="662400"/>
            </a:xfrm>
            <a:prstGeom prst="rect">
              <a:avLst/>
            </a:prstGeom>
            <a:solidFill>
              <a:srgbClr val="399DB0"/>
            </a:solidFill>
            <a:ln cap="flat" cmpd="sng" w="12700">
              <a:solidFill>
                <a:srgbClr val="399DB0"/>
              </a:solidFill>
              <a:prstDash val="solid"/>
              <a:miter lim="8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 name="Google Shape;163;p4"/>
            <p:cNvSpPr txBox="1"/>
            <p:nvPr/>
          </p:nvSpPr>
          <p:spPr>
            <a:xfrm>
              <a:off x="2997850" y="15257"/>
              <a:ext cx="1512523" cy="662400"/>
            </a:xfrm>
            <a:prstGeom prst="rect">
              <a:avLst/>
            </a:prstGeom>
            <a:noFill/>
            <a:ln>
              <a:noFill/>
            </a:ln>
          </p:spPr>
          <p:txBody>
            <a:bodyPr anchorCtr="0" anchor="ctr" bIns="65000" lIns="113775" spcFirstLastPara="1" rIns="113775" wrap="square" tIns="65000">
              <a:noAutofit/>
            </a:bodyPr>
            <a:lstStyle/>
            <a:p>
              <a:pPr indent="0" lvl="0" marL="0" marR="0" rtl="0" algn="ctr">
                <a:lnSpc>
                  <a:spcPct val="90000"/>
                </a:lnSpc>
                <a:spcBef>
                  <a:spcPts val="0"/>
                </a:spcBef>
                <a:spcAft>
                  <a:spcPts val="0"/>
                </a:spcAft>
                <a:buClr>
                  <a:schemeClr val="lt1"/>
                </a:buClr>
                <a:buSzPts val="1600"/>
                <a:buFont typeface="Arial"/>
                <a:buNone/>
              </a:pPr>
              <a:r>
                <a:rPr b="1" i="0" lang="en-US" sz="1600" u="none" cap="none" strike="noStrike">
                  <a:solidFill>
                    <a:schemeClr val="lt1"/>
                  </a:solidFill>
                  <a:latin typeface="Arial"/>
                  <a:ea typeface="Arial"/>
                  <a:cs typeface="Arial"/>
                  <a:sym typeface="Arial"/>
                </a:rPr>
                <a:t>Sales Dataset</a:t>
              </a:r>
              <a:endParaRPr b="1" i="0" sz="1600" u="none" cap="none" strike="noStrike">
                <a:solidFill>
                  <a:schemeClr val="lt1"/>
                </a:solidFill>
                <a:latin typeface="Arial"/>
                <a:ea typeface="Arial"/>
                <a:cs typeface="Arial"/>
                <a:sym typeface="Arial"/>
              </a:endParaRPr>
            </a:p>
          </p:txBody>
        </p:sp>
        <p:sp>
          <p:nvSpPr>
            <p:cNvPr id="164" name="Google Shape;164;p4"/>
            <p:cNvSpPr/>
            <p:nvPr/>
          </p:nvSpPr>
          <p:spPr>
            <a:xfrm>
              <a:off x="3006815" y="677658"/>
              <a:ext cx="1494593" cy="3093615"/>
            </a:xfrm>
            <a:prstGeom prst="rect">
              <a:avLst/>
            </a:prstGeom>
            <a:solidFill>
              <a:srgbClr val="CDDEE3">
                <a:alpha val="89411"/>
              </a:srgbClr>
            </a:solidFill>
            <a:ln cap="flat" cmpd="sng" w="12700">
              <a:solidFill>
                <a:srgbClr val="CDDEE3">
                  <a:alpha val="89411"/>
                </a:srgbClr>
              </a:solidFill>
              <a:prstDash val="solid"/>
              <a:miter lim="8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5" name="Google Shape;165;p4"/>
            <p:cNvSpPr txBox="1"/>
            <p:nvPr/>
          </p:nvSpPr>
          <p:spPr>
            <a:xfrm>
              <a:off x="3006815" y="677658"/>
              <a:ext cx="1494593" cy="3093615"/>
            </a:xfrm>
            <a:prstGeom prst="rect">
              <a:avLst/>
            </a:prstGeom>
            <a:noFill/>
            <a:ln>
              <a:noFill/>
            </a:ln>
          </p:spPr>
          <p:txBody>
            <a:bodyPr anchorCtr="0" anchor="t" bIns="104000" lIns="69325" spcFirstLastPara="1" rIns="92450" wrap="square" tIns="69325">
              <a:noAutofit/>
            </a:bodyPr>
            <a:lstStyle/>
            <a:p>
              <a:pPr indent="-114300" lvl="1" marL="114300" marR="0" rtl="0" algn="l">
                <a:lnSpc>
                  <a:spcPct val="90000"/>
                </a:lnSpc>
                <a:spcBef>
                  <a:spcPts val="0"/>
                </a:spcBef>
                <a:spcAft>
                  <a:spcPts val="0"/>
                </a:spcAft>
                <a:buClr>
                  <a:schemeClr val="dk1"/>
                </a:buClr>
                <a:buSzPts val="1300"/>
                <a:buFont typeface="Arial"/>
                <a:buChar char="•"/>
              </a:pPr>
              <a:r>
                <a:rPr b="0" i="0" lang="en-US" sz="1300" u="none" cap="none" strike="noStrike">
                  <a:solidFill>
                    <a:schemeClr val="dk1"/>
                  </a:solidFill>
                  <a:latin typeface="Arial"/>
                  <a:ea typeface="Arial"/>
                  <a:cs typeface="Arial"/>
                  <a:sym typeface="Arial"/>
                </a:rPr>
                <a:t>Store (store number)</a:t>
              </a:r>
              <a:endParaRPr b="0" i="0" sz="1300" u="none" cap="none" strike="noStrike">
                <a:solidFill>
                  <a:schemeClr val="dk1"/>
                </a:solidFill>
                <a:latin typeface="Arial"/>
                <a:ea typeface="Arial"/>
                <a:cs typeface="Arial"/>
                <a:sym typeface="Arial"/>
              </a:endParaRPr>
            </a:p>
            <a:p>
              <a:pPr indent="-114300" lvl="1" marL="114300" marR="0" rtl="0" algn="l">
                <a:lnSpc>
                  <a:spcPct val="90000"/>
                </a:lnSpc>
                <a:spcBef>
                  <a:spcPts val="195"/>
                </a:spcBef>
                <a:spcAft>
                  <a:spcPts val="0"/>
                </a:spcAft>
                <a:buClr>
                  <a:schemeClr val="dk1"/>
                </a:buClr>
                <a:buSzPts val="1300"/>
                <a:buFont typeface="Arial"/>
                <a:buChar char="•"/>
              </a:pPr>
              <a:r>
                <a:rPr b="0" i="0" lang="en-US" sz="1300" u="none" cap="none" strike="noStrike">
                  <a:solidFill>
                    <a:schemeClr val="dk1"/>
                  </a:solidFill>
                  <a:latin typeface="Arial"/>
                  <a:ea typeface="Arial"/>
                  <a:cs typeface="Arial"/>
                  <a:sym typeface="Arial"/>
                </a:rPr>
                <a:t>Department (department number)</a:t>
              </a:r>
              <a:endParaRPr b="0" i="0" sz="1300" u="none" cap="none" strike="noStrike">
                <a:solidFill>
                  <a:schemeClr val="dk1"/>
                </a:solidFill>
                <a:latin typeface="Arial"/>
                <a:ea typeface="Arial"/>
                <a:cs typeface="Arial"/>
                <a:sym typeface="Arial"/>
              </a:endParaRPr>
            </a:p>
            <a:p>
              <a:pPr indent="-114300" lvl="1" marL="114300" marR="0" rtl="0" algn="l">
                <a:lnSpc>
                  <a:spcPct val="90000"/>
                </a:lnSpc>
                <a:spcBef>
                  <a:spcPts val="195"/>
                </a:spcBef>
                <a:spcAft>
                  <a:spcPts val="0"/>
                </a:spcAft>
                <a:buClr>
                  <a:schemeClr val="dk1"/>
                </a:buClr>
                <a:buSzPts val="1300"/>
                <a:buFont typeface="Arial"/>
                <a:buChar char="•"/>
              </a:pPr>
              <a:r>
                <a:rPr b="0" i="0" lang="en-US" sz="1300" u="none" cap="none" strike="noStrike">
                  <a:solidFill>
                    <a:schemeClr val="dk1"/>
                  </a:solidFill>
                  <a:latin typeface="Arial"/>
                  <a:ea typeface="Arial"/>
                  <a:cs typeface="Arial"/>
                  <a:sym typeface="Arial"/>
                </a:rPr>
                <a:t>Date (the week)</a:t>
              </a:r>
              <a:endParaRPr b="0" i="0" sz="1300" u="none" cap="none" strike="noStrike">
                <a:solidFill>
                  <a:schemeClr val="dk1"/>
                </a:solidFill>
                <a:latin typeface="Arial"/>
                <a:ea typeface="Arial"/>
                <a:cs typeface="Arial"/>
                <a:sym typeface="Arial"/>
              </a:endParaRPr>
            </a:p>
            <a:p>
              <a:pPr indent="-114300" lvl="1" marL="114300" marR="0" rtl="0" algn="l">
                <a:lnSpc>
                  <a:spcPct val="90000"/>
                </a:lnSpc>
                <a:spcBef>
                  <a:spcPts val="195"/>
                </a:spcBef>
                <a:spcAft>
                  <a:spcPts val="0"/>
                </a:spcAft>
                <a:buClr>
                  <a:schemeClr val="dk1"/>
                </a:buClr>
                <a:buSzPts val="1300"/>
                <a:buFont typeface="Arial"/>
                <a:buChar char="•"/>
              </a:pPr>
              <a:r>
                <a:rPr b="0" i="0" lang="en-US" sz="1300" u="none" cap="none" strike="noStrike">
                  <a:solidFill>
                    <a:schemeClr val="dk1"/>
                  </a:solidFill>
                  <a:latin typeface="Arial"/>
                  <a:ea typeface="Arial"/>
                  <a:cs typeface="Arial"/>
                  <a:sym typeface="Arial"/>
                </a:rPr>
                <a:t>Weekly Sales (sales for the given department in the given store)</a:t>
              </a:r>
              <a:endParaRPr b="0" i="0" sz="1300" u="none" cap="none" strike="noStrike">
                <a:solidFill>
                  <a:schemeClr val="dk1"/>
                </a:solidFill>
                <a:latin typeface="Arial"/>
                <a:ea typeface="Arial"/>
                <a:cs typeface="Arial"/>
                <a:sym typeface="Arial"/>
              </a:endParaRPr>
            </a:p>
            <a:p>
              <a:pPr indent="-114300" lvl="1" marL="114300" marR="0" rtl="0" algn="l">
                <a:lnSpc>
                  <a:spcPct val="90000"/>
                </a:lnSpc>
                <a:spcBef>
                  <a:spcPts val="195"/>
                </a:spcBef>
                <a:spcAft>
                  <a:spcPts val="0"/>
                </a:spcAft>
                <a:buClr>
                  <a:schemeClr val="dk1"/>
                </a:buClr>
                <a:buSzPts val="1300"/>
                <a:buFont typeface="Arial"/>
                <a:buChar char="•"/>
              </a:pPr>
              <a:r>
                <a:rPr b="0" i="0" lang="en-US" sz="1300" u="none" cap="none" strike="noStrike">
                  <a:solidFill>
                    <a:schemeClr val="dk1"/>
                  </a:solidFill>
                  <a:latin typeface="Arial"/>
                  <a:ea typeface="Arial"/>
                  <a:cs typeface="Arial"/>
                  <a:sym typeface="Arial"/>
                </a:rPr>
                <a:t>Is holiday (whether the week is a special holiday week)</a:t>
              </a:r>
              <a:endParaRPr b="0" i="0" sz="1300" u="none" cap="none" strike="noStrike">
                <a:solidFill>
                  <a:schemeClr val="dk1"/>
                </a:solidFill>
                <a:latin typeface="Arial"/>
                <a:ea typeface="Arial"/>
                <a:cs typeface="Arial"/>
                <a:sym typeface="Arial"/>
              </a:endParaRPr>
            </a:p>
          </p:txBody>
        </p:sp>
        <p:sp>
          <p:nvSpPr>
            <p:cNvPr id="166" name="Google Shape;166;p4"/>
            <p:cNvSpPr/>
            <p:nvPr/>
          </p:nvSpPr>
          <p:spPr>
            <a:xfrm>
              <a:off x="4878442" y="15257"/>
              <a:ext cx="1246331" cy="662400"/>
            </a:xfrm>
            <a:prstGeom prst="rect">
              <a:avLst/>
            </a:prstGeom>
            <a:solidFill>
              <a:srgbClr val="399DB0"/>
            </a:solidFill>
            <a:ln cap="flat" cmpd="sng" w="12700">
              <a:solidFill>
                <a:srgbClr val="399DB0"/>
              </a:solidFill>
              <a:prstDash val="solid"/>
              <a:miter lim="8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7" name="Google Shape;167;p4"/>
            <p:cNvSpPr txBox="1"/>
            <p:nvPr/>
          </p:nvSpPr>
          <p:spPr>
            <a:xfrm>
              <a:off x="4878442" y="15257"/>
              <a:ext cx="1246331" cy="662400"/>
            </a:xfrm>
            <a:prstGeom prst="rect">
              <a:avLst/>
            </a:prstGeom>
            <a:noFill/>
            <a:ln>
              <a:noFill/>
            </a:ln>
          </p:spPr>
          <p:txBody>
            <a:bodyPr anchorCtr="0" anchor="ctr" bIns="65000" lIns="113775" spcFirstLastPara="1" rIns="113775" wrap="square" tIns="65000">
              <a:noAutofit/>
            </a:bodyPr>
            <a:lstStyle/>
            <a:p>
              <a:pPr indent="0" lvl="0" marL="0" marR="0" rtl="0" algn="ctr">
                <a:lnSpc>
                  <a:spcPct val="90000"/>
                </a:lnSpc>
                <a:spcBef>
                  <a:spcPts val="0"/>
                </a:spcBef>
                <a:spcAft>
                  <a:spcPts val="0"/>
                </a:spcAft>
                <a:buClr>
                  <a:schemeClr val="lt1"/>
                </a:buClr>
                <a:buSzPts val="1600"/>
                <a:buFont typeface="Arial"/>
                <a:buNone/>
              </a:pPr>
              <a:r>
                <a:rPr b="1" i="0" lang="en-US" sz="1600" u="none" cap="none" strike="noStrike">
                  <a:solidFill>
                    <a:schemeClr val="lt1"/>
                  </a:solidFill>
                  <a:latin typeface="Arial"/>
                  <a:ea typeface="Arial"/>
                  <a:cs typeface="Arial"/>
                  <a:sym typeface="Arial"/>
                </a:rPr>
                <a:t>Store Dataset</a:t>
              </a:r>
              <a:endParaRPr b="1" i="0" sz="1600" u="none" cap="none" strike="noStrike">
                <a:solidFill>
                  <a:schemeClr val="lt1"/>
                </a:solidFill>
                <a:latin typeface="Arial"/>
                <a:ea typeface="Arial"/>
                <a:cs typeface="Arial"/>
                <a:sym typeface="Arial"/>
              </a:endParaRPr>
            </a:p>
          </p:txBody>
        </p:sp>
        <p:sp>
          <p:nvSpPr>
            <p:cNvPr id="168" name="Google Shape;168;p4"/>
            <p:cNvSpPr/>
            <p:nvPr/>
          </p:nvSpPr>
          <p:spPr>
            <a:xfrm>
              <a:off x="4878442" y="677658"/>
              <a:ext cx="1246331" cy="3093615"/>
            </a:xfrm>
            <a:prstGeom prst="rect">
              <a:avLst/>
            </a:prstGeom>
            <a:solidFill>
              <a:srgbClr val="CDDEE3">
                <a:alpha val="89411"/>
              </a:srgbClr>
            </a:solidFill>
            <a:ln cap="flat" cmpd="sng" w="12700">
              <a:solidFill>
                <a:srgbClr val="CDDEE3">
                  <a:alpha val="89411"/>
                </a:srgbClr>
              </a:solidFill>
              <a:prstDash val="solid"/>
              <a:miter lim="8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9" name="Google Shape;169;p4"/>
            <p:cNvSpPr txBox="1"/>
            <p:nvPr/>
          </p:nvSpPr>
          <p:spPr>
            <a:xfrm>
              <a:off x="4878442" y="677658"/>
              <a:ext cx="1246331" cy="3093615"/>
            </a:xfrm>
            <a:prstGeom prst="rect">
              <a:avLst/>
            </a:prstGeom>
            <a:noFill/>
            <a:ln>
              <a:noFill/>
            </a:ln>
          </p:spPr>
          <p:txBody>
            <a:bodyPr anchorCtr="0" anchor="t" bIns="104000" lIns="69325" spcFirstLastPara="1" rIns="92450" wrap="square" tIns="69325">
              <a:noAutofit/>
            </a:bodyPr>
            <a:lstStyle/>
            <a:p>
              <a:pPr indent="-114300" lvl="1" marL="114300" marR="0" rtl="0" algn="l">
                <a:lnSpc>
                  <a:spcPct val="90000"/>
                </a:lnSpc>
                <a:spcBef>
                  <a:spcPts val="0"/>
                </a:spcBef>
                <a:spcAft>
                  <a:spcPts val="0"/>
                </a:spcAft>
                <a:buClr>
                  <a:schemeClr val="dk1"/>
                </a:buClr>
                <a:buSzPts val="1300"/>
                <a:buFont typeface="Arial"/>
                <a:buChar char="•"/>
              </a:pPr>
              <a:r>
                <a:rPr b="0" i="0" lang="en-US" sz="1300" u="none" cap="none" strike="noStrike">
                  <a:solidFill>
                    <a:schemeClr val="dk1"/>
                  </a:solidFill>
                  <a:latin typeface="Arial"/>
                  <a:ea typeface="Arial"/>
                  <a:cs typeface="Arial"/>
                  <a:sym typeface="Arial"/>
                </a:rPr>
                <a:t>Store (store number)</a:t>
              </a:r>
              <a:endParaRPr b="0" i="0" sz="1300" u="none" cap="none" strike="noStrike">
                <a:solidFill>
                  <a:schemeClr val="dk1"/>
                </a:solidFill>
                <a:latin typeface="Arial"/>
                <a:ea typeface="Arial"/>
                <a:cs typeface="Arial"/>
                <a:sym typeface="Arial"/>
              </a:endParaRPr>
            </a:p>
            <a:p>
              <a:pPr indent="-114300" lvl="1" marL="114300" marR="0" rtl="0" algn="l">
                <a:lnSpc>
                  <a:spcPct val="90000"/>
                </a:lnSpc>
                <a:spcBef>
                  <a:spcPts val="195"/>
                </a:spcBef>
                <a:spcAft>
                  <a:spcPts val="0"/>
                </a:spcAft>
                <a:buClr>
                  <a:schemeClr val="dk1"/>
                </a:buClr>
                <a:buSzPts val="1300"/>
                <a:buFont typeface="Arial"/>
                <a:buChar char="•"/>
              </a:pPr>
              <a:r>
                <a:rPr b="0" i="0" lang="en-US" sz="1300" u="none" cap="none" strike="noStrike">
                  <a:solidFill>
                    <a:schemeClr val="dk1"/>
                  </a:solidFill>
                  <a:latin typeface="Arial"/>
                  <a:ea typeface="Arial"/>
                  <a:cs typeface="Arial"/>
                  <a:sym typeface="Arial"/>
                </a:rPr>
                <a:t>Type (type of store)</a:t>
              </a:r>
              <a:endParaRPr b="0" i="0" sz="1300" u="none" cap="none" strike="noStrike">
                <a:solidFill>
                  <a:schemeClr val="dk1"/>
                </a:solidFill>
                <a:latin typeface="Arial"/>
                <a:ea typeface="Arial"/>
                <a:cs typeface="Arial"/>
                <a:sym typeface="Arial"/>
              </a:endParaRPr>
            </a:p>
            <a:p>
              <a:pPr indent="-114300" lvl="1" marL="114300" marR="0" rtl="0" algn="l">
                <a:lnSpc>
                  <a:spcPct val="90000"/>
                </a:lnSpc>
                <a:spcBef>
                  <a:spcPts val="195"/>
                </a:spcBef>
                <a:spcAft>
                  <a:spcPts val="0"/>
                </a:spcAft>
                <a:buClr>
                  <a:schemeClr val="dk1"/>
                </a:buClr>
                <a:buSzPts val="1300"/>
                <a:buFont typeface="Arial"/>
                <a:buChar char="•"/>
              </a:pPr>
              <a:r>
                <a:rPr b="0" i="0" lang="en-US" sz="1300" u="none" cap="none" strike="noStrike">
                  <a:solidFill>
                    <a:schemeClr val="dk1"/>
                  </a:solidFill>
                  <a:latin typeface="Arial"/>
                  <a:ea typeface="Arial"/>
                  <a:cs typeface="Arial"/>
                  <a:sym typeface="Arial"/>
                </a:rPr>
                <a:t>Size (size of store)</a:t>
              </a:r>
              <a:endParaRPr b="0" i="0" sz="1300" u="none" cap="none" strike="noStrike">
                <a:solidFill>
                  <a:schemeClr val="dk1"/>
                </a:solidFill>
                <a:latin typeface="Arial"/>
                <a:ea typeface="Arial"/>
                <a:cs typeface="Arial"/>
                <a:sym typeface="Arial"/>
              </a:endParaRPr>
            </a:p>
          </p:txBody>
        </p:sp>
      </p:grpSp>
      <p:sp>
        <p:nvSpPr>
          <p:cNvPr id="170" name="Google Shape;170;p4"/>
          <p:cNvSpPr txBox="1"/>
          <p:nvPr/>
        </p:nvSpPr>
        <p:spPr>
          <a:xfrm>
            <a:off x="762000" y="2112820"/>
            <a:ext cx="3677264" cy="353943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Arial"/>
                <a:ea typeface="Arial"/>
                <a:cs typeface="Arial"/>
                <a:sym typeface="Arial"/>
              </a:rPr>
              <a:t>Content: </a:t>
            </a:r>
            <a:r>
              <a:rPr b="0" i="0" lang="en-US" sz="1600" u="none" cap="none" strike="noStrike">
                <a:solidFill>
                  <a:schemeClr val="dk1"/>
                </a:solidFill>
                <a:latin typeface="Arial"/>
                <a:ea typeface="Arial"/>
                <a:cs typeface="Arial"/>
                <a:sym typeface="Arial"/>
              </a:rPr>
              <a:t>You are provided with historical sales data for 45 stores located in different regions - each store contains a number of departments. The company also runs several promotional markdown events throughout the year. These markdowns precede prominent holidays, the four largest of which are the Super Bowl, Labor Day, Thanksgiving, and Christmas. The weeks including these holidays are weighted five times higher in the evaluation than non-holiday weeks.</a:t>
            </a:r>
            <a:endParaRPr b="0" i="0" sz="1600" u="none" cap="none" strike="noStrike">
              <a:solidFill>
                <a:schemeClr val="dk1"/>
              </a:solidFill>
              <a:latin typeface="Arial"/>
              <a:ea typeface="Arial"/>
              <a:cs typeface="Arial"/>
              <a:sym typeface="Arial"/>
            </a:endParaRPr>
          </a:p>
        </p:txBody>
      </p:sp>
      <p:sp>
        <p:nvSpPr>
          <p:cNvPr id="171" name="Google Shape;171;p4"/>
          <p:cNvSpPr txBox="1"/>
          <p:nvPr/>
        </p:nvSpPr>
        <p:spPr>
          <a:xfrm>
            <a:off x="4581831" y="4985822"/>
            <a:ext cx="7098892" cy="107721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Arial"/>
                <a:ea typeface="Arial"/>
                <a:cs typeface="Arial"/>
                <a:sym typeface="Arial"/>
              </a:rPr>
              <a:t>Markdown: </a:t>
            </a:r>
            <a:r>
              <a:rPr b="0" i="0" lang="en-US" sz="1600" u="none" cap="none" strike="noStrike">
                <a:solidFill>
                  <a:schemeClr val="dk1"/>
                </a:solidFill>
                <a:latin typeface="Arial"/>
                <a:ea typeface="Arial"/>
                <a:cs typeface="Arial"/>
                <a:sym typeface="Arial"/>
              </a:rPr>
              <a:t>Markdown is a deliberate reduction in the original selling price of a product. Retailers use markdowns to clear out old or slow-moving inventory, make room for new products, and recoup some of the costs associated with carrying unsold merchandise.</a:t>
            </a:r>
            <a:endParaRPr b="0" i="0" sz="1600" u="none" cap="none" strike="noStrike">
              <a:solidFill>
                <a:schemeClr val="dk1"/>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5"/>
          <p:cNvSpPr txBox="1"/>
          <p:nvPr>
            <p:ph type="title"/>
          </p:nvPr>
        </p:nvSpPr>
        <p:spPr>
          <a:xfrm>
            <a:off x="838200" y="681038"/>
            <a:ext cx="10515600" cy="823298"/>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accent5"/>
              </a:buClr>
              <a:buSzPts val="4000"/>
              <a:buFont typeface="EB Garamond"/>
              <a:buNone/>
            </a:pPr>
            <a:r>
              <a:rPr lang="en-US" sz="4000"/>
              <a:t>Data Preprocessing and Feature Engineering</a:t>
            </a:r>
            <a:endParaRPr sz="4000"/>
          </a:p>
        </p:txBody>
      </p:sp>
      <p:pic>
        <p:nvPicPr>
          <p:cNvPr descr="A screenshot of a graph&#10;&#10;Description automatically generated" id="177" name="Google Shape;177;p5"/>
          <p:cNvPicPr preferRelativeResize="0"/>
          <p:nvPr>
            <p:ph idx="1" type="body"/>
          </p:nvPr>
        </p:nvPicPr>
        <p:blipFill rotWithShape="1">
          <a:blip r:embed="rId3">
            <a:alphaModFix/>
          </a:blip>
          <a:srcRect b="60102" l="0" r="0" t="1"/>
          <a:stretch/>
        </p:blipFill>
        <p:spPr>
          <a:xfrm>
            <a:off x="625966" y="1592826"/>
            <a:ext cx="6374601" cy="4318000"/>
          </a:xfrm>
          <a:prstGeom prst="rect">
            <a:avLst/>
          </a:prstGeom>
          <a:noFill/>
          <a:ln cap="flat" cmpd="sng" w="9525">
            <a:solidFill>
              <a:srgbClr val="2A4A48"/>
            </a:solidFill>
            <a:prstDash val="solid"/>
            <a:round/>
            <a:headEnd len="sm" w="sm" type="none"/>
            <a:tailEnd len="sm" w="sm" type="none"/>
          </a:ln>
        </p:spPr>
      </p:pic>
      <p:sp>
        <p:nvSpPr>
          <p:cNvPr id="178" name="Google Shape;178;p5"/>
          <p:cNvSpPr txBox="1"/>
          <p:nvPr/>
        </p:nvSpPr>
        <p:spPr>
          <a:xfrm>
            <a:off x="7226709" y="1663509"/>
            <a:ext cx="3982065" cy="4247317"/>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1500"/>
              <a:buFont typeface="Arial"/>
              <a:buNone/>
            </a:pPr>
            <a:r>
              <a:rPr b="1" i="0" lang="en-US" sz="1500" u="none" cap="none" strike="noStrike">
                <a:solidFill>
                  <a:schemeClr val="dk1"/>
                </a:solidFill>
                <a:latin typeface="Arial"/>
                <a:ea typeface="Arial"/>
                <a:cs typeface="Arial"/>
                <a:sym typeface="Arial"/>
              </a:rPr>
              <a:t>Changing datatype: </a:t>
            </a:r>
            <a:r>
              <a:rPr b="0" i="0" lang="en-US" sz="1500" u="none" cap="none" strike="noStrike">
                <a:solidFill>
                  <a:schemeClr val="dk1"/>
                </a:solidFill>
                <a:latin typeface="Arial"/>
                <a:ea typeface="Arial"/>
                <a:cs typeface="Arial"/>
                <a:sym typeface="Arial"/>
              </a:rPr>
              <a:t>Convert data type of dates column to datetime to extract days, months, weeks &amp; year details.</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500"/>
              <a:buFont typeface="Arial"/>
              <a:buNone/>
            </a:pPr>
            <a:r>
              <a:rPr b="1" i="0" lang="en-US" sz="1500" u="none" cap="none" strike="noStrike">
                <a:solidFill>
                  <a:schemeClr val="dk1"/>
                </a:solidFill>
                <a:latin typeface="Arial"/>
                <a:ea typeface="Arial"/>
                <a:cs typeface="Arial"/>
                <a:sym typeface="Arial"/>
              </a:rPr>
              <a:t>Merging Datasets: </a:t>
            </a:r>
            <a:r>
              <a:rPr b="0" i="0" lang="en-US" sz="1500" u="none" cap="none" strike="noStrike">
                <a:solidFill>
                  <a:schemeClr val="dk1"/>
                </a:solidFill>
                <a:latin typeface="Arial"/>
                <a:ea typeface="Arial"/>
                <a:cs typeface="Arial"/>
                <a:sym typeface="Arial"/>
              </a:rPr>
              <a:t>Joined all the tables i.e. features, stores and sales table in a single table.</a:t>
            </a:r>
            <a:endParaRPr b="0" i="0" sz="1500" u="none" cap="none" strike="noStrike">
              <a:solidFill>
                <a:schemeClr val="dk1"/>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500"/>
              <a:buFont typeface="Arial"/>
              <a:buNone/>
            </a:pPr>
            <a:r>
              <a:rPr b="1" i="0" lang="en-US" sz="1500" u="none" cap="none" strike="noStrike">
                <a:solidFill>
                  <a:srgbClr val="212121"/>
                </a:solidFill>
                <a:highlight>
                  <a:srgbClr val="FFFFFF"/>
                </a:highlight>
                <a:latin typeface="Arial"/>
                <a:ea typeface="Arial"/>
                <a:cs typeface="Arial"/>
                <a:sym typeface="Arial"/>
              </a:rPr>
              <a:t>Handle Missing Values:</a:t>
            </a:r>
            <a:r>
              <a:rPr b="0" i="0" lang="en-US" sz="1500" u="none" cap="none" strike="noStrike">
                <a:solidFill>
                  <a:srgbClr val="212121"/>
                </a:solidFill>
                <a:highlight>
                  <a:srgbClr val="FFFFFF"/>
                </a:highlight>
                <a:latin typeface="Arial"/>
                <a:ea typeface="Arial"/>
                <a:cs typeface="Arial"/>
                <a:sym typeface="Arial"/>
              </a:rPr>
              <a:t> Use techniques like median imputation due to anomalies to address missing values in your markdown columns . </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500"/>
              <a:buFont typeface="Arial"/>
              <a:buNone/>
            </a:pPr>
            <a:r>
              <a:rPr b="0" i="0" lang="en-US" sz="1500" u="none" cap="none" strike="noStrike">
                <a:solidFill>
                  <a:srgbClr val="212121"/>
                </a:solidFill>
                <a:highlight>
                  <a:srgbClr val="FFFFFF"/>
                </a:highlight>
                <a:latin typeface="Arial"/>
                <a:ea typeface="Arial"/>
                <a:cs typeface="Arial"/>
                <a:sym typeface="Arial"/>
              </a:rPr>
              <a:t>This step ensures that you have a complete dataset for analysis.</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500"/>
              <a:buFont typeface="Arial"/>
              <a:buNone/>
            </a:pPr>
            <a:r>
              <a:rPr b="1" i="0" lang="en-US" sz="1500" u="none" cap="none" strike="noStrike">
                <a:solidFill>
                  <a:srgbClr val="212121"/>
                </a:solidFill>
                <a:highlight>
                  <a:srgbClr val="FFFFFF"/>
                </a:highlight>
                <a:latin typeface="Arial"/>
                <a:ea typeface="Arial"/>
                <a:cs typeface="Arial"/>
                <a:sym typeface="Arial"/>
              </a:rPr>
              <a:t>Normalize Sales Data</a:t>
            </a:r>
            <a:r>
              <a:rPr b="0" i="0" lang="en-US" sz="1500" u="none" cap="none" strike="noStrike">
                <a:solidFill>
                  <a:srgbClr val="212121"/>
                </a:solidFill>
                <a:highlight>
                  <a:srgbClr val="FFFFFF"/>
                </a:highlight>
                <a:latin typeface="Arial"/>
                <a:ea typeface="Arial"/>
                <a:cs typeface="Arial"/>
                <a:sym typeface="Arial"/>
              </a:rPr>
              <a:t>: Apply one of the normalization techniques discussed earlier to bring all sales data on a consistent scale. Applied Min-Max Scaling on the sales data.</a:t>
            </a:r>
            <a:endParaRPr b="0" i="0" sz="1500" u="none" cap="none" strike="noStrike">
              <a:solidFill>
                <a:srgbClr val="212121"/>
              </a:solidFill>
              <a:highlight>
                <a:srgbClr val="FFFFFF"/>
              </a:highlight>
              <a:latin typeface="Arial"/>
              <a:ea typeface="Arial"/>
              <a:cs typeface="Arial"/>
              <a:sym typeface="Arial"/>
            </a:endParaRPr>
          </a:p>
          <a:p>
            <a:pPr indent="0" lvl="0" marL="0" marR="0" rtl="0" algn="just">
              <a:lnSpc>
                <a:spcPct val="100000"/>
              </a:lnSpc>
              <a:spcBef>
                <a:spcPts val="0"/>
              </a:spcBef>
              <a:spcAft>
                <a:spcPts val="0"/>
              </a:spcAft>
              <a:buClr>
                <a:srgbClr val="000000"/>
              </a:buClr>
              <a:buSzPts val="1500"/>
              <a:buFont typeface="Arial"/>
              <a:buNone/>
            </a:pPr>
            <a:r>
              <a:rPr b="1" i="0" lang="en-US" sz="1500" u="none" cap="none" strike="noStrike">
                <a:solidFill>
                  <a:srgbClr val="212121"/>
                </a:solidFill>
                <a:highlight>
                  <a:srgbClr val="FFFFFF"/>
                </a:highlight>
                <a:latin typeface="Arial"/>
                <a:ea typeface="Arial"/>
                <a:cs typeface="Arial"/>
                <a:sym typeface="Arial"/>
              </a:rPr>
              <a:t>Square root Transformation</a:t>
            </a:r>
            <a:r>
              <a:rPr b="0" i="0" lang="en-US" sz="1500" u="none" cap="none" strike="noStrike">
                <a:solidFill>
                  <a:srgbClr val="212121"/>
                </a:solidFill>
                <a:highlight>
                  <a:srgbClr val="FFFFFF"/>
                </a:highlight>
                <a:latin typeface="Arial"/>
                <a:ea typeface="Arial"/>
                <a:cs typeface="Arial"/>
                <a:sym typeface="Arial"/>
              </a:rPr>
              <a:t> to handle skewness in numerical features.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pic>
        <p:nvPicPr>
          <p:cNvPr descr="A screenshot of a graph&#10;&#10;Description automatically generated" id="183" name="Google Shape;183;p6"/>
          <p:cNvPicPr preferRelativeResize="0"/>
          <p:nvPr/>
        </p:nvPicPr>
        <p:blipFill rotWithShape="1">
          <a:blip r:embed="rId3">
            <a:alphaModFix/>
          </a:blip>
          <a:srcRect b="0" l="4708" r="65548" t="79795"/>
          <a:stretch/>
        </p:blipFill>
        <p:spPr>
          <a:xfrm>
            <a:off x="8308255" y="589778"/>
            <a:ext cx="2071724" cy="2389396"/>
          </a:xfrm>
          <a:prstGeom prst="rect">
            <a:avLst/>
          </a:prstGeom>
          <a:noFill/>
          <a:ln cap="flat" cmpd="sng" w="9525">
            <a:solidFill>
              <a:srgbClr val="2A4A48"/>
            </a:solidFill>
            <a:prstDash val="solid"/>
            <a:round/>
            <a:headEnd len="sm" w="sm" type="none"/>
            <a:tailEnd len="sm" w="sm" type="none"/>
          </a:ln>
        </p:spPr>
      </p:pic>
      <p:pic>
        <p:nvPicPr>
          <p:cNvPr descr="A screenshot of a graph&#10;&#10;Description automatically generated" id="184" name="Google Shape;184;p6"/>
          <p:cNvPicPr preferRelativeResize="0"/>
          <p:nvPr/>
        </p:nvPicPr>
        <p:blipFill rotWithShape="1">
          <a:blip r:embed="rId3">
            <a:alphaModFix/>
          </a:blip>
          <a:srcRect b="20075" l="0" r="0" t="39620"/>
          <a:stretch/>
        </p:blipFill>
        <p:spPr>
          <a:xfrm>
            <a:off x="613019" y="852948"/>
            <a:ext cx="7529360" cy="5152104"/>
          </a:xfrm>
          <a:prstGeom prst="rect">
            <a:avLst/>
          </a:prstGeom>
          <a:noFill/>
          <a:ln cap="flat" cmpd="sng" w="9525">
            <a:solidFill>
              <a:srgbClr val="2A4A48"/>
            </a:solidFill>
            <a:prstDash val="solid"/>
            <a:round/>
            <a:headEnd len="sm" w="sm" type="none"/>
            <a:tailEnd len="sm" w="sm" type="none"/>
          </a:ln>
        </p:spPr>
      </p:pic>
      <p:pic>
        <p:nvPicPr>
          <p:cNvPr descr="A screenshot of a graph&#10;&#10;Description automatically generated" id="185" name="Google Shape;185;p6"/>
          <p:cNvPicPr preferRelativeResize="0"/>
          <p:nvPr/>
        </p:nvPicPr>
        <p:blipFill rotWithShape="1">
          <a:blip r:embed="rId3">
            <a:alphaModFix/>
          </a:blip>
          <a:srcRect b="0" l="37880" r="33295" t="79795"/>
          <a:stretch/>
        </p:blipFill>
        <p:spPr>
          <a:xfrm>
            <a:off x="8939018" y="2196707"/>
            <a:ext cx="2071724" cy="2465591"/>
          </a:xfrm>
          <a:prstGeom prst="rect">
            <a:avLst/>
          </a:prstGeom>
          <a:noFill/>
          <a:ln cap="flat" cmpd="sng" w="9525">
            <a:solidFill>
              <a:srgbClr val="2A4A48"/>
            </a:solidFill>
            <a:prstDash val="solid"/>
            <a:round/>
            <a:headEnd len="sm" w="sm" type="none"/>
            <a:tailEnd len="sm" w="sm" type="none"/>
          </a:ln>
        </p:spPr>
      </p:pic>
      <p:pic>
        <p:nvPicPr>
          <p:cNvPr descr="A screenshot of a graph&#10;&#10;Description automatically generated" id="186" name="Google Shape;186;p6"/>
          <p:cNvPicPr preferRelativeResize="0"/>
          <p:nvPr/>
        </p:nvPicPr>
        <p:blipFill rotWithShape="1">
          <a:blip r:embed="rId3">
            <a:alphaModFix/>
          </a:blip>
          <a:srcRect b="0" l="71176" r="0" t="79795"/>
          <a:stretch/>
        </p:blipFill>
        <p:spPr>
          <a:xfrm>
            <a:off x="9507257" y="3878826"/>
            <a:ext cx="2071724" cy="2465589"/>
          </a:xfrm>
          <a:prstGeom prst="rect">
            <a:avLst/>
          </a:prstGeom>
          <a:noFill/>
          <a:ln cap="flat" cmpd="sng" w="9525">
            <a:solidFill>
              <a:srgbClr val="2A4A48"/>
            </a:solidFill>
            <a:prstDash val="solid"/>
            <a:round/>
            <a:headEnd len="sm" w="sm" type="none"/>
            <a:tailEnd len="sm" w="sm" type="none"/>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7"/>
          <p:cNvSpPr txBox="1"/>
          <p:nvPr>
            <p:ph type="title"/>
          </p:nvPr>
        </p:nvSpPr>
        <p:spPr>
          <a:xfrm>
            <a:off x="5486399" y="535141"/>
            <a:ext cx="6154995" cy="772549"/>
          </a:xfrm>
          <a:prstGeom prst="rect">
            <a:avLst/>
          </a:prstGeom>
          <a:noFill/>
          <a:ln cap="flat" cmpd="sng" w="9525">
            <a:solidFill>
              <a:srgbClr val="2A4A48"/>
            </a:solidFill>
            <a:prstDash val="solid"/>
            <a:round/>
            <a:headEnd len="sm" w="sm" type="none"/>
            <a:tailEnd len="sm" w="sm" type="none"/>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accent5"/>
              </a:buClr>
              <a:buSzPts val="4000"/>
              <a:buFont typeface="EB Garamond"/>
              <a:buNone/>
            </a:pPr>
            <a:r>
              <a:rPr lang="en-US" sz="4000"/>
              <a:t>Exploratory Data Analysis</a:t>
            </a:r>
            <a:endParaRPr sz="4000"/>
          </a:p>
        </p:txBody>
      </p:sp>
      <p:sp>
        <p:nvSpPr>
          <p:cNvPr id="192" name="Google Shape;192;p7"/>
          <p:cNvSpPr txBox="1"/>
          <p:nvPr>
            <p:ph idx="1" type="body"/>
          </p:nvPr>
        </p:nvSpPr>
        <p:spPr>
          <a:xfrm>
            <a:off x="287101" y="535141"/>
            <a:ext cx="5083276" cy="3638242"/>
          </a:xfrm>
          <a:prstGeom prst="rect">
            <a:avLst/>
          </a:prstGeom>
          <a:noFill/>
          <a:ln cap="flat" cmpd="sng" w="9525">
            <a:solidFill>
              <a:srgbClr val="2A4A48"/>
            </a:solidFill>
            <a:prstDash val="solid"/>
            <a:round/>
            <a:headEnd len="sm" w="sm" type="none"/>
            <a:tailEnd len="sm" w="sm" type="none"/>
          </a:ln>
        </p:spPr>
        <p:txBody>
          <a:bodyPr anchorCtr="0" anchor="t" bIns="45700" lIns="91425" spcFirstLastPara="1" rIns="91425" wrap="square" tIns="45700">
            <a:normAutofit/>
          </a:bodyPr>
          <a:lstStyle/>
          <a:p>
            <a:pPr indent="0" lvl="0" marL="228600" rtl="0" algn="l">
              <a:lnSpc>
                <a:spcPct val="110000"/>
              </a:lnSpc>
              <a:spcBef>
                <a:spcPts val="0"/>
              </a:spcBef>
              <a:spcAft>
                <a:spcPts val="0"/>
              </a:spcAft>
              <a:buSzPts val="1280"/>
              <a:buNone/>
            </a:pPr>
            <a:r>
              <a:rPr b="1" lang="en-US" sz="1600">
                <a:solidFill>
                  <a:schemeClr val="dk1"/>
                </a:solidFill>
                <a:latin typeface="Arial"/>
                <a:ea typeface="Arial"/>
                <a:cs typeface="Arial"/>
                <a:sym typeface="Arial"/>
              </a:rPr>
              <a:t>Weekly Sales over time:</a:t>
            </a:r>
            <a:endParaRPr/>
          </a:p>
          <a:p>
            <a:pPr indent="-228600" lvl="0" marL="457200" rtl="0" algn="l">
              <a:lnSpc>
                <a:spcPct val="110000"/>
              </a:lnSpc>
              <a:spcBef>
                <a:spcPts val="1000"/>
              </a:spcBef>
              <a:spcAft>
                <a:spcPts val="0"/>
              </a:spcAft>
              <a:buSzPts val="1280"/>
              <a:buFont typeface="Noto Sans Symbols"/>
              <a:buChar char="▪"/>
            </a:pPr>
            <a:r>
              <a:rPr lang="en-US" sz="1600">
                <a:solidFill>
                  <a:schemeClr val="dk1"/>
                </a:solidFill>
                <a:latin typeface="Arial"/>
                <a:ea typeface="Arial"/>
                <a:cs typeface="Arial"/>
                <a:sym typeface="Arial"/>
              </a:rPr>
              <a:t>Sales tend to rise significantly during special offers and holidays (e.g., Black Friday, Christmas, New Year), followed by a decline. </a:t>
            </a:r>
            <a:endParaRPr/>
          </a:p>
          <a:p>
            <a:pPr indent="-228600" lvl="0" marL="457200" rtl="0" algn="l">
              <a:lnSpc>
                <a:spcPct val="110000"/>
              </a:lnSpc>
              <a:spcBef>
                <a:spcPts val="1000"/>
              </a:spcBef>
              <a:spcAft>
                <a:spcPts val="0"/>
              </a:spcAft>
              <a:buSzPts val="1280"/>
              <a:buFont typeface="Noto Sans Symbols"/>
              <a:buChar char="▪"/>
            </a:pPr>
            <a:r>
              <a:rPr lang="en-US" sz="1600">
                <a:solidFill>
                  <a:schemeClr val="dk1"/>
                </a:solidFill>
                <a:latin typeface="Arial"/>
                <a:ea typeface="Arial"/>
                <a:cs typeface="Arial"/>
                <a:sym typeface="Arial"/>
              </a:rPr>
              <a:t>Subsequently, sales regain momentum in certain months.</a:t>
            </a:r>
            <a:endParaRPr/>
          </a:p>
          <a:p>
            <a:pPr indent="-228600" lvl="0" marL="457200" rtl="0" algn="l">
              <a:lnSpc>
                <a:spcPct val="110000"/>
              </a:lnSpc>
              <a:spcBef>
                <a:spcPts val="1000"/>
              </a:spcBef>
              <a:spcAft>
                <a:spcPts val="0"/>
              </a:spcAft>
              <a:buSzPts val="1280"/>
              <a:buFont typeface="Noto Sans Symbols"/>
              <a:buChar char="▪"/>
            </a:pPr>
            <a:r>
              <a:rPr lang="en-US" sz="1600">
                <a:solidFill>
                  <a:schemeClr val="dk1"/>
                </a:solidFill>
                <a:latin typeface="Arial"/>
                <a:ea typeface="Arial"/>
                <a:cs typeface="Arial"/>
                <a:sym typeface="Arial"/>
              </a:rPr>
              <a:t>November indicates reduced buying, possibly due to anticipation of upcoming sales.</a:t>
            </a:r>
            <a:endParaRPr/>
          </a:p>
          <a:p>
            <a:pPr indent="-228600" lvl="0" marL="457200" rtl="0" algn="l">
              <a:lnSpc>
                <a:spcPct val="110000"/>
              </a:lnSpc>
              <a:spcBef>
                <a:spcPts val="1000"/>
              </a:spcBef>
              <a:spcAft>
                <a:spcPts val="0"/>
              </a:spcAft>
              <a:buSzPts val="1280"/>
              <a:buFont typeface="Noto Sans Symbols"/>
              <a:buChar char="▪"/>
            </a:pPr>
            <a:r>
              <a:rPr lang="en-US" sz="1600">
                <a:solidFill>
                  <a:schemeClr val="dk1"/>
                </a:solidFill>
                <a:latin typeface="Arial"/>
                <a:ea typeface="Arial"/>
                <a:cs typeface="Arial"/>
                <a:sym typeface="Arial"/>
              </a:rPr>
              <a:t>December 2013 data appears incomplete; despite the spike, overall sales did not reach substantial heights due to limited available data.</a:t>
            </a:r>
            <a:endParaRPr/>
          </a:p>
          <a:p>
            <a:pPr indent="-147320" lvl="0" marL="457200" rtl="0" algn="l">
              <a:lnSpc>
                <a:spcPct val="110000"/>
              </a:lnSpc>
              <a:spcBef>
                <a:spcPts val="1000"/>
              </a:spcBef>
              <a:spcAft>
                <a:spcPts val="0"/>
              </a:spcAft>
              <a:buSzPts val="1280"/>
              <a:buFont typeface="Noto Sans Symbols"/>
              <a:buNone/>
            </a:pPr>
            <a:r>
              <a:t/>
            </a:r>
            <a:endParaRPr sz="1600">
              <a:solidFill>
                <a:schemeClr val="dk1"/>
              </a:solidFill>
              <a:latin typeface="Arial"/>
              <a:ea typeface="Arial"/>
              <a:cs typeface="Arial"/>
              <a:sym typeface="Arial"/>
            </a:endParaRPr>
          </a:p>
        </p:txBody>
      </p:sp>
      <p:pic>
        <p:nvPicPr>
          <p:cNvPr descr="A graph of a number of sales&#10;&#10;Description automatically generated with medium confidence" id="193" name="Google Shape;193;p7"/>
          <p:cNvPicPr preferRelativeResize="0"/>
          <p:nvPr/>
        </p:nvPicPr>
        <p:blipFill rotWithShape="1">
          <a:blip r:embed="rId3">
            <a:alphaModFix/>
          </a:blip>
          <a:srcRect b="0" l="0" r="0" t="0"/>
          <a:stretch/>
        </p:blipFill>
        <p:spPr>
          <a:xfrm>
            <a:off x="5370377" y="1345304"/>
            <a:ext cx="3645804" cy="2905150"/>
          </a:xfrm>
          <a:prstGeom prst="rect">
            <a:avLst/>
          </a:prstGeom>
          <a:noFill/>
          <a:ln cap="flat" cmpd="sng" w="9525">
            <a:solidFill>
              <a:srgbClr val="2A4A48"/>
            </a:solidFill>
            <a:prstDash val="solid"/>
            <a:round/>
            <a:headEnd len="sm" w="sm" type="none"/>
            <a:tailEnd len="sm" w="sm" type="none"/>
          </a:ln>
        </p:spPr>
      </p:pic>
      <p:pic>
        <p:nvPicPr>
          <p:cNvPr descr="A graph showing the number of sales per year&#10;&#10;Description automatically generated" id="194" name="Google Shape;194;p7"/>
          <p:cNvPicPr preferRelativeResize="0"/>
          <p:nvPr/>
        </p:nvPicPr>
        <p:blipFill rotWithShape="1">
          <a:blip r:embed="rId4">
            <a:alphaModFix/>
          </a:blip>
          <a:srcRect b="0" l="0" r="0" t="0"/>
          <a:stretch/>
        </p:blipFill>
        <p:spPr>
          <a:xfrm>
            <a:off x="9094838" y="1481060"/>
            <a:ext cx="2996095" cy="2350384"/>
          </a:xfrm>
          <a:prstGeom prst="rect">
            <a:avLst/>
          </a:prstGeom>
          <a:noFill/>
          <a:ln cap="flat" cmpd="sng" w="9525">
            <a:solidFill>
              <a:srgbClr val="2A4A48"/>
            </a:solidFill>
            <a:prstDash val="solid"/>
            <a:round/>
            <a:headEnd len="sm" w="sm" type="none"/>
            <a:tailEnd len="sm" w="sm" type="none"/>
          </a:ln>
        </p:spPr>
      </p:pic>
      <p:pic>
        <p:nvPicPr>
          <p:cNvPr descr="A graph with red lines&#10;&#10;Description automatically generated" id="195" name="Google Shape;195;p7"/>
          <p:cNvPicPr preferRelativeResize="0"/>
          <p:nvPr/>
        </p:nvPicPr>
        <p:blipFill rotWithShape="1">
          <a:blip r:embed="rId5">
            <a:alphaModFix/>
          </a:blip>
          <a:srcRect b="0" l="0" r="0" t="0"/>
          <a:stretch/>
        </p:blipFill>
        <p:spPr>
          <a:xfrm>
            <a:off x="1028261" y="4327525"/>
            <a:ext cx="10135478" cy="2387807"/>
          </a:xfrm>
          <a:prstGeom prst="rect">
            <a:avLst/>
          </a:prstGeom>
          <a:noFill/>
          <a:ln cap="flat" cmpd="sng" w="9525">
            <a:solidFill>
              <a:srgbClr val="2A4A48"/>
            </a:solidFill>
            <a:prstDash val="solid"/>
            <a:round/>
            <a:headEnd len="sm" w="sm" type="none"/>
            <a:tailEnd len="sm" w="sm" type="none"/>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8"/>
          <p:cNvSpPr txBox="1"/>
          <p:nvPr>
            <p:ph type="title"/>
          </p:nvPr>
        </p:nvSpPr>
        <p:spPr>
          <a:xfrm>
            <a:off x="491902" y="681982"/>
            <a:ext cx="6154995" cy="772549"/>
          </a:xfrm>
          <a:prstGeom prst="rect">
            <a:avLst/>
          </a:prstGeom>
          <a:noFill/>
          <a:ln cap="flat" cmpd="sng" w="9525">
            <a:solidFill>
              <a:srgbClr val="2A4A48"/>
            </a:solidFill>
            <a:prstDash val="solid"/>
            <a:round/>
            <a:headEnd len="sm" w="sm" type="none"/>
            <a:tailEnd len="sm" w="sm" type="none"/>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accent5"/>
              </a:buClr>
              <a:buSzPts val="4000"/>
              <a:buFont typeface="EB Garamond"/>
              <a:buNone/>
            </a:pPr>
            <a:r>
              <a:rPr lang="en-US" sz="4000"/>
              <a:t>Exploratory Data Analysis</a:t>
            </a:r>
            <a:endParaRPr sz="4000"/>
          </a:p>
        </p:txBody>
      </p:sp>
      <p:pic>
        <p:nvPicPr>
          <p:cNvPr descr="A graph of a graph showing the temperature and the price of the price&#10;&#10;Description automatically generated with medium confidence" id="201" name="Google Shape;201;p8"/>
          <p:cNvPicPr preferRelativeResize="0"/>
          <p:nvPr/>
        </p:nvPicPr>
        <p:blipFill rotWithShape="1">
          <a:blip r:embed="rId3">
            <a:alphaModFix/>
          </a:blip>
          <a:srcRect b="0" l="0" r="0" t="0"/>
          <a:stretch/>
        </p:blipFill>
        <p:spPr>
          <a:xfrm>
            <a:off x="231392" y="1688765"/>
            <a:ext cx="6474208" cy="4236407"/>
          </a:xfrm>
          <a:prstGeom prst="rect">
            <a:avLst/>
          </a:prstGeom>
          <a:noFill/>
          <a:ln cap="flat" cmpd="sng" w="9525">
            <a:solidFill>
              <a:srgbClr val="2A4A48"/>
            </a:solidFill>
            <a:prstDash val="solid"/>
            <a:round/>
            <a:headEnd len="sm" w="sm" type="none"/>
            <a:tailEnd len="sm" w="sm" type="none"/>
          </a:ln>
        </p:spPr>
      </p:pic>
      <p:sp>
        <p:nvSpPr>
          <p:cNvPr id="202" name="Google Shape;202;p8"/>
          <p:cNvSpPr txBox="1"/>
          <p:nvPr/>
        </p:nvSpPr>
        <p:spPr>
          <a:xfrm>
            <a:off x="6705600" y="797510"/>
            <a:ext cx="4994498" cy="526297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Arial"/>
                <a:ea typeface="Arial"/>
                <a:cs typeface="Arial"/>
                <a:sym typeface="Arial"/>
              </a:rPr>
              <a:t>November-December Sales Trend: </a:t>
            </a:r>
            <a:r>
              <a:rPr b="0" i="0" lang="en-US" sz="1600" u="none" cap="none" strike="noStrike">
                <a:solidFill>
                  <a:schemeClr val="dk1"/>
                </a:solidFill>
                <a:latin typeface="Arial"/>
                <a:ea typeface="Arial"/>
                <a:cs typeface="Arial"/>
                <a:sym typeface="Arial"/>
              </a:rPr>
              <a:t>There's a noticeable spike in weekly sales during November and December; however, overall sales haven't shown a consistent increase throughout the year.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Arial"/>
                <a:ea typeface="Arial"/>
                <a:cs typeface="Arial"/>
                <a:sym typeface="Arial"/>
              </a:rPr>
              <a:t>Holiday Sales Peaks: </a:t>
            </a:r>
            <a:r>
              <a:rPr b="0" i="0" lang="en-US" sz="1600" u="none" cap="none" strike="noStrike">
                <a:solidFill>
                  <a:schemeClr val="dk1"/>
                </a:solidFill>
                <a:latin typeface="Arial"/>
                <a:ea typeface="Arial"/>
                <a:cs typeface="Arial"/>
                <a:sym typeface="Arial"/>
              </a:rPr>
              <a:t>Sales figures experience significant peaks during weeks close to holidays.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Arial"/>
                <a:ea typeface="Arial"/>
                <a:cs typeface="Arial"/>
                <a:sym typeface="Arial"/>
              </a:rPr>
              <a:t>Fuel and Consumer Price Index: </a:t>
            </a:r>
            <a:r>
              <a:rPr b="0" i="0" lang="en-US" sz="1600" u="none" cap="none" strike="noStrike">
                <a:solidFill>
                  <a:schemeClr val="dk1"/>
                </a:solidFill>
                <a:latin typeface="Arial"/>
                <a:ea typeface="Arial"/>
                <a:cs typeface="Arial"/>
                <a:sym typeface="Arial"/>
              </a:rPr>
              <a:t>Both fuel prices and the Consumer Price Index have shown a steady increase over the course of the year.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Arial"/>
                <a:ea typeface="Arial"/>
                <a:cs typeface="Arial"/>
                <a:sym typeface="Arial"/>
              </a:rPr>
              <a:t>Unemployment Trend: </a:t>
            </a:r>
            <a:r>
              <a:rPr b="0" i="0" lang="en-US" sz="1600" u="none" cap="none" strike="noStrike">
                <a:solidFill>
                  <a:schemeClr val="dk1"/>
                </a:solidFill>
                <a:latin typeface="Arial"/>
                <a:ea typeface="Arial"/>
                <a:cs typeface="Arial"/>
                <a:sym typeface="Arial"/>
              </a:rPr>
              <a:t>The unemployment rate has steadily decreased each year.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Arial"/>
                <a:ea typeface="Arial"/>
                <a:cs typeface="Arial"/>
                <a:sym typeface="Arial"/>
              </a:rPr>
              <a:t>Temperature Pattern: </a:t>
            </a:r>
            <a:r>
              <a:rPr b="0" i="0" lang="en-US" sz="1600" u="none" cap="none" strike="noStrike">
                <a:solidFill>
                  <a:schemeClr val="dk1"/>
                </a:solidFill>
                <a:latin typeface="Arial"/>
                <a:ea typeface="Arial"/>
                <a:cs typeface="Arial"/>
                <a:sym typeface="Arial"/>
              </a:rPr>
              <a:t>Temperature data exhibits a random walk, indicating no clear pattern or trend over time.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Arial"/>
                <a:ea typeface="Arial"/>
                <a:cs typeface="Arial"/>
                <a:sym typeface="Arial"/>
              </a:rPr>
              <a:t>In conclusion, understanding the dynamics of sales patterns, store types, and departmental performance is essential for effective business strategies. The data provides valuable insights for optimizing sales approaches, managing inventory, and tailoring marketing efforts to maximize revenue and enhance customer satisfaction.</a:t>
            </a:r>
            <a:endParaRPr b="0" i="0" sz="1600" u="none" cap="none" strike="noStrike">
              <a:solidFill>
                <a:schemeClr val="dk1"/>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pic>
        <p:nvPicPr>
          <p:cNvPr descr="A graph of a number of different colored squares&#10;&#10;Description automatically generated" id="207" name="Google Shape;207;p9"/>
          <p:cNvPicPr preferRelativeResize="0"/>
          <p:nvPr/>
        </p:nvPicPr>
        <p:blipFill rotWithShape="1">
          <a:blip r:embed="rId3">
            <a:alphaModFix/>
          </a:blip>
          <a:srcRect b="0" l="0" r="0" t="0"/>
          <a:stretch/>
        </p:blipFill>
        <p:spPr>
          <a:xfrm>
            <a:off x="516710" y="4070555"/>
            <a:ext cx="3169090" cy="2486096"/>
          </a:xfrm>
          <a:prstGeom prst="rect">
            <a:avLst/>
          </a:prstGeom>
          <a:noFill/>
          <a:ln cap="flat" cmpd="sng" w="9525">
            <a:solidFill>
              <a:srgbClr val="2A4A48"/>
            </a:solidFill>
            <a:prstDash val="solid"/>
            <a:round/>
            <a:headEnd len="sm" w="sm" type="none"/>
            <a:tailEnd len="sm" w="sm" type="none"/>
          </a:ln>
        </p:spPr>
      </p:pic>
      <p:pic>
        <p:nvPicPr>
          <p:cNvPr descr="A graph of different colored bars&#10;&#10;Description automatically generated" id="208" name="Google Shape;208;p9"/>
          <p:cNvPicPr preferRelativeResize="0"/>
          <p:nvPr/>
        </p:nvPicPr>
        <p:blipFill rotWithShape="1">
          <a:blip r:embed="rId4">
            <a:alphaModFix/>
          </a:blip>
          <a:srcRect b="0" l="0" r="0" t="0"/>
          <a:stretch/>
        </p:blipFill>
        <p:spPr>
          <a:xfrm>
            <a:off x="208730" y="526040"/>
            <a:ext cx="7834056" cy="1695726"/>
          </a:xfrm>
          <a:prstGeom prst="rect">
            <a:avLst/>
          </a:prstGeom>
          <a:noFill/>
          <a:ln cap="flat" cmpd="sng" w="9525">
            <a:solidFill>
              <a:srgbClr val="2A4A48"/>
            </a:solidFill>
            <a:prstDash val="solid"/>
            <a:round/>
            <a:headEnd len="sm" w="sm" type="none"/>
            <a:tailEnd len="sm" w="sm" type="none"/>
          </a:ln>
        </p:spPr>
      </p:pic>
      <p:pic>
        <p:nvPicPr>
          <p:cNvPr descr="A graph of a bar graph&#10;&#10;Description automatically generated with medium confidence" id="209" name="Google Shape;209;p9"/>
          <p:cNvPicPr preferRelativeResize="0"/>
          <p:nvPr/>
        </p:nvPicPr>
        <p:blipFill rotWithShape="1">
          <a:blip r:embed="rId5">
            <a:alphaModFix/>
          </a:blip>
          <a:srcRect b="0" l="0" r="0" t="0"/>
          <a:stretch/>
        </p:blipFill>
        <p:spPr>
          <a:xfrm>
            <a:off x="3490451" y="2268420"/>
            <a:ext cx="8701549" cy="1883500"/>
          </a:xfrm>
          <a:prstGeom prst="rect">
            <a:avLst/>
          </a:prstGeom>
          <a:noFill/>
          <a:ln cap="flat" cmpd="sng" w="9525">
            <a:solidFill>
              <a:srgbClr val="2A4A48"/>
            </a:solidFill>
            <a:prstDash val="solid"/>
            <a:round/>
            <a:headEnd len="sm" w="sm" type="none"/>
            <a:tailEnd len="sm" w="sm" type="none"/>
          </a:ln>
        </p:spPr>
      </p:pic>
      <p:sp>
        <p:nvSpPr>
          <p:cNvPr id="210" name="Google Shape;210;p9"/>
          <p:cNvSpPr txBox="1"/>
          <p:nvPr/>
        </p:nvSpPr>
        <p:spPr>
          <a:xfrm>
            <a:off x="8141107" y="589073"/>
            <a:ext cx="3637937" cy="15696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Arial"/>
                <a:ea typeface="Arial"/>
                <a:cs typeface="Arial"/>
                <a:sym typeface="Arial"/>
              </a:rPr>
              <a:t>Which stores are the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Arial"/>
                <a:ea typeface="Arial"/>
                <a:cs typeface="Arial"/>
                <a:sym typeface="Arial"/>
              </a:rPr>
              <a:t>highest earners: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Arial"/>
                <a:ea typeface="Arial"/>
                <a:cs typeface="Arial"/>
                <a:sym typeface="Arial"/>
              </a:rPr>
              <a:t>Store number 20 and 4 were identified as the top earners based on their weekly sales, while store number 44 and 5 emerged as the least profitable.</a:t>
            </a:r>
            <a:endParaRPr b="0" i="0" sz="1400" u="none" cap="none" strike="noStrike">
              <a:solidFill>
                <a:srgbClr val="000000"/>
              </a:solidFill>
              <a:latin typeface="Arial"/>
              <a:ea typeface="Arial"/>
              <a:cs typeface="Arial"/>
              <a:sym typeface="Arial"/>
            </a:endParaRPr>
          </a:p>
        </p:txBody>
      </p:sp>
      <p:sp>
        <p:nvSpPr>
          <p:cNvPr id="211" name="Google Shape;211;p9"/>
          <p:cNvSpPr txBox="1"/>
          <p:nvPr/>
        </p:nvSpPr>
        <p:spPr>
          <a:xfrm>
            <a:off x="479581" y="2268420"/>
            <a:ext cx="3048000" cy="181588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Arial"/>
                <a:ea typeface="Arial"/>
                <a:cs typeface="Arial"/>
                <a:sym typeface="Arial"/>
              </a:rPr>
              <a:t>Which departments are the highest earners: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Arial"/>
                <a:ea typeface="Arial"/>
                <a:cs typeface="Arial"/>
                <a:sym typeface="Arial"/>
              </a:rPr>
              <a:t>Certain departments (1-15, 38, 40, 72, and 90-95) demonstrate notably higher weekly sales, with an average increase of 25%.</a:t>
            </a:r>
            <a:endParaRPr b="0" i="0" sz="1400" u="none" cap="none" strike="noStrike">
              <a:solidFill>
                <a:srgbClr val="000000"/>
              </a:solidFill>
              <a:latin typeface="Arial"/>
              <a:ea typeface="Arial"/>
              <a:cs typeface="Arial"/>
              <a:sym typeface="Arial"/>
            </a:endParaRPr>
          </a:p>
        </p:txBody>
      </p:sp>
      <p:sp>
        <p:nvSpPr>
          <p:cNvPr id="212" name="Google Shape;212;p9"/>
          <p:cNvSpPr txBox="1"/>
          <p:nvPr/>
        </p:nvSpPr>
        <p:spPr>
          <a:xfrm>
            <a:off x="3800166" y="4282551"/>
            <a:ext cx="2915267" cy="206210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Arial"/>
                <a:ea typeface="Arial"/>
                <a:cs typeface="Arial"/>
                <a:sym typeface="Arial"/>
              </a:rPr>
              <a:t>Which type of store is the highest earner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Arial"/>
                <a:ea typeface="Arial"/>
                <a:cs typeface="Arial"/>
                <a:sym typeface="Arial"/>
              </a:rPr>
              <a:t>Store type A, succeeded by store type B, were identified as the store types with the highest earnings, while store type C exhibited the lowest weekly sales.</a:t>
            </a:r>
            <a:endParaRPr b="0" i="0" sz="1400" u="none" cap="none" strike="noStrike">
              <a:solidFill>
                <a:srgbClr val="000000"/>
              </a:solidFill>
              <a:latin typeface="Arial"/>
              <a:ea typeface="Arial"/>
              <a:cs typeface="Arial"/>
              <a:sym typeface="Arial"/>
            </a:endParaRPr>
          </a:p>
        </p:txBody>
      </p:sp>
      <p:pic>
        <p:nvPicPr>
          <p:cNvPr descr="A graph of different colored bars&#10;&#10;Description automatically generated" id="213" name="Google Shape;213;p9"/>
          <p:cNvPicPr preferRelativeResize="0"/>
          <p:nvPr/>
        </p:nvPicPr>
        <p:blipFill rotWithShape="1">
          <a:blip r:embed="rId6">
            <a:alphaModFix/>
          </a:blip>
          <a:srcRect b="0" l="0" r="0" t="0"/>
          <a:stretch/>
        </p:blipFill>
        <p:spPr>
          <a:xfrm>
            <a:off x="6804471" y="4198574"/>
            <a:ext cx="2476630" cy="2465098"/>
          </a:xfrm>
          <a:prstGeom prst="rect">
            <a:avLst/>
          </a:prstGeom>
          <a:noFill/>
          <a:ln cap="flat" cmpd="sng" w="9525">
            <a:solidFill>
              <a:srgbClr val="2A4A48"/>
            </a:solidFill>
            <a:prstDash val="solid"/>
            <a:round/>
            <a:headEnd len="sm" w="sm" type="none"/>
            <a:tailEnd len="sm" w="sm" type="none"/>
          </a:ln>
        </p:spPr>
      </p:pic>
      <p:sp>
        <p:nvSpPr>
          <p:cNvPr id="214" name="Google Shape;214;p9"/>
          <p:cNvSpPr txBox="1"/>
          <p:nvPr/>
        </p:nvSpPr>
        <p:spPr>
          <a:xfrm>
            <a:off x="9393039" y="4261607"/>
            <a:ext cx="2386005" cy="15696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Arial"/>
                <a:ea typeface="Arial"/>
                <a:cs typeface="Arial"/>
                <a:sym typeface="Arial"/>
              </a:rPr>
              <a:t>Trend of markdown across types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Arial"/>
                <a:ea typeface="Arial"/>
                <a:cs typeface="Arial"/>
                <a:sym typeface="Arial"/>
              </a:rPr>
              <a:t>Markdown1 is the highest for Type A, B while markdown 5 is the highest for type C</a:t>
            </a:r>
            <a:endParaRPr b="0" i="0" sz="1600" u="none" cap="none" strike="noStrike">
              <a:solidFill>
                <a:schemeClr val="dk1"/>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pic>
        <p:nvPicPr>
          <p:cNvPr descr="A graph showing a number of colored lines&#10;&#10;Description automatically generated with medium confidence" id="219" name="Google Shape;219;p10"/>
          <p:cNvPicPr preferRelativeResize="0"/>
          <p:nvPr/>
        </p:nvPicPr>
        <p:blipFill rotWithShape="1">
          <a:blip r:embed="rId3">
            <a:alphaModFix/>
          </a:blip>
          <a:srcRect b="0" l="0" r="0" t="0"/>
          <a:stretch/>
        </p:blipFill>
        <p:spPr>
          <a:xfrm>
            <a:off x="4211810" y="3612060"/>
            <a:ext cx="7854312" cy="2777269"/>
          </a:xfrm>
          <a:prstGeom prst="rect">
            <a:avLst/>
          </a:prstGeom>
          <a:noFill/>
          <a:ln cap="flat" cmpd="sng" w="9525">
            <a:solidFill>
              <a:srgbClr val="2A4A48"/>
            </a:solidFill>
            <a:prstDash val="solid"/>
            <a:round/>
            <a:headEnd len="sm" w="sm" type="none"/>
            <a:tailEnd len="sm" w="sm" type="none"/>
          </a:ln>
        </p:spPr>
      </p:pic>
      <p:pic>
        <p:nvPicPr>
          <p:cNvPr descr="A graph of colored lines&#10;&#10;Description automatically generated with medium confidence" id="220" name="Google Shape;220;p10"/>
          <p:cNvPicPr preferRelativeResize="0"/>
          <p:nvPr/>
        </p:nvPicPr>
        <p:blipFill rotWithShape="1">
          <a:blip r:embed="rId4">
            <a:alphaModFix/>
          </a:blip>
          <a:srcRect b="0" l="0" r="0" t="0"/>
          <a:stretch/>
        </p:blipFill>
        <p:spPr>
          <a:xfrm>
            <a:off x="1111045" y="287158"/>
            <a:ext cx="6695949" cy="3503694"/>
          </a:xfrm>
          <a:prstGeom prst="rect">
            <a:avLst/>
          </a:prstGeom>
          <a:noFill/>
          <a:ln cap="flat" cmpd="sng" w="9525">
            <a:solidFill>
              <a:srgbClr val="2A4A48"/>
            </a:solidFill>
            <a:prstDash val="solid"/>
            <a:round/>
            <a:headEnd len="sm" w="sm" type="none"/>
            <a:tailEnd len="sm" w="sm" type="none"/>
          </a:ln>
        </p:spPr>
      </p:pic>
      <p:sp>
        <p:nvSpPr>
          <p:cNvPr id="221" name="Google Shape;221;p10"/>
          <p:cNvSpPr txBox="1"/>
          <p:nvPr/>
        </p:nvSpPr>
        <p:spPr>
          <a:xfrm>
            <a:off x="8404462" y="1080036"/>
            <a:ext cx="2971461" cy="132343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Arial"/>
                <a:ea typeface="Arial"/>
                <a:cs typeface="Arial"/>
                <a:sym typeface="Arial"/>
              </a:rPr>
              <a:t>Trend of markdown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Arial"/>
                <a:ea typeface="Arial"/>
                <a:cs typeface="Arial"/>
                <a:sym typeface="Arial"/>
              </a:rPr>
              <a:t>across Months: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Arial"/>
                <a:ea typeface="Arial"/>
                <a:cs typeface="Arial"/>
                <a:sym typeface="Arial"/>
              </a:rPr>
              <a:t>Markdown3 is the highest in November and markdown 1 is highest in March</a:t>
            </a:r>
            <a:endParaRPr b="0" i="0" sz="1600" u="none" cap="none" strike="noStrike">
              <a:solidFill>
                <a:schemeClr val="dk1"/>
              </a:solidFill>
              <a:latin typeface="Arial"/>
              <a:ea typeface="Arial"/>
              <a:cs typeface="Arial"/>
              <a:sym typeface="Arial"/>
            </a:endParaRPr>
          </a:p>
        </p:txBody>
      </p:sp>
      <p:sp>
        <p:nvSpPr>
          <p:cNvPr id="222" name="Google Shape;222;p10"/>
          <p:cNvSpPr txBox="1"/>
          <p:nvPr/>
        </p:nvSpPr>
        <p:spPr>
          <a:xfrm>
            <a:off x="705240" y="3969644"/>
            <a:ext cx="4800825" cy="2062103"/>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Arial"/>
                <a:ea typeface="Arial"/>
                <a:cs typeface="Arial"/>
                <a:sym typeface="Arial"/>
              </a:rPr>
              <a:t>Trend of markdown across time: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Arial"/>
                <a:ea typeface="Arial"/>
                <a:cs typeface="Arial"/>
                <a:sym typeface="Arial"/>
              </a:rPr>
              <a:t>The graph shows sporadic and significant spikes in markdowns across different categories, with major peaks occurring around mid-2011 and late 2011 to early 2012. These markdowns are likely linked to specific events or seasons, with more frequent but smaller markdowns appearing towards the end of the timeline.</a:t>
            </a:r>
            <a:endParaRPr b="0" i="0" sz="1600" u="none" cap="none" strike="noStrike">
              <a:solidFill>
                <a:schemeClr val="dk1"/>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pic>
        <p:nvPicPr>
          <p:cNvPr descr="A chart with numbers and a grid&#10;&#10;Description automatically generated with medium confidence" id="227" name="Google Shape;227;p11"/>
          <p:cNvPicPr preferRelativeResize="0"/>
          <p:nvPr/>
        </p:nvPicPr>
        <p:blipFill rotWithShape="1">
          <a:blip r:embed="rId3">
            <a:alphaModFix/>
          </a:blip>
          <a:srcRect b="0" l="0" r="0" t="0"/>
          <a:stretch/>
        </p:blipFill>
        <p:spPr>
          <a:xfrm>
            <a:off x="1777415" y="264874"/>
            <a:ext cx="9849420" cy="4936389"/>
          </a:xfrm>
          <a:prstGeom prst="rect">
            <a:avLst/>
          </a:prstGeom>
          <a:noFill/>
          <a:ln cap="flat" cmpd="sng" w="9525">
            <a:solidFill>
              <a:srgbClr val="2A4A48"/>
            </a:solidFill>
            <a:prstDash val="solid"/>
            <a:round/>
            <a:headEnd len="sm" w="sm" type="none"/>
            <a:tailEnd len="sm" w="sm" type="none"/>
          </a:ln>
        </p:spPr>
      </p:pic>
      <p:sp>
        <p:nvSpPr>
          <p:cNvPr id="228" name="Google Shape;228;p11"/>
          <p:cNvSpPr txBox="1"/>
          <p:nvPr/>
        </p:nvSpPr>
        <p:spPr>
          <a:xfrm>
            <a:off x="787962" y="5270102"/>
            <a:ext cx="7915087" cy="107721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Arial"/>
                <a:ea typeface="Arial"/>
                <a:cs typeface="Arial"/>
                <a:sym typeface="Arial"/>
              </a:rPr>
              <a:t>Correlation of factors and weekly sales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Arial"/>
                <a:ea typeface="Arial"/>
                <a:cs typeface="Arial"/>
                <a:sym typeface="Arial"/>
              </a:rPr>
              <a:t>Weekly sales do not exhibit a strong correlation with other parameters.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Arial"/>
                <a:ea typeface="Arial"/>
                <a:cs typeface="Arial"/>
                <a:sym typeface="Arial"/>
              </a:rPr>
              <a:t>Consumer Price Index (CPI) and Unemployment display a negative correlation.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Arial"/>
                <a:ea typeface="Arial"/>
                <a:cs typeface="Arial"/>
                <a:sym typeface="Arial"/>
              </a:rPr>
              <a:t>Unemployment and Fuel Price are also negatively correlated.</a:t>
            </a:r>
            <a:endParaRPr b="0" i="0" sz="1600" u="none" cap="none" strike="noStrike">
              <a:solidFill>
                <a:schemeClr val="dk1"/>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12"/>
          <p:cNvSpPr txBox="1"/>
          <p:nvPr>
            <p:ph type="title"/>
          </p:nvPr>
        </p:nvSpPr>
        <p:spPr>
          <a:xfrm>
            <a:off x="1166351" y="681037"/>
            <a:ext cx="9859297" cy="87246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accent5"/>
              </a:buClr>
              <a:buSzPts val="5200"/>
              <a:buFont typeface="EB Garamond"/>
              <a:buNone/>
            </a:pPr>
            <a:r>
              <a:rPr lang="en-US"/>
              <a:t>Anomaly Detection in Sales Data</a:t>
            </a:r>
            <a:endParaRPr/>
          </a:p>
        </p:txBody>
      </p:sp>
      <p:pic>
        <p:nvPicPr>
          <p:cNvPr id="234" name="Google Shape;234;p12"/>
          <p:cNvPicPr preferRelativeResize="0"/>
          <p:nvPr/>
        </p:nvPicPr>
        <p:blipFill rotWithShape="1">
          <a:blip r:embed="rId3">
            <a:alphaModFix/>
          </a:blip>
          <a:srcRect b="0" l="0" r="0" t="0"/>
          <a:stretch/>
        </p:blipFill>
        <p:spPr>
          <a:xfrm>
            <a:off x="218768" y="1553497"/>
            <a:ext cx="10039676" cy="1281480"/>
          </a:xfrm>
          <a:prstGeom prst="rect">
            <a:avLst/>
          </a:prstGeom>
          <a:noFill/>
          <a:ln>
            <a:noFill/>
          </a:ln>
        </p:spPr>
      </p:pic>
      <p:pic>
        <p:nvPicPr>
          <p:cNvPr id="235" name="Google Shape;235;p12"/>
          <p:cNvPicPr preferRelativeResize="0"/>
          <p:nvPr/>
        </p:nvPicPr>
        <p:blipFill rotWithShape="1">
          <a:blip r:embed="rId4">
            <a:alphaModFix/>
          </a:blip>
          <a:srcRect b="0" l="0" r="0" t="0"/>
          <a:stretch/>
        </p:blipFill>
        <p:spPr>
          <a:xfrm>
            <a:off x="10280330" y="1403660"/>
            <a:ext cx="1775158" cy="1605712"/>
          </a:xfrm>
          <a:prstGeom prst="rect">
            <a:avLst/>
          </a:prstGeom>
          <a:noFill/>
          <a:ln>
            <a:noFill/>
          </a:ln>
        </p:spPr>
      </p:pic>
      <p:sp>
        <p:nvSpPr>
          <p:cNvPr id="236" name="Google Shape;236;p12"/>
          <p:cNvSpPr txBox="1"/>
          <p:nvPr/>
        </p:nvSpPr>
        <p:spPr>
          <a:xfrm>
            <a:off x="498083" y="2834977"/>
            <a:ext cx="6342946" cy="353943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Arial"/>
                <a:ea typeface="Arial"/>
                <a:cs typeface="Arial"/>
                <a:sym typeface="Arial"/>
              </a:rPr>
              <a:t>Objective-</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400"/>
              <a:buFont typeface="Arial"/>
              <a:buChar char="•"/>
            </a:pPr>
            <a:r>
              <a:rPr b="0" i="0" lang="en-US" sz="1400" u="none" cap="none" strike="noStrike">
                <a:solidFill>
                  <a:schemeClr val="dk1"/>
                </a:solidFill>
                <a:latin typeface="Arial"/>
                <a:ea typeface="Arial"/>
                <a:cs typeface="Arial"/>
                <a:sym typeface="Arial"/>
              </a:rPr>
              <a:t>Identify unusual sales patterns across stores and departments.</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400"/>
              <a:buFont typeface="Arial"/>
              <a:buChar char="•"/>
            </a:pPr>
            <a:r>
              <a:rPr b="0" i="0" lang="en-US" sz="1400" u="none" cap="none" strike="noStrike">
                <a:solidFill>
                  <a:schemeClr val="dk1"/>
                </a:solidFill>
                <a:latin typeface="Arial"/>
                <a:ea typeface="Arial"/>
                <a:cs typeface="Arial"/>
                <a:sym typeface="Arial"/>
              </a:rPr>
              <a:t>Investigate potential causes (e.g., holidays, markdowns, economic indicators).</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400"/>
              <a:buFont typeface="Arial"/>
              <a:buChar char="•"/>
            </a:pPr>
            <a:r>
              <a:rPr b="0" i="0" lang="en-US" sz="1400" u="none" cap="none" strike="noStrike">
                <a:solidFill>
                  <a:schemeClr val="dk1"/>
                </a:solidFill>
                <a:latin typeface="Arial"/>
                <a:ea typeface="Arial"/>
                <a:cs typeface="Arial"/>
                <a:sym typeface="Arial"/>
              </a:rPr>
              <a:t>Implement anomaly handling strategies to clean the data for further analysis.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Arial"/>
                <a:ea typeface="Arial"/>
                <a:cs typeface="Arial"/>
                <a:sym typeface="Arial"/>
              </a:rPr>
              <a:t>What is Anomaly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Arial"/>
                <a:ea typeface="Arial"/>
                <a:cs typeface="Arial"/>
                <a:sym typeface="Arial"/>
              </a:rPr>
              <a:t>Anomalies are deviations from expected behavior or patterns in data, and their presence can indicate issues or security threats.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Arial"/>
                <a:ea typeface="Arial"/>
                <a:cs typeface="Arial"/>
                <a:sym typeface="Arial"/>
              </a:rPr>
              <a:t>Method used for Detecting Anomalies in Retail Data</a:t>
            </a:r>
            <a:endParaRPr b="0" i="0" sz="1400" u="none" cap="none" strike="noStrike">
              <a:solidFill>
                <a:schemeClr val="dk1"/>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400"/>
              <a:buFont typeface="Arial"/>
              <a:buChar char="•"/>
            </a:pPr>
            <a:r>
              <a:rPr b="0" i="0" lang="en-US" sz="1400" u="none" cap="none" strike="noStrike">
                <a:solidFill>
                  <a:schemeClr val="dk1"/>
                </a:solidFill>
                <a:latin typeface="Arial"/>
                <a:ea typeface="Arial"/>
                <a:cs typeface="Arial"/>
                <a:sym typeface="Arial"/>
              </a:rPr>
              <a:t>Descriptive statistics are among the foundational methods for anomaly detection in retail. Techniques like mean, median, and standard deviation can be used to calculate summary statistics, which help identify point anomalies.</a:t>
            </a:r>
            <a:endParaRPr b="0" i="0" sz="1400" u="none" cap="none" strike="noStrike">
              <a:solidFill>
                <a:srgbClr val="000000"/>
              </a:solidFill>
              <a:latin typeface="Arial"/>
              <a:ea typeface="Arial"/>
              <a:cs typeface="Arial"/>
              <a:sym typeface="Arial"/>
            </a:endParaRPr>
          </a:p>
        </p:txBody>
      </p:sp>
      <p:sp>
        <p:nvSpPr>
          <p:cNvPr id="237" name="Google Shape;237;p12"/>
          <p:cNvSpPr txBox="1"/>
          <p:nvPr/>
        </p:nvSpPr>
        <p:spPr>
          <a:xfrm>
            <a:off x="6862915" y="2942698"/>
            <a:ext cx="4758814" cy="33239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Arial"/>
                <a:ea typeface="Arial"/>
                <a:cs typeface="Arial"/>
                <a:sym typeface="Arial"/>
              </a:rPr>
              <a:t>Mitigation Strategies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Arial"/>
                <a:ea typeface="Arial"/>
                <a:cs typeface="Arial"/>
                <a:sym typeface="Arial"/>
              </a:rPr>
              <a:t>There are a number of strategies that can be used to mitigate the impact of anomalies without removing the data points. These strategies include: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400"/>
              <a:buFont typeface="Arial"/>
              <a:buChar char="•"/>
            </a:pPr>
            <a:r>
              <a:rPr b="0" i="0" lang="en-US" sz="1400" u="none" cap="none" strike="noStrike">
                <a:solidFill>
                  <a:schemeClr val="dk1"/>
                </a:solidFill>
                <a:latin typeface="Arial"/>
                <a:ea typeface="Arial"/>
                <a:cs typeface="Arial"/>
                <a:sym typeface="Arial"/>
              </a:rPr>
              <a:t>Data cleaning: This involves identifying and correcting errors in the data. This can be done manually or using automated tools.</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400"/>
              <a:buFont typeface="Arial"/>
              <a:buChar char="•"/>
            </a:pPr>
            <a:r>
              <a:rPr b="0" i="0" lang="en-US" sz="1400" u="none" cap="none" strike="noStrike">
                <a:solidFill>
                  <a:schemeClr val="dk1"/>
                </a:solidFill>
                <a:latin typeface="Arial"/>
                <a:ea typeface="Arial"/>
                <a:cs typeface="Arial"/>
                <a:sym typeface="Arial"/>
              </a:rPr>
              <a:t>Data normalization: This involves transforming the data so that it is distributed normally. This can help to identify anomalies more easily.</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400"/>
              <a:buFont typeface="Arial"/>
              <a:buChar char="•"/>
            </a:pPr>
            <a:r>
              <a:rPr b="0" i="0" lang="en-US" sz="1400" u="none" cap="none" strike="noStrike">
                <a:solidFill>
                  <a:schemeClr val="dk1"/>
                </a:solidFill>
                <a:latin typeface="Arial"/>
                <a:ea typeface="Arial"/>
                <a:cs typeface="Arial"/>
                <a:sym typeface="Arial"/>
              </a:rPr>
              <a:t>Data imputation: This involves filling in missing data points. This can be done using statistical methods or machine learning algorithms.</a:t>
            </a:r>
            <a:endParaRPr b="0" i="0" sz="1400" u="none" cap="none" strike="noStrike">
              <a:solidFill>
                <a:schemeClr val="dk1"/>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13"/>
          <p:cNvSpPr txBox="1"/>
          <p:nvPr>
            <p:ph type="title"/>
          </p:nvPr>
        </p:nvSpPr>
        <p:spPr>
          <a:xfrm>
            <a:off x="6170358" y="410068"/>
            <a:ext cx="5219699" cy="1349294"/>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accent5"/>
              </a:buClr>
              <a:buSzPts val="4400"/>
              <a:buFont typeface="EB Garamond"/>
              <a:buNone/>
            </a:pPr>
            <a:r>
              <a:rPr lang="en-US" sz="4400"/>
              <a:t>Time-Based Anomaly Detection</a:t>
            </a:r>
            <a:endParaRPr/>
          </a:p>
        </p:txBody>
      </p:sp>
      <p:sp>
        <p:nvSpPr>
          <p:cNvPr id="243" name="Google Shape;243;p13"/>
          <p:cNvSpPr txBox="1"/>
          <p:nvPr/>
        </p:nvSpPr>
        <p:spPr>
          <a:xfrm>
            <a:off x="5986616" y="1677395"/>
            <a:ext cx="5486400" cy="47705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Arial"/>
                <a:ea typeface="Arial"/>
                <a:cs typeface="Arial"/>
                <a:sym typeface="Arial"/>
              </a:rPr>
              <a:t>Objective-</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Analyze sales trends over time.</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Detect seasonal variations and holiday effects on sales.</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Use time-series analysis for understanding store and department performance over time.</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Detect anomalies in time series Sales data using specialized methods.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Arial"/>
                <a:ea typeface="Arial"/>
                <a:cs typeface="Arial"/>
                <a:sym typeface="Arial"/>
              </a:rPr>
              <a:t>Approach:</a:t>
            </a:r>
            <a:endParaRPr b="0" i="0" sz="1600" u="none" cap="none" strike="noStrike">
              <a:solidFill>
                <a:schemeClr val="dk1"/>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600"/>
              <a:buFont typeface="Arial"/>
              <a:buChar char="•"/>
            </a:pPr>
            <a:r>
              <a:rPr b="1" i="0" lang="en-US" sz="1600" u="none" cap="none" strike="noStrike">
                <a:solidFill>
                  <a:schemeClr val="dk1"/>
                </a:solidFill>
                <a:latin typeface="Arial"/>
                <a:ea typeface="Arial"/>
                <a:cs typeface="Arial"/>
                <a:sym typeface="Arial"/>
              </a:rPr>
              <a:t>Create Rolling Statistics: </a:t>
            </a:r>
            <a:r>
              <a:rPr b="0" i="0" lang="en-US" sz="1600" u="none" cap="none" strike="noStrike">
                <a:solidFill>
                  <a:schemeClr val="dk1"/>
                </a:solidFill>
                <a:latin typeface="Arial"/>
                <a:ea typeface="Arial"/>
                <a:cs typeface="Arial"/>
                <a:sym typeface="Arial"/>
              </a:rPr>
              <a:t>Calculate rolling averages, moving sums, and standard deviations to track data variations over time.</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600"/>
              <a:buFont typeface="Arial"/>
              <a:buChar char="•"/>
            </a:pPr>
            <a:r>
              <a:rPr b="1" i="0" lang="en-US" sz="1600" u="none" cap="none" strike="noStrike">
                <a:solidFill>
                  <a:schemeClr val="dk1"/>
                </a:solidFill>
                <a:latin typeface="Arial"/>
                <a:ea typeface="Arial"/>
                <a:cs typeface="Arial"/>
                <a:sym typeface="Arial"/>
              </a:rPr>
              <a:t>Apply Exponential Smoothing: </a:t>
            </a:r>
            <a:r>
              <a:rPr b="0" i="0" lang="en-US" sz="1600" u="none" cap="none" strike="noStrike">
                <a:solidFill>
                  <a:schemeClr val="dk1"/>
                </a:solidFill>
                <a:latin typeface="Arial"/>
                <a:ea typeface="Arial"/>
                <a:cs typeface="Arial"/>
                <a:sym typeface="Arial"/>
              </a:rPr>
              <a:t>Use exponential moving averages (EMA) and anomaly detection techniques to highlight unusual patterns in time series data.</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600"/>
              <a:buFont typeface="Arial"/>
              <a:buChar char="•"/>
            </a:pPr>
            <a:r>
              <a:rPr b="1" i="0" lang="en-US" sz="1600" u="none" cap="none" strike="noStrike">
                <a:solidFill>
                  <a:schemeClr val="dk1"/>
                </a:solidFill>
                <a:latin typeface="Arial"/>
                <a:ea typeface="Arial"/>
                <a:cs typeface="Arial"/>
                <a:sym typeface="Arial"/>
              </a:rPr>
              <a:t>Highlight Anomalies: </a:t>
            </a:r>
            <a:r>
              <a:rPr b="0" i="0" lang="en-US" sz="1600" u="none" cap="none" strike="noStrike">
                <a:solidFill>
                  <a:schemeClr val="dk1"/>
                </a:solidFill>
                <a:latin typeface="Arial"/>
                <a:ea typeface="Arial"/>
                <a:cs typeface="Arial"/>
                <a:sym typeface="Arial"/>
              </a:rPr>
              <a:t>Set thresholds and visual cues to identify significant deviations from smoothed values, aiding in anomaly detection and trend analysis.</a:t>
            </a:r>
            <a:endParaRPr b="0" i="0" sz="1400" u="none" cap="none" strike="noStrike">
              <a:solidFill>
                <a:srgbClr val="000000"/>
              </a:solidFill>
              <a:latin typeface="Arial"/>
              <a:ea typeface="Arial"/>
              <a:cs typeface="Arial"/>
              <a:sym typeface="Arial"/>
            </a:endParaRPr>
          </a:p>
        </p:txBody>
      </p:sp>
      <p:pic>
        <p:nvPicPr>
          <p:cNvPr descr="A graph of weight loss&#10;&#10;Description automatically generated" id="244" name="Google Shape;244;p13"/>
          <p:cNvPicPr preferRelativeResize="0"/>
          <p:nvPr/>
        </p:nvPicPr>
        <p:blipFill rotWithShape="1">
          <a:blip r:embed="rId3">
            <a:alphaModFix/>
          </a:blip>
          <a:srcRect b="0" l="0" r="0" t="0"/>
          <a:stretch/>
        </p:blipFill>
        <p:spPr>
          <a:xfrm>
            <a:off x="191372" y="500119"/>
            <a:ext cx="5495975" cy="2942559"/>
          </a:xfrm>
          <a:prstGeom prst="rect">
            <a:avLst/>
          </a:prstGeom>
          <a:noFill/>
          <a:ln cap="flat" cmpd="sng" w="9525">
            <a:solidFill>
              <a:srgbClr val="2A4A48"/>
            </a:solidFill>
            <a:prstDash val="solid"/>
            <a:round/>
            <a:headEnd len="sm" w="sm" type="none"/>
            <a:tailEnd len="sm" w="sm" type="none"/>
          </a:ln>
        </p:spPr>
      </p:pic>
      <p:pic>
        <p:nvPicPr>
          <p:cNvPr descr="A graph of sales data&#10;&#10;Description automatically generated" id="245" name="Google Shape;245;p13"/>
          <p:cNvPicPr preferRelativeResize="0"/>
          <p:nvPr/>
        </p:nvPicPr>
        <p:blipFill rotWithShape="1">
          <a:blip r:embed="rId4">
            <a:alphaModFix/>
          </a:blip>
          <a:srcRect b="0" l="0" r="0" t="0"/>
          <a:stretch/>
        </p:blipFill>
        <p:spPr>
          <a:xfrm>
            <a:off x="200947" y="3531169"/>
            <a:ext cx="5486400" cy="2937432"/>
          </a:xfrm>
          <a:prstGeom prst="rect">
            <a:avLst/>
          </a:prstGeom>
          <a:noFill/>
          <a:ln cap="flat" cmpd="sng" w="9525">
            <a:solidFill>
              <a:srgbClr val="2A4A48"/>
            </a:solidFill>
            <a:prstDash val="solid"/>
            <a:round/>
            <a:headEnd len="sm" w="sm" type="none"/>
            <a:tailEnd len="sm" w="sm" type="none"/>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pic>
        <p:nvPicPr>
          <p:cNvPr descr="A graph with a red line&#10;&#10;Description automatically generated" id="250" name="Google Shape;250;p14"/>
          <p:cNvPicPr preferRelativeResize="0"/>
          <p:nvPr/>
        </p:nvPicPr>
        <p:blipFill rotWithShape="1">
          <a:blip r:embed="rId3">
            <a:alphaModFix/>
          </a:blip>
          <a:srcRect b="0" l="0" r="0" t="0"/>
          <a:stretch/>
        </p:blipFill>
        <p:spPr>
          <a:xfrm>
            <a:off x="709491" y="1631608"/>
            <a:ext cx="5266954" cy="4361697"/>
          </a:xfrm>
          <a:prstGeom prst="rect">
            <a:avLst/>
          </a:prstGeom>
          <a:noFill/>
          <a:ln cap="flat" cmpd="sng" w="9525">
            <a:solidFill>
              <a:srgbClr val="2A4A48"/>
            </a:solidFill>
            <a:prstDash val="solid"/>
            <a:round/>
            <a:headEnd len="sm" w="sm" type="none"/>
            <a:tailEnd len="sm" w="sm" type="none"/>
          </a:ln>
        </p:spPr>
      </p:pic>
      <p:sp>
        <p:nvSpPr>
          <p:cNvPr id="251" name="Google Shape;251;p14"/>
          <p:cNvSpPr txBox="1"/>
          <p:nvPr/>
        </p:nvSpPr>
        <p:spPr>
          <a:xfrm>
            <a:off x="1254810" y="675539"/>
            <a:ext cx="9443270" cy="740306"/>
          </a:xfrm>
          <a:prstGeom prst="rect">
            <a:avLst/>
          </a:prstGeom>
          <a:noFill/>
          <a:ln>
            <a:noFill/>
          </a:ln>
        </p:spPr>
        <p:txBody>
          <a:bodyPr anchorCtr="0" anchor="t" bIns="45700" lIns="91425" spcFirstLastPara="1" rIns="91425" wrap="square" tIns="45700">
            <a:normAutofit/>
          </a:bodyPr>
          <a:lstStyle/>
          <a:p>
            <a:pPr indent="0" lvl="0" marL="0" marR="0" rtl="0" algn="ctr">
              <a:lnSpc>
                <a:spcPct val="90000"/>
              </a:lnSpc>
              <a:spcBef>
                <a:spcPts val="0"/>
              </a:spcBef>
              <a:spcAft>
                <a:spcPts val="0"/>
              </a:spcAft>
              <a:buClr>
                <a:schemeClr val="accent5"/>
              </a:buClr>
              <a:buSzPts val="4400"/>
              <a:buFont typeface="EB Garamond"/>
              <a:buNone/>
            </a:pPr>
            <a:r>
              <a:rPr b="0" i="0" lang="en-US" sz="4400" u="none" cap="none" strike="noStrike">
                <a:solidFill>
                  <a:schemeClr val="accent5"/>
                </a:solidFill>
                <a:latin typeface="EB Garamond"/>
                <a:ea typeface="EB Garamond"/>
                <a:cs typeface="EB Garamond"/>
                <a:sym typeface="EB Garamond"/>
              </a:rPr>
              <a:t>Customer Segmentation Analysis </a:t>
            </a:r>
            <a:endParaRPr b="0" i="0" sz="1400" u="none" cap="none" strike="noStrike">
              <a:solidFill>
                <a:srgbClr val="000000"/>
              </a:solidFill>
              <a:latin typeface="Arial"/>
              <a:ea typeface="Arial"/>
              <a:cs typeface="Arial"/>
              <a:sym typeface="Arial"/>
            </a:endParaRPr>
          </a:p>
        </p:txBody>
      </p:sp>
      <p:sp>
        <p:nvSpPr>
          <p:cNvPr id="252" name="Google Shape;252;p14"/>
          <p:cNvSpPr txBox="1"/>
          <p:nvPr/>
        </p:nvSpPr>
        <p:spPr>
          <a:xfrm>
            <a:off x="6215557" y="1825602"/>
            <a:ext cx="5266954" cy="378565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Arial"/>
                <a:ea typeface="Arial"/>
                <a:cs typeface="Arial"/>
                <a:sym typeface="Arial"/>
              </a:rPr>
              <a:t>Objective-</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Segment stores or departments based on sales patterns, markdowns, and regional features.</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Analyze segment-specific trends and characteristics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Arial"/>
                <a:ea typeface="Arial"/>
                <a:cs typeface="Arial"/>
                <a:sym typeface="Arial"/>
              </a:rPr>
              <a:t>What is Segmentation</a:t>
            </a:r>
            <a:endParaRPr b="0"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Arial"/>
                <a:ea typeface="Arial"/>
                <a:cs typeface="Arial"/>
                <a:sym typeface="Arial"/>
              </a:rPr>
              <a:t>Customer segmentation is a critical marketing strategy that involves dividing a customer base into distinct groups based on specific criteria or characteristics.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Arial"/>
                <a:ea typeface="Arial"/>
                <a:cs typeface="Arial"/>
                <a:sym typeface="Arial"/>
              </a:rPr>
              <a:t>Algorithm used for Segmentation in Retail Data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Arial"/>
                <a:ea typeface="Arial"/>
                <a:cs typeface="Arial"/>
                <a:sym typeface="Arial"/>
              </a:rPr>
              <a:t>Applied the </a:t>
            </a:r>
            <a:r>
              <a:rPr b="1" i="0" lang="en-US" sz="1600" u="none" cap="none" strike="noStrike">
                <a:solidFill>
                  <a:schemeClr val="dk1"/>
                </a:solidFill>
                <a:latin typeface="Arial"/>
                <a:ea typeface="Arial"/>
                <a:cs typeface="Arial"/>
                <a:sym typeface="Arial"/>
              </a:rPr>
              <a:t>K-Means Clustering algorithm </a:t>
            </a:r>
            <a:r>
              <a:rPr b="0" i="0" lang="en-US" sz="1600" u="none" cap="none" strike="noStrike">
                <a:solidFill>
                  <a:schemeClr val="dk1"/>
                </a:solidFill>
                <a:latin typeface="Arial"/>
                <a:ea typeface="Arial"/>
                <a:cs typeface="Arial"/>
                <a:sym typeface="Arial"/>
              </a:rPr>
              <a:t>to segment stores and departments. K-Means Clustering is an unsupervised machine learning technique widely used for grouping data into clusters based on similarity. </a:t>
            </a:r>
            <a:endParaRPr b="0" i="0" sz="1600" u="none" cap="none" strike="noStrike">
              <a:solidFill>
                <a:schemeClr val="dk1"/>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15"/>
          <p:cNvSpPr txBox="1"/>
          <p:nvPr>
            <p:ph type="title"/>
          </p:nvPr>
        </p:nvSpPr>
        <p:spPr>
          <a:xfrm>
            <a:off x="838200" y="563051"/>
            <a:ext cx="10515600" cy="862628"/>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accent5"/>
              </a:buClr>
              <a:buSzPts val="4400"/>
              <a:buFont typeface="EB Garamond"/>
              <a:buNone/>
            </a:pPr>
            <a:r>
              <a:rPr lang="en-US" sz="4400"/>
              <a:t>Segmentation Quality Evaluation</a:t>
            </a:r>
            <a:endParaRPr/>
          </a:p>
        </p:txBody>
      </p:sp>
      <p:pic>
        <p:nvPicPr>
          <p:cNvPr descr="A screenshot of a graph&#10;&#10;Description automatically generated" id="258" name="Google Shape;258;p15"/>
          <p:cNvPicPr preferRelativeResize="0"/>
          <p:nvPr/>
        </p:nvPicPr>
        <p:blipFill rotWithShape="1">
          <a:blip r:embed="rId3">
            <a:alphaModFix/>
          </a:blip>
          <a:srcRect b="0" l="0" r="0" t="0"/>
          <a:stretch/>
        </p:blipFill>
        <p:spPr>
          <a:xfrm>
            <a:off x="608350" y="1350679"/>
            <a:ext cx="5230762" cy="2458968"/>
          </a:xfrm>
          <a:prstGeom prst="rect">
            <a:avLst/>
          </a:prstGeom>
          <a:noFill/>
          <a:ln cap="flat" cmpd="sng" w="9525">
            <a:solidFill>
              <a:srgbClr val="2A4A48"/>
            </a:solidFill>
            <a:prstDash val="solid"/>
            <a:round/>
            <a:headEnd len="sm" w="sm" type="none"/>
            <a:tailEnd len="sm" w="sm" type="none"/>
          </a:ln>
        </p:spPr>
      </p:pic>
      <p:pic>
        <p:nvPicPr>
          <p:cNvPr descr="A screenshot of a graph&#10;&#10;Description automatically generated" id="259" name="Google Shape;259;p15"/>
          <p:cNvPicPr preferRelativeResize="0"/>
          <p:nvPr/>
        </p:nvPicPr>
        <p:blipFill rotWithShape="1">
          <a:blip r:embed="rId4">
            <a:alphaModFix/>
          </a:blip>
          <a:srcRect b="0" l="0" r="0" t="0"/>
          <a:stretch/>
        </p:blipFill>
        <p:spPr>
          <a:xfrm>
            <a:off x="5899355" y="3809647"/>
            <a:ext cx="5230763" cy="2458968"/>
          </a:xfrm>
          <a:prstGeom prst="rect">
            <a:avLst/>
          </a:prstGeom>
          <a:noFill/>
          <a:ln cap="flat" cmpd="sng" w="9525">
            <a:solidFill>
              <a:srgbClr val="2A4A48"/>
            </a:solidFill>
            <a:prstDash val="solid"/>
            <a:round/>
            <a:headEnd len="sm" w="sm" type="none"/>
            <a:tailEnd len="sm" w="sm" type="none"/>
          </a:ln>
        </p:spPr>
      </p:pic>
      <p:pic>
        <p:nvPicPr>
          <p:cNvPr descr="A close-up of a graph&#10;&#10;Description automatically generated" id="260" name="Google Shape;260;p15"/>
          <p:cNvPicPr preferRelativeResize="0"/>
          <p:nvPr/>
        </p:nvPicPr>
        <p:blipFill rotWithShape="1">
          <a:blip r:embed="rId5">
            <a:alphaModFix/>
          </a:blip>
          <a:srcRect b="0" l="0" r="0" t="0"/>
          <a:stretch/>
        </p:blipFill>
        <p:spPr>
          <a:xfrm>
            <a:off x="608344" y="3809647"/>
            <a:ext cx="5230768" cy="2458970"/>
          </a:xfrm>
          <a:prstGeom prst="rect">
            <a:avLst/>
          </a:prstGeom>
          <a:noFill/>
          <a:ln cap="flat" cmpd="sng" w="9525">
            <a:solidFill>
              <a:srgbClr val="2A4A48"/>
            </a:solidFill>
            <a:prstDash val="solid"/>
            <a:round/>
            <a:headEnd len="sm" w="sm" type="none"/>
            <a:tailEnd len="sm" w="sm" type="none"/>
          </a:ln>
        </p:spPr>
      </p:pic>
      <p:pic>
        <p:nvPicPr>
          <p:cNvPr descr="A screenshot of a graph&#10;&#10;Description automatically generated" id="261" name="Google Shape;261;p15"/>
          <p:cNvPicPr preferRelativeResize="0"/>
          <p:nvPr/>
        </p:nvPicPr>
        <p:blipFill rotWithShape="1">
          <a:blip r:embed="rId6">
            <a:alphaModFix/>
          </a:blip>
          <a:srcRect b="0" l="0" r="0" t="0"/>
          <a:stretch/>
        </p:blipFill>
        <p:spPr>
          <a:xfrm>
            <a:off x="5899355" y="1303336"/>
            <a:ext cx="5230765" cy="2458969"/>
          </a:xfrm>
          <a:prstGeom prst="rect">
            <a:avLst/>
          </a:prstGeom>
          <a:noFill/>
          <a:ln cap="flat" cmpd="sng" w="9525">
            <a:solidFill>
              <a:srgbClr val="2A4A48"/>
            </a:solidFill>
            <a:prstDash val="solid"/>
            <a:round/>
            <a:headEnd len="sm" w="sm" type="none"/>
            <a:tailEnd len="sm" w="sm" type="none"/>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pic>
        <p:nvPicPr>
          <p:cNvPr descr="A screenshot of a graph&#10;&#10;Description automatically generated" id="266" name="Google Shape;266;p16"/>
          <p:cNvPicPr preferRelativeResize="0"/>
          <p:nvPr/>
        </p:nvPicPr>
        <p:blipFill rotWithShape="1">
          <a:blip r:embed="rId3">
            <a:alphaModFix/>
          </a:blip>
          <a:srcRect b="0" l="0" r="0" t="0"/>
          <a:stretch/>
        </p:blipFill>
        <p:spPr>
          <a:xfrm>
            <a:off x="538568" y="563286"/>
            <a:ext cx="5557432" cy="2612534"/>
          </a:xfrm>
          <a:prstGeom prst="rect">
            <a:avLst/>
          </a:prstGeom>
          <a:noFill/>
          <a:ln cap="flat" cmpd="sng" w="9525">
            <a:solidFill>
              <a:srgbClr val="2A4A48"/>
            </a:solidFill>
            <a:prstDash val="solid"/>
            <a:round/>
            <a:headEnd len="sm" w="sm" type="none"/>
            <a:tailEnd len="sm" w="sm" type="none"/>
          </a:ln>
        </p:spPr>
      </p:pic>
      <p:sp>
        <p:nvSpPr>
          <p:cNvPr id="267" name="Google Shape;267;p16"/>
          <p:cNvSpPr txBox="1"/>
          <p:nvPr/>
        </p:nvSpPr>
        <p:spPr>
          <a:xfrm>
            <a:off x="6805529" y="791305"/>
            <a:ext cx="3890104" cy="5847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Avenir"/>
                <a:ea typeface="Avenir"/>
                <a:cs typeface="Avenir"/>
                <a:sym typeface="Avenir"/>
              </a:rPr>
              <a:t>The optimal number of cluster is 4 according to silhouette score</a:t>
            </a:r>
            <a:endParaRPr b="1" i="0" sz="1600" u="none" cap="none" strike="noStrike">
              <a:solidFill>
                <a:schemeClr val="dk1"/>
              </a:solidFill>
              <a:latin typeface="Avenir"/>
              <a:ea typeface="Avenir"/>
              <a:cs typeface="Avenir"/>
              <a:sym typeface="Avenir"/>
            </a:endParaRPr>
          </a:p>
        </p:txBody>
      </p:sp>
      <p:sp>
        <p:nvSpPr>
          <p:cNvPr id="268" name="Google Shape;268;p16"/>
          <p:cNvSpPr txBox="1"/>
          <p:nvPr/>
        </p:nvSpPr>
        <p:spPr>
          <a:xfrm>
            <a:off x="765813" y="3247726"/>
            <a:ext cx="10660374" cy="304698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Arial"/>
                <a:ea typeface="Arial"/>
                <a:cs typeface="Arial"/>
                <a:sym typeface="Arial"/>
              </a:rPr>
              <a:t>Significance of Segmentation Quality Evaluation</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The significance of segment quality evaluation lies in its ability to assess the effectiveness of clustering techniques in partitioning data into meaningful groups. It allows us to measure how well the clusters represent the underlying structure of the data and how distinct they are from each other. </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This information is crucial for making informed decisions and drawing actionable insights from the clustered data, such as personalized marketing strategies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Arial"/>
                <a:ea typeface="Arial"/>
                <a:cs typeface="Arial"/>
                <a:sym typeface="Arial"/>
              </a:rPr>
              <a:t>Metric used for Segmentation Quality Evaluation in Retail Data</a:t>
            </a:r>
            <a:endParaRPr b="0" i="0" sz="1600" u="none" cap="none" strike="noStrike">
              <a:solidFill>
                <a:schemeClr val="dk1"/>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Utilized the </a:t>
            </a:r>
            <a:r>
              <a:rPr b="1" i="0" lang="en-US" sz="1600" u="none" cap="none" strike="noStrike">
                <a:solidFill>
                  <a:schemeClr val="dk1"/>
                </a:solidFill>
                <a:latin typeface="Arial"/>
                <a:ea typeface="Arial"/>
                <a:cs typeface="Arial"/>
                <a:sym typeface="Arial"/>
              </a:rPr>
              <a:t>silhouette score metric to evaluate the quality of segments </a:t>
            </a:r>
            <a:r>
              <a:rPr b="0" i="0" lang="en-US" sz="1600" u="none" cap="none" strike="noStrike">
                <a:solidFill>
                  <a:schemeClr val="dk1"/>
                </a:solidFill>
                <a:latin typeface="Arial"/>
                <a:ea typeface="Arial"/>
                <a:cs typeface="Arial"/>
                <a:sym typeface="Arial"/>
              </a:rPr>
              <a:t>and select the most suitable cluster configuration. </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A silhouette score closer to 1 indicates better segmentation quality, and after analysis, we determined the optimal number of clusters to be 4 for both store and department segments.</a:t>
            </a:r>
            <a:endParaRPr b="0" i="0" sz="1400" u="none" cap="none" strike="noStrike">
              <a:solidFill>
                <a:srgbClr val="000000"/>
              </a:solidFill>
              <a:latin typeface="Arial"/>
              <a:ea typeface="Arial"/>
              <a:cs typeface="Arial"/>
              <a:sym typeface="Arial"/>
            </a:endParaRPr>
          </a:p>
        </p:txBody>
      </p:sp>
      <p:sp>
        <p:nvSpPr>
          <p:cNvPr id="269" name="Google Shape;269;p16"/>
          <p:cNvSpPr txBox="1"/>
          <p:nvPr/>
        </p:nvSpPr>
        <p:spPr>
          <a:xfrm>
            <a:off x="6245690" y="1755462"/>
            <a:ext cx="5407742" cy="132343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Arial"/>
                <a:ea typeface="Arial"/>
                <a:cs typeface="Arial"/>
                <a:sym typeface="Arial"/>
              </a:rPr>
              <a:t>Objective-</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Evaluate the effectiveness of the customer segmentation.</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Use metrics to assess the quality of segments in terms of homogeneity and separation.</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p17"/>
          <p:cNvSpPr txBox="1"/>
          <p:nvPr>
            <p:ph type="title"/>
          </p:nvPr>
        </p:nvSpPr>
        <p:spPr>
          <a:xfrm>
            <a:off x="2139745" y="681037"/>
            <a:ext cx="7912510" cy="774137"/>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accent5"/>
              </a:buClr>
              <a:buSzPts val="4400"/>
              <a:buFont typeface="EB Garamond"/>
              <a:buNone/>
            </a:pPr>
            <a:r>
              <a:rPr lang="en-US" sz="4400"/>
              <a:t>Personalization Strategies </a:t>
            </a:r>
            <a:endParaRPr/>
          </a:p>
        </p:txBody>
      </p:sp>
      <p:pic>
        <p:nvPicPr>
          <p:cNvPr descr="A graph of colored dots&#10;&#10;Description automatically generated" id="275" name="Google Shape;275;p17"/>
          <p:cNvPicPr preferRelativeResize="0"/>
          <p:nvPr/>
        </p:nvPicPr>
        <p:blipFill rotWithShape="1">
          <a:blip r:embed="rId3">
            <a:alphaModFix/>
          </a:blip>
          <a:srcRect b="0" l="0" r="0" t="0"/>
          <a:stretch/>
        </p:blipFill>
        <p:spPr>
          <a:xfrm>
            <a:off x="713932" y="1350880"/>
            <a:ext cx="4084210" cy="2456621"/>
          </a:xfrm>
          <a:prstGeom prst="rect">
            <a:avLst/>
          </a:prstGeom>
          <a:noFill/>
          <a:ln cap="flat" cmpd="sng" w="9525">
            <a:solidFill>
              <a:schemeClr val="dk1"/>
            </a:solidFill>
            <a:prstDash val="solid"/>
            <a:round/>
            <a:headEnd len="sm" w="sm" type="none"/>
            <a:tailEnd len="sm" w="sm" type="none"/>
          </a:ln>
        </p:spPr>
      </p:pic>
      <p:pic>
        <p:nvPicPr>
          <p:cNvPr descr="A graph with red and blue dots&#10;&#10;Description automatically generated" id="276" name="Google Shape;276;p17"/>
          <p:cNvPicPr preferRelativeResize="0"/>
          <p:nvPr/>
        </p:nvPicPr>
        <p:blipFill rotWithShape="1">
          <a:blip r:embed="rId4">
            <a:alphaModFix/>
          </a:blip>
          <a:srcRect b="0" l="0" r="0" t="0"/>
          <a:stretch/>
        </p:blipFill>
        <p:spPr>
          <a:xfrm>
            <a:off x="713932" y="3912473"/>
            <a:ext cx="4084210" cy="2456622"/>
          </a:xfrm>
          <a:prstGeom prst="rect">
            <a:avLst/>
          </a:prstGeom>
          <a:noFill/>
          <a:ln cap="flat" cmpd="sng" w="9525">
            <a:solidFill>
              <a:schemeClr val="dk1"/>
            </a:solidFill>
            <a:prstDash val="solid"/>
            <a:round/>
            <a:headEnd len="sm" w="sm" type="none"/>
            <a:tailEnd len="sm" w="sm" type="none"/>
          </a:ln>
        </p:spPr>
      </p:pic>
      <p:sp>
        <p:nvSpPr>
          <p:cNvPr id="277" name="Google Shape;277;p17"/>
          <p:cNvSpPr txBox="1"/>
          <p:nvPr/>
        </p:nvSpPr>
        <p:spPr>
          <a:xfrm>
            <a:off x="5043949" y="1404094"/>
            <a:ext cx="6528619" cy="501675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Arial"/>
                <a:ea typeface="Arial"/>
                <a:cs typeface="Arial"/>
                <a:sym typeface="Arial"/>
              </a:rPr>
              <a:t>Objective-</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Develop personalized marketing strategies based on the store and department segments.</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Propose inventory management strategies tailored to store and department needs.</a:t>
            </a:r>
            <a:endParaRPr b="0" i="0" sz="1400" u="none" cap="none" strike="noStrike">
              <a:solidFill>
                <a:srgbClr val="000000"/>
              </a:solidFill>
              <a:latin typeface="Arial"/>
              <a:ea typeface="Arial"/>
              <a:cs typeface="Arial"/>
              <a:sym typeface="Arial"/>
            </a:endParaRPr>
          </a:p>
          <a:p>
            <a:pPr indent="-184150" lvl="0" marL="285750" marR="0" rtl="0" algn="l">
              <a:lnSpc>
                <a:spcPct val="100000"/>
              </a:lnSpc>
              <a:spcBef>
                <a:spcPts val="0"/>
              </a:spcBef>
              <a:spcAft>
                <a:spcPts val="0"/>
              </a:spcAft>
              <a:buClr>
                <a:schemeClr val="dk1"/>
              </a:buClr>
              <a:buSzPts val="1600"/>
              <a:buFont typeface="Arial"/>
              <a:buNone/>
            </a:pPr>
            <a:r>
              <a:t/>
            </a:r>
            <a:endParaRPr b="0"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Arial"/>
                <a:ea typeface="Arial"/>
                <a:cs typeface="Arial"/>
                <a:sym typeface="Arial"/>
              </a:rPr>
              <a:t>Significance of Personalization Strategies</a:t>
            </a:r>
            <a:endParaRPr b="0"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Arial"/>
                <a:ea typeface="Arial"/>
                <a:cs typeface="Arial"/>
                <a:sym typeface="Arial"/>
              </a:rPr>
              <a:t>The significance of personalization strategies lies in their ability to tailor products, services, and marketing efforts to meet the specific needs and preferences of individual customers. By personalizing interactions and experiences, businesses can enhance customer satisfaction, loyalty, and engagement.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Arial"/>
                <a:ea typeface="Arial"/>
                <a:cs typeface="Arial"/>
                <a:sym typeface="Arial"/>
              </a:rPr>
              <a:t>Significance of Inventory management Strategies</a:t>
            </a:r>
            <a:endParaRPr b="0" i="0" sz="1600" u="none" cap="none" strike="noStrike">
              <a:solidFill>
                <a:schemeClr val="dk1"/>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600"/>
              <a:buFont typeface="Arial"/>
              <a:buChar char="•"/>
            </a:pPr>
            <a:r>
              <a:rPr b="1" i="0" lang="en-US" sz="1600" u="none" cap="none" strike="noStrike">
                <a:solidFill>
                  <a:schemeClr val="dk1"/>
                </a:solidFill>
                <a:latin typeface="Arial"/>
                <a:ea typeface="Arial"/>
                <a:cs typeface="Arial"/>
                <a:sym typeface="Arial"/>
              </a:rPr>
              <a:t>Cost Optimization: </a:t>
            </a:r>
            <a:r>
              <a:rPr b="0" i="0" lang="en-US" sz="1600" u="none" cap="none" strike="noStrike">
                <a:solidFill>
                  <a:schemeClr val="dk1"/>
                </a:solidFill>
                <a:latin typeface="Arial"/>
                <a:ea typeface="Arial"/>
                <a:cs typeface="Arial"/>
                <a:sym typeface="Arial"/>
              </a:rPr>
              <a:t>Effective inventory management helps minimize storage costs by preventing overstocking or stockouts, thus optimizing inventory levels and reducing holding costs.</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600"/>
              <a:buFont typeface="Arial"/>
              <a:buChar char="•"/>
            </a:pPr>
            <a:r>
              <a:rPr b="1" i="0" lang="en-US" sz="1600" u="none" cap="none" strike="noStrike">
                <a:solidFill>
                  <a:schemeClr val="dk1"/>
                </a:solidFill>
                <a:latin typeface="Arial"/>
                <a:ea typeface="Arial"/>
                <a:cs typeface="Arial"/>
                <a:sym typeface="Arial"/>
              </a:rPr>
              <a:t>Improved Cash Flow: </a:t>
            </a:r>
            <a:r>
              <a:rPr b="0" i="0" lang="en-US" sz="1600" u="none" cap="none" strike="noStrike">
                <a:solidFill>
                  <a:schemeClr val="dk1"/>
                </a:solidFill>
                <a:latin typeface="Arial"/>
                <a:ea typeface="Arial"/>
                <a:cs typeface="Arial"/>
                <a:sym typeface="Arial"/>
              </a:rPr>
              <a:t>By maintaining optimal inventory levels, businesses can free up capital that would otherwise be tied up in excess inventory, leading to improved cash flow and liquidity.</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18"/>
          <p:cNvSpPr txBox="1"/>
          <p:nvPr>
            <p:ph type="title"/>
          </p:nvPr>
        </p:nvSpPr>
        <p:spPr>
          <a:xfrm>
            <a:off x="635409" y="582716"/>
            <a:ext cx="10921181" cy="80363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accent5"/>
              </a:buClr>
              <a:buSzPts val="4400"/>
              <a:buFont typeface="EB Garamond"/>
              <a:buNone/>
            </a:pPr>
            <a:r>
              <a:rPr lang="en-US" sz="4400"/>
              <a:t>Personalization Strategies for Store Segments</a:t>
            </a:r>
            <a:endParaRPr/>
          </a:p>
        </p:txBody>
      </p:sp>
      <p:pic>
        <p:nvPicPr>
          <p:cNvPr descr="A graph with green bars&#10;&#10;Description automatically generated" id="283" name="Google Shape;283;p18"/>
          <p:cNvPicPr preferRelativeResize="0"/>
          <p:nvPr/>
        </p:nvPicPr>
        <p:blipFill rotWithShape="1">
          <a:blip r:embed="rId3">
            <a:alphaModFix/>
          </a:blip>
          <a:srcRect b="0" l="0" r="0" t="0"/>
          <a:stretch/>
        </p:blipFill>
        <p:spPr>
          <a:xfrm>
            <a:off x="910730" y="1290315"/>
            <a:ext cx="6481304" cy="2138685"/>
          </a:xfrm>
          <a:prstGeom prst="rect">
            <a:avLst/>
          </a:prstGeom>
          <a:noFill/>
          <a:ln cap="flat" cmpd="sng" w="9525">
            <a:solidFill>
              <a:schemeClr val="dk1"/>
            </a:solidFill>
            <a:prstDash val="solid"/>
            <a:round/>
            <a:headEnd len="sm" w="sm" type="none"/>
            <a:tailEnd len="sm" w="sm" type="none"/>
          </a:ln>
        </p:spPr>
      </p:pic>
      <p:pic>
        <p:nvPicPr>
          <p:cNvPr descr="A graph of blue rectangular bars&#10;&#10;Description automatically generated" id="284" name="Google Shape;284;p18"/>
          <p:cNvPicPr preferRelativeResize="0"/>
          <p:nvPr/>
        </p:nvPicPr>
        <p:blipFill rotWithShape="1">
          <a:blip r:embed="rId4">
            <a:alphaModFix/>
          </a:blip>
          <a:srcRect b="0" l="0" r="0" t="0"/>
          <a:stretch/>
        </p:blipFill>
        <p:spPr>
          <a:xfrm>
            <a:off x="7667355" y="1290315"/>
            <a:ext cx="3338591" cy="2145404"/>
          </a:xfrm>
          <a:prstGeom prst="rect">
            <a:avLst/>
          </a:prstGeom>
          <a:noFill/>
          <a:ln cap="flat" cmpd="sng" w="9525">
            <a:solidFill>
              <a:schemeClr val="dk1"/>
            </a:solidFill>
            <a:prstDash val="solid"/>
            <a:round/>
            <a:headEnd len="sm" w="sm" type="none"/>
            <a:tailEnd len="sm" w="sm" type="none"/>
          </a:ln>
        </p:spPr>
      </p:pic>
      <p:sp>
        <p:nvSpPr>
          <p:cNvPr id="285" name="Google Shape;285;p18"/>
          <p:cNvSpPr txBox="1"/>
          <p:nvPr/>
        </p:nvSpPr>
        <p:spPr>
          <a:xfrm>
            <a:off x="635409" y="3773563"/>
            <a:ext cx="6087701" cy="224676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Arial"/>
                <a:ea typeface="Arial"/>
                <a:cs typeface="Arial"/>
                <a:sym typeface="Arial"/>
              </a:rPr>
              <a:t>Cluster 0: Premium Space Retailers &amp; Sizeable Luxury Stores</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400"/>
              <a:buFont typeface="Arial"/>
              <a:buChar char="•"/>
            </a:pPr>
            <a:r>
              <a:rPr b="0" i="0" lang="en-US" sz="1400" u="none" cap="none" strike="noStrike">
                <a:solidFill>
                  <a:schemeClr val="dk1"/>
                </a:solidFill>
                <a:latin typeface="Arial"/>
                <a:ea typeface="Arial"/>
                <a:cs typeface="Arial"/>
                <a:sym typeface="Arial"/>
              </a:rPr>
              <a:t>Marketing campaigns should highlight the spaciousness and luxury ambiance of the stores.</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400"/>
              <a:buFont typeface="Arial"/>
              <a:buChar char="•"/>
            </a:pPr>
            <a:r>
              <a:rPr b="0" i="0" lang="en-US" sz="1400" u="none" cap="none" strike="noStrike">
                <a:solidFill>
                  <a:schemeClr val="dk1"/>
                </a:solidFill>
                <a:latin typeface="Arial"/>
                <a:ea typeface="Arial"/>
                <a:cs typeface="Arial"/>
                <a:sym typeface="Arial"/>
              </a:rPr>
              <a:t>Emphasize premium product lines and exclusive offerings to attract affluent customers.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Arial"/>
                <a:ea typeface="Arial"/>
                <a:cs typeface="Arial"/>
                <a:sym typeface="Arial"/>
              </a:rPr>
              <a:t>Cluster 1: Value-Oriented Stores</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400"/>
              <a:buFont typeface="Arial"/>
              <a:buChar char="•"/>
            </a:pPr>
            <a:r>
              <a:rPr b="0" i="0" lang="en-US" sz="1400" u="none" cap="none" strike="noStrike">
                <a:solidFill>
                  <a:schemeClr val="dk1"/>
                </a:solidFill>
                <a:latin typeface="Arial"/>
                <a:ea typeface="Arial"/>
                <a:cs typeface="Arial"/>
                <a:sym typeface="Arial"/>
              </a:rPr>
              <a:t>Focus marketing efforts on value-conscious consumers by highlighting competitive pricing and promotions.</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400"/>
              <a:buFont typeface="Arial"/>
              <a:buChar char="•"/>
            </a:pPr>
            <a:r>
              <a:rPr b="0" i="0" lang="en-US" sz="1400" u="none" cap="none" strike="noStrike">
                <a:solidFill>
                  <a:schemeClr val="dk1"/>
                </a:solidFill>
                <a:latin typeface="Arial"/>
                <a:ea typeface="Arial"/>
                <a:cs typeface="Arial"/>
                <a:sym typeface="Arial"/>
              </a:rPr>
              <a:t>Leverage social media platforms and targeted digital advertising to reach budget-conscious shoppers.</a:t>
            </a:r>
            <a:endParaRPr b="0" i="0" sz="1400" u="none" cap="none" strike="noStrike">
              <a:solidFill>
                <a:srgbClr val="000000"/>
              </a:solidFill>
              <a:latin typeface="Arial"/>
              <a:ea typeface="Arial"/>
              <a:cs typeface="Arial"/>
              <a:sym typeface="Arial"/>
            </a:endParaRPr>
          </a:p>
        </p:txBody>
      </p:sp>
      <p:sp>
        <p:nvSpPr>
          <p:cNvPr id="286" name="Google Shape;286;p18"/>
          <p:cNvSpPr txBox="1"/>
          <p:nvPr/>
        </p:nvSpPr>
        <p:spPr>
          <a:xfrm>
            <a:off x="6723110" y="3726638"/>
            <a:ext cx="5049789" cy="224676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Arial"/>
                <a:ea typeface="Arial"/>
                <a:cs typeface="Arial"/>
                <a:sym typeface="Arial"/>
              </a:rPr>
              <a:t>Cluster 2: Budget-Friendly Stores</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400"/>
              <a:buFont typeface="Arial"/>
              <a:buChar char="•"/>
            </a:pPr>
            <a:r>
              <a:rPr b="0" i="0" lang="en-US" sz="1400" u="none" cap="none" strike="noStrike">
                <a:solidFill>
                  <a:schemeClr val="dk1"/>
                </a:solidFill>
                <a:latin typeface="Arial"/>
                <a:ea typeface="Arial"/>
                <a:cs typeface="Arial"/>
                <a:sym typeface="Arial"/>
              </a:rPr>
              <a:t>Promote budget-friendly product lines and emphasize affordability in marketing messaging.</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400"/>
              <a:buFont typeface="Arial"/>
              <a:buChar char="•"/>
            </a:pPr>
            <a:r>
              <a:rPr b="0" i="0" lang="en-US" sz="1400" u="none" cap="none" strike="noStrike">
                <a:solidFill>
                  <a:schemeClr val="dk1"/>
                </a:solidFill>
                <a:latin typeface="Arial"/>
                <a:ea typeface="Arial"/>
                <a:cs typeface="Arial"/>
                <a:sym typeface="Arial"/>
              </a:rPr>
              <a:t>Utilize cost-effective marketing channels such as email campaigns and local advertising.</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Arial"/>
                <a:ea typeface="Arial"/>
                <a:cs typeface="Arial"/>
                <a:sym typeface="Arial"/>
              </a:rPr>
              <a:t>Cluster 3: Compact Elegance Stores</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400"/>
              <a:buFont typeface="Arial"/>
              <a:buChar char="•"/>
            </a:pPr>
            <a:r>
              <a:rPr b="0" i="0" lang="en-US" sz="1400" u="none" cap="none" strike="noStrike">
                <a:solidFill>
                  <a:schemeClr val="dk1"/>
                </a:solidFill>
                <a:latin typeface="Arial"/>
                <a:ea typeface="Arial"/>
                <a:cs typeface="Arial"/>
                <a:sym typeface="Arial"/>
              </a:rPr>
              <a:t>Position the stores as boutique destinations offering curated selections of premium products.</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400"/>
              <a:buFont typeface="Arial"/>
              <a:buChar char="•"/>
            </a:pPr>
            <a:r>
              <a:rPr b="0" i="0" lang="en-US" sz="1400" u="none" cap="none" strike="noStrike">
                <a:solidFill>
                  <a:schemeClr val="dk1"/>
                </a:solidFill>
                <a:latin typeface="Arial"/>
                <a:ea typeface="Arial"/>
                <a:cs typeface="Arial"/>
                <a:sym typeface="Arial"/>
              </a:rPr>
              <a:t>Highlight the elegance and sophistication of the store ambiance in marketing materials.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pic>
        <p:nvPicPr>
          <p:cNvPr descr="A graph of blue rectangular bars&#10;&#10;Description automatically generated with medium confidence" id="291" name="Google Shape;291;p19"/>
          <p:cNvPicPr preferRelativeResize="0"/>
          <p:nvPr/>
        </p:nvPicPr>
        <p:blipFill rotWithShape="1">
          <a:blip r:embed="rId3">
            <a:alphaModFix/>
          </a:blip>
          <a:srcRect b="0" l="0" r="0" t="0"/>
          <a:stretch/>
        </p:blipFill>
        <p:spPr>
          <a:xfrm>
            <a:off x="217539" y="681299"/>
            <a:ext cx="4500412" cy="2927140"/>
          </a:xfrm>
          <a:prstGeom prst="rect">
            <a:avLst/>
          </a:prstGeom>
          <a:noFill/>
          <a:ln cap="flat" cmpd="sng" w="9525">
            <a:solidFill>
              <a:schemeClr val="dk1"/>
            </a:solidFill>
            <a:prstDash val="solid"/>
            <a:round/>
            <a:headEnd len="sm" w="sm" type="none"/>
            <a:tailEnd len="sm" w="sm" type="none"/>
          </a:ln>
        </p:spPr>
      </p:pic>
      <p:sp>
        <p:nvSpPr>
          <p:cNvPr id="292" name="Google Shape;292;p19"/>
          <p:cNvSpPr txBox="1"/>
          <p:nvPr>
            <p:ph type="title"/>
          </p:nvPr>
        </p:nvSpPr>
        <p:spPr>
          <a:xfrm>
            <a:off x="3884972" y="608363"/>
            <a:ext cx="7686368" cy="1325563"/>
          </a:xfrm>
          <a:prstGeom prst="rect">
            <a:avLst/>
          </a:prstGeom>
          <a:solidFill>
            <a:schemeClr val="lt1"/>
          </a:solid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accent5"/>
              </a:buClr>
              <a:buSzPts val="4400"/>
              <a:buFont typeface="Arial"/>
              <a:buNone/>
            </a:pPr>
            <a:r>
              <a:rPr lang="en-US" sz="4400">
                <a:latin typeface="Arial"/>
                <a:ea typeface="Arial"/>
                <a:cs typeface="Arial"/>
                <a:sym typeface="Arial"/>
              </a:rPr>
              <a:t>Personalization Strategies for Department Segments</a:t>
            </a:r>
            <a:endParaRPr sz="4400">
              <a:latin typeface="Arial"/>
              <a:ea typeface="Arial"/>
              <a:cs typeface="Arial"/>
              <a:sym typeface="Arial"/>
            </a:endParaRPr>
          </a:p>
        </p:txBody>
      </p:sp>
      <p:pic>
        <p:nvPicPr>
          <p:cNvPr descr="A graph with green bars&#10;&#10;Description automatically generated" id="293" name="Google Shape;293;p19"/>
          <p:cNvPicPr preferRelativeResize="0"/>
          <p:nvPr/>
        </p:nvPicPr>
        <p:blipFill rotWithShape="1">
          <a:blip r:embed="rId4">
            <a:alphaModFix/>
          </a:blip>
          <a:srcRect b="0" l="0" r="0" t="0"/>
          <a:stretch/>
        </p:blipFill>
        <p:spPr>
          <a:xfrm>
            <a:off x="4605033" y="1839976"/>
            <a:ext cx="7079226" cy="2337294"/>
          </a:xfrm>
          <a:prstGeom prst="rect">
            <a:avLst/>
          </a:prstGeom>
          <a:noFill/>
          <a:ln cap="flat" cmpd="sng" w="9525">
            <a:solidFill>
              <a:schemeClr val="dk1"/>
            </a:solidFill>
            <a:prstDash val="solid"/>
            <a:round/>
            <a:headEnd len="sm" w="sm" type="none"/>
            <a:tailEnd len="sm" w="sm" type="none"/>
          </a:ln>
        </p:spPr>
      </p:pic>
      <p:sp>
        <p:nvSpPr>
          <p:cNvPr id="294" name="Google Shape;294;p19"/>
          <p:cNvSpPr txBox="1"/>
          <p:nvPr/>
        </p:nvSpPr>
        <p:spPr>
          <a:xfrm>
            <a:off x="507741" y="4083319"/>
            <a:ext cx="5209869" cy="224676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Arial"/>
                <a:ea typeface="Arial"/>
                <a:cs typeface="Arial"/>
                <a:sym typeface="Arial"/>
              </a:rPr>
              <a:t>Cluster 0: Sizeable Luxury Departments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Arial"/>
                <a:ea typeface="Arial"/>
                <a:cs typeface="Arial"/>
                <a:sym typeface="Arial"/>
              </a:rPr>
              <a:t>Highlight the spaciousness and luxury ambiance of the departments in marketing materials.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Arial"/>
                <a:ea typeface="Arial"/>
                <a:cs typeface="Arial"/>
                <a:sym typeface="Arial"/>
              </a:rPr>
              <a:t>Promote premium product lines and exclusive offerings to attract affluent customers.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Arial"/>
                <a:ea typeface="Arial"/>
                <a:cs typeface="Arial"/>
                <a:sym typeface="Arial"/>
              </a:rPr>
              <a:t>Cluster 1: Premium Selection Departments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Arial"/>
                <a:ea typeface="Arial"/>
                <a:cs typeface="Arial"/>
                <a:sym typeface="Arial"/>
              </a:rPr>
              <a:t>Emphasize the quality and exclusivity of products in marketing campaigns to appeal to discerning customers.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Arial"/>
                <a:ea typeface="Arial"/>
                <a:cs typeface="Arial"/>
                <a:sym typeface="Arial"/>
              </a:rPr>
              <a:t>Utilize digital marketing channels and social media platforms to reach a wider audience of luxury shoppers.</a:t>
            </a:r>
            <a:endParaRPr b="0" i="0" sz="1400" u="none" cap="none" strike="noStrike">
              <a:solidFill>
                <a:srgbClr val="000000"/>
              </a:solidFill>
              <a:latin typeface="Arial"/>
              <a:ea typeface="Arial"/>
              <a:cs typeface="Arial"/>
              <a:sym typeface="Arial"/>
            </a:endParaRPr>
          </a:p>
        </p:txBody>
      </p:sp>
      <p:sp>
        <p:nvSpPr>
          <p:cNvPr id="295" name="Google Shape;295;p19"/>
          <p:cNvSpPr txBox="1"/>
          <p:nvPr/>
        </p:nvSpPr>
        <p:spPr>
          <a:xfrm>
            <a:off x="5968180" y="4177270"/>
            <a:ext cx="5209869" cy="224676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Arial"/>
                <a:ea typeface="Arial"/>
                <a:cs typeface="Arial"/>
                <a:sym typeface="Arial"/>
              </a:rPr>
              <a:t>Cluster 2: Elite Departments</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400"/>
              <a:buFont typeface="Arial"/>
              <a:buChar char="•"/>
            </a:pPr>
            <a:r>
              <a:rPr b="0" i="0" lang="en-US" sz="1400" u="none" cap="none" strike="noStrike">
                <a:solidFill>
                  <a:schemeClr val="dk1"/>
                </a:solidFill>
                <a:latin typeface="Arial"/>
                <a:ea typeface="Arial"/>
                <a:cs typeface="Arial"/>
                <a:sym typeface="Arial"/>
              </a:rPr>
              <a:t>Position the departments as boutique destinations offering curated selections of premium products.</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400"/>
              <a:buFont typeface="Arial"/>
              <a:buChar char="•"/>
            </a:pPr>
            <a:r>
              <a:rPr b="0" i="0" lang="en-US" sz="1400" u="none" cap="none" strike="noStrike">
                <a:solidFill>
                  <a:schemeClr val="dk1"/>
                </a:solidFill>
                <a:latin typeface="Arial"/>
                <a:ea typeface="Arial"/>
                <a:cs typeface="Arial"/>
                <a:sym typeface="Arial"/>
              </a:rPr>
              <a:t>Showcase the convenience and efficiency of compact physical spaces in marketing materials.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Arial"/>
                <a:ea typeface="Arial"/>
                <a:cs typeface="Arial"/>
                <a:sym typeface="Arial"/>
              </a:rPr>
              <a:t>Cluster 3: Grand Outlets Department</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400"/>
              <a:buFont typeface="Arial"/>
              <a:buChar char="•"/>
            </a:pPr>
            <a:r>
              <a:rPr b="0" i="0" lang="en-US" sz="1400" u="none" cap="none" strike="noStrike">
                <a:solidFill>
                  <a:schemeClr val="dk1"/>
                </a:solidFill>
                <a:latin typeface="Arial"/>
                <a:ea typeface="Arial"/>
                <a:cs typeface="Arial"/>
                <a:sym typeface="Arial"/>
              </a:rPr>
              <a:t>Emphasize the variety and breadth of products available in the departments to appeal to a wider customer base.</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400"/>
              <a:buFont typeface="Arial"/>
              <a:buChar char="•"/>
            </a:pPr>
            <a:r>
              <a:rPr b="0" i="0" lang="en-US" sz="1400" u="none" cap="none" strike="noStrike">
                <a:solidFill>
                  <a:schemeClr val="dk1"/>
                </a:solidFill>
                <a:latin typeface="Arial"/>
                <a:ea typeface="Arial"/>
                <a:cs typeface="Arial"/>
                <a:sym typeface="Arial"/>
              </a:rPr>
              <a:t>Utilize value-driven marketing messages to highlight affordability and attract price-conscious shoppers.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sp>
        <p:nvSpPr>
          <p:cNvPr id="300" name="Google Shape;300;p20"/>
          <p:cNvSpPr txBox="1"/>
          <p:nvPr>
            <p:ph type="title"/>
          </p:nvPr>
        </p:nvSpPr>
        <p:spPr>
          <a:xfrm>
            <a:off x="838200" y="543385"/>
            <a:ext cx="10515600" cy="764305"/>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accent5"/>
              </a:buClr>
              <a:buSzPts val="4400"/>
              <a:buFont typeface="Arial"/>
              <a:buNone/>
            </a:pPr>
            <a:r>
              <a:rPr lang="en-US" sz="4400">
                <a:latin typeface="Arial"/>
                <a:ea typeface="Arial"/>
                <a:cs typeface="Arial"/>
                <a:sym typeface="Arial"/>
              </a:rPr>
              <a:t>Market Basket Analysis</a:t>
            </a:r>
            <a:endParaRPr/>
          </a:p>
        </p:txBody>
      </p:sp>
      <p:pic>
        <p:nvPicPr>
          <p:cNvPr id="301" name="Google Shape;301;p20"/>
          <p:cNvPicPr preferRelativeResize="0"/>
          <p:nvPr/>
        </p:nvPicPr>
        <p:blipFill rotWithShape="1">
          <a:blip r:embed="rId3">
            <a:alphaModFix/>
          </a:blip>
          <a:srcRect b="0" l="0" r="0" t="0"/>
          <a:stretch/>
        </p:blipFill>
        <p:spPr>
          <a:xfrm>
            <a:off x="612058" y="1307690"/>
            <a:ext cx="6860458" cy="2272565"/>
          </a:xfrm>
          <a:prstGeom prst="rect">
            <a:avLst/>
          </a:prstGeom>
          <a:noFill/>
          <a:ln>
            <a:noFill/>
          </a:ln>
        </p:spPr>
      </p:pic>
      <p:sp>
        <p:nvSpPr>
          <p:cNvPr id="302" name="Google Shape;302;p20"/>
          <p:cNvSpPr txBox="1"/>
          <p:nvPr/>
        </p:nvSpPr>
        <p:spPr>
          <a:xfrm>
            <a:off x="4042287" y="3662314"/>
            <a:ext cx="7677766" cy="267765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Arial"/>
                <a:ea typeface="Arial"/>
                <a:cs typeface="Arial"/>
                <a:sym typeface="Arial"/>
              </a:rPr>
              <a:t>Significance of Market Basket Analysis</a:t>
            </a:r>
            <a:endParaRPr b="0" i="0" sz="1400" u="none" cap="none" strike="noStrike">
              <a:solidFill>
                <a:schemeClr val="dk1"/>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400"/>
              <a:buFont typeface="Arial"/>
              <a:buChar char="•"/>
            </a:pPr>
            <a:r>
              <a:rPr b="0" i="0" lang="en-US" sz="1400" u="none" cap="none" strike="noStrike">
                <a:solidFill>
                  <a:schemeClr val="dk1"/>
                </a:solidFill>
                <a:latin typeface="Arial"/>
                <a:ea typeface="Arial"/>
                <a:cs typeface="Arial"/>
                <a:sym typeface="Arial"/>
              </a:rPr>
              <a:t>Market basket analysis is a </a:t>
            </a:r>
            <a:r>
              <a:rPr b="1" i="0" lang="en-US" sz="1400" u="none" cap="none" strike="noStrike">
                <a:solidFill>
                  <a:schemeClr val="dk1"/>
                </a:solidFill>
                <a:latin typeface="Arial"/>
                <a:ea typeface="Arial"/>
                <a:cs typeface="Arial"/>
                <a:sym typeface="Arial"/>
              </a:rPr>
              <a:t>strategic data mining technique used by retailers to enhance sales by gaining a deeper understanding of customer purchasing patterns</a:t>
            </a:r>
            <a:r>
              <a:rPr b="0" i="0" lang="en-US" sz="1400" u="none" cap="none" strike="noStrike">
                <a:solidFill>
                  <a:schemeClr val="dk1"/>
                </a:solidFill>
                <a:latin typeface="Arial"/>
                <a:ea typeface="Arial"/>
                <a:cs typeface="Arial"/>
                <a:sym typeface="Arial"/>
              </a:rPr>
              <a:t>. This method involves examining substantial datasets, such as historical purchase records, to unveil inherent product groupings and identify items that customers tend to buy together.</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400"/>
              <a:buFont typeface="Arial"/>
              <a:buChar char="•"/>
            </a:pPr>
            <a:r>
              <a:rPr b="0" i="0" lang="en-US" sz="1400" u="none" cap="none" strike="noStrike">
                <a:solidFill>
                  <a:schemeClr val="dk1"/>
                </a:solidFill>
                <a:latin typeface="Arial"/>
                <a:ea typeface="Arial"/>
                <a:cs typeface="Arial"/>
                <a:sym typeface="Arial"/>
              </a:rPr>
              <a:t>By recognizing these patterns of co-occurrence, retailers can make informed decisions to optimize inventory management, devise effective marketing strategies, employ cross-selling tactics.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Arial"/>
                <a:ea typeface="Arial"/>
                <a:cs typeface="Arial"/>
                <a:sym typeface="Arial"/>
              </a:rPr>
              <a:t>Algorithms Used in Market Basket Analysis in Retail Data</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Arial"/>
                <a:ea typeface="Arial"/>
                <a:cs typeface="Arial"/>
                <a:sym typeface="Arial"/>
              </a:rPr>
              <a:t>The </a:t>
            </a:r>
            <a:r>
              <a:rPr b="1" i="0" lang="en-US" sz="1400" u="none" cap="none" strike="noStrike">
                <a:solidFill>
                  <a:schemeClr val="dk1"/>
                </a:solidFill>
                <a:latin typeface="Arial"/>
                <a:ea typeface="Arial"/>
                <a:cs typeface="Arial"/>
                <a:sym typeface="Arial"/>
              </a:rPr>
              <a:t>Apriori Algorithm widely uses and is well-known for Association Rule mining</a:t>
            </a:r>
            <a:r>
              <a:rPr b="0" i="0" lang="en-US" sz="1400" u="none" cap="none" strike="noStrike">
                <a:solidFill>
                  <a:schemeClr val="dk1"/>
                </a:solidFill>
                <a:latin typeface="Arial"/>
                <a:ea typeface="Arial"/>
                <a:cs typeface="Arial"/>
                <a:sym typeface="Arial"/>
              </a:rPr>
              <a:t>, making it a popular choice in market basket analysis. </a:t>
            </a:r>
            <a:endParaRPr b="0" i="0" sz="1400" u="none" cap="none" strike="noStrike">
              <a:solidFill>
                <a:srgbClr val="000000"/>
              </a:solidFill>
              <a:latin typeface="Arial"/>
              <a:ea typeface="Arial"/>
              <a:cs typeface="Arial"/>
              <a:sym typeface="Arial"/>
            </a:endParaRPr>
          </a:p>
        </p:txBody>
      </p:sp>
      <p:sp>
        <p:nvSpPr>
          <p:cNvPr id="303" name="Google Shape;303;p20"/>
          <p:cNvSpPr txBox="1"/>
          <p:nvPr/>
        </p:nvSpPr>
        <p:spPr>
          <a:xfrm>
            <a:off x="7698658" y="1297571"/>
            <a:ext cx="3693242" cy="160043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Arial"/>
                <a:ea typeface="Arial"/>
                <a:cs typeface="Arial"/>
                <a:sym typeface="Arial"/>
              </a:rPr>
              <a:t>Objective-</a:t>
            </a:r>
            <a:endParaRPr b="0" i="0" sz="1400" u="none" cap="none" strike="noStrike">
              <a:solidFill>
                <a:schemeClr val="dk1"/>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400"/>
              <a:buFont typeface="Arial"/>
              <a:buChar char="•"/>
            </a:pPr>
            <a:r>
              <a:rPr b="0" i="0" lang="en-US" sz="1400" u="none" cap="none" strike="noStrike">
                <a:solidFill>
                  <a:schemeClr val="dk1"/>
                </a:solidFill>
                <a:latin typeface="Arial"/>
                <a:ea typeface="Arial"/>
                <a:cs typeface="Arial"/>
                <a:sym typeface="Arial"/>
              </a:rPr>
              <a:t>In market basket analysis we have tried to find out the association within different departments with the different stores in the given sales data.</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400"/>
              <a:buFont typeface="Arial"/>
              <a:buChar char="•"/>
            </a:pPr>
            <a:r>
              <a:rPr b="0" i="0" lang="en-US" sz="1400" u="none" cap="none" strike="noStrike">
                <a:solidFill>
                  <a:schemeClr val="dk1"/>
                </a:solidFill>
                <a:latin typeface="Arial"/>
                <a:ea typeface="Arial"/>
                <a:cs typeface="Arial"/>
                <a:sym typeface="Arial"/>
              </a:rPr>
              <a:t>Develop cross-selling strategies based on these inferences.</a:t>
            </a:r>
            <a:endParaRPr b="0" i="0" sz="1400" u="none" cap="none" strike="noStrike">
              <a:solidFill>
                <a:srgbClr val="000000"/>
              </a:solidFill>
              <a:latin typeface="Arial"/>
              <a:ea typeface="Arial"/>
              <a:cs typeface="Arial"/>
              <a:sym typeface="Arial"/>
            </a:endParaRPr>
          </a:p>
        </p:txBody>
      </p:sp>
      <p:sp>
        <p:nvSpPr>
          <p:cNvPr id="304" name="Google Shape;304;p20"/>
          <p:cNvSpPr txBox="1"/>
          <p:nvPr/>
        </p:nvSpPr>
        <p:spPr>
          <a:xfrm>
            <a:off x="722671" y="3717320"/>
            <a:ext cx="3319616" cy="2246769"/>
          </a:xfrm>
          <a:prstGeom prst="rect">
            <a:avLst/>
          </a:prstGeom>
          <a:no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Arial"/>
                <a:ea typeface="Arial"/>
                <a:cs typeface="Arial"/>
                <a:sym typeface="Arial"/>
              </a:rPr>
              <a:t>The output of the analysis consists of association rules that reveal </a:t>
            </a:r>
            <a:r>
              <a:rPr b="1" i="0" lang="en-US" sz="1400" u="none" cap="none" strike="noStrike">
                <a:solidFill>
                  <a:schemeClr val="dk1"/>
                </a:solidFill>
                <a:latin typeface="Arial"/>
                <a:ea typeface="Arial"/>
                <a:cs typeface="Arial"/>
                <a:sym typeface="Arial"/>
              </a:rPr>
              <a:t>relationships between departments</a:t>
            </a:r>
            <a:r>
              <a:rPr b="0" i="0" lang="en-US" sz="1400" u="none" cap="none" strike="noStrike">
                <a:solidFill>
                  <a:schemeClr val="dk1"/>
                </a:solidFill>
                <a:latin typeface="Arial"/>
                <a:ea typeface="Arial"/>
                <a:cs typeface="Arial"/>
                <a:sym typeface="Arial"/>
              </a:rPr>
              <a:t>. Each rule specifies a set of items (antecedent) that are associated with another set of items (consequent). For example, a rule might indicate that when department 29 is present, items in stores 1, 2, 3, ..., 45 tend to be purchased together.</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sp>
        <p:nvSpPr>
          <p:cNvPr id="309" name="Google Shape;309;p21"/>
          <p:cNvSpPr txBox="1"/>
          <p:nvPr>
            <p:ph type="title"/>
          </p:nvPr>
        </p:nvSpPr>
        <p:spPr>
          <a:xfrm>
            <a:off x="2218403" y="602380"/>
            <a:ext cx="7755194" cy="823298"/>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accent5"/>
              </a:buClr>
              <a:buSzPts val="4400"/>
              <a:buFont typeface="EB Garamond"/>
              <a:buNone/>
            </a:pPr>
            <a:r>
              <a:rPr lang="en-US" sz="4400"/>
              <a:t>Market Basket Analysis</a:t>
            </a:r>
            <a:endParaRPr/>
          </a:p>
        </p:txBody>
      </p:sp>
      <p:sp>
        <p:nvSpPr>
          <p:cNvPr id="310" name="Google Shape;310;p21"/>
          <p:cNvSpPr txBox="1"/>
          <p:nvPr/>
        </p:nvSpPr>
        <p:spPr>
          <a:xfrm>
            <a:off x="565355" y="1546639"/>
            <a:ext cx="11061289" cy="470898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Arial"/>
                <a:ea typeface="Arial"/>
                <a:cs typeface="Arial"/>
                <a:sym typeface="Arial"/>
              </a:rPr>
              <a:t>Implementation: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Arial"/>
                <a:ea typeface="Arial"/>
                <a:cs typeface="Arial"/>
                <a:sym typeface="Arial"/>
              </a:rPr>
              <a:t>The Apriori algorithm is applied to the sales data with specific parameters such as minimum support, confidence, lift, and length. This algorithm efficiently discovers frequent itemset and generates association rules based on these itemset.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Arial"/>
                <a:ea typeface="Arial"/>
                <a:cs typeface="Arial"/>
                <a:sym typeface="Arial"/>
              </a:rPr>
              <a:t>Association Results:</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400"/>
              <a:buFont typeface="Arial"/>
              <a:buChar char="•"/>
            </a:pPr>
            <a:r>
              <a:rPr b="0" i="0" lang="en-US" sz="1400" u="none" cap="none" strike="noStrike">
                <a:solidFill>
                  <a:schemeClr val="dk1"/>
                </a:solidFill>
                <a:latin typeface="Arial"/>
                <a:ea typeface="Arial"/>
                <a:cs typeface="Arial"/>
                <a:sym typeface="Arial"/>
              </a:rPr>
              <a:t>The association results are printed out, showing each association rule along with its support, confidence, and lift. For example, a rule might indicate that when department 29 is present, there is a high confidence (e.g., 95%) that stores 1, 2, 3, ..., 45 will also be present in the same transaction, with a lift value indicating the strength of the association.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Arial"/>
                <a:ea typeface="Arial"/>
                <a:cs typeface="Arial"/>
                <a:sym typeface="Arial"/>
              </a:rPr>
              <a:t>Develop cross-selling strategies based on these inferences</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400"/>
              <a:buFont typeface="Arial"/>
              <a:buChar char="•"/>
            </a:pPr>
            <a:r>
              <a:rPr b="1" i="0" lang="en-US" sz="1400" u="none" cap="none" strike="noStrike">
                <a:solidFill>
                  <a:schemeClr val="dk1"/>
                </a:solidFill>
                <a:latin typeface="Arial"/>
                <a:ea typeface="Arial"/>
                <a:cs typeface="Arial"/>
                <a:sym typeface="Arial"/>
              </a:rPr>
              <a:t>Optimize Store Layout: </a:t>
            </a:r>
            <a:r>
              <a:rPr b="0" i="0" lang="en-US" sz="1400" u="none" cap="none" strike="noStrike">
                <a:solidFill>
                  <a:schemeClr val="dk1"/>
                </a:solidFill>
                <a:latin typeface="Arial"/>
                <a:ea typeface="Arial"/>
                <a:cs typeface="Arial"/>
                <a:sym typeface="Arial"/>
              </a:rPr>
              <a:t>Utilize the associations between departments and stores to optimize the layout of each store. Place related departments in close proximity to each other within the store to encourage cross-store purchases. For example, if departments 29 and 30 are frequently purchased together across various stores, consider placing them adjacent to each other to facilitate cross-department sales.</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400"/>
              <a:buFont typeface="Arial"/>
              <a:buChar char="•"/>
            </a:pPr>
            <a:r>
              <a:rPr b="1" i="0" lang="en-US" sz="1400" u="none" cap="none" strike="noStrike">
                <a:solidFill>
                  <a:schemeClr val="dk1"/>
                </a:solidFill>
                <a:latin typeface="Arial"/>
                <a:ea typeface="Arial"/>
                <a:cs typeface="Arial"/>
                <a:sym typeface="Arial"/>
              </a:rPr>
              <a:t>Create Bundled Offers: </a:t>
            </a:r>
            <a:r>
              <a:rPr b="0" i="0" lang="en-US" sz="1400" u="none" cap="none" strike="noStrike">
                <a:solidFill>
                  <a:schemeClr val="dk1"/>
                </a:solidFill>
                <a:latin typeface="Arial"/>
                <a:ea typeface="Arial"/>
                <a:cs typeface="Arial"/>
                <a:sym typeface="Arial"/>
              </a:rPr>
              <a:t>Identify departments that exhibit strong associations across multiple stores, such as departments 35 and 36. Create bundled offers or package deals that include products from both departments to incentivize customers to make cross-department purchases.</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400"/>
              <a:buFont typeface="Arial"/>
              <a:buChar char="•"/>
            </a:pPr>
            <a:r>
              <a:rPr b="1" i="0" lang="en-US" sz="1400" u="none" cap="none" strike="noStrike">
                <a:solidFill>
                  <a:schemeClr val="dk1"/>
                </a:solidFill>
                <a:latin typeface="Arial"/>
                <a:ea typeface="Arial"/>
                <a:cs typeface="Arial"/>
                <a:sym typeface="Arial"/>
              </a:rPr>
              <a:t>Targeted Promotions: </a:t>
            </a:r>
            <a:r>
              <a:rPr b="0" i="0" lang="en-US" sz="1400" u="none" cap="none" strike="noStrike">
                <a:solidFill>
                  <a:schemeClr val="dk1"/>
                </a:solidFill>
                <a:latin typeface="Arial"/>
                <a:ea typeface="Arial"/>
                <a:cs typeface="Arial"/>
                <a:sym typeface="Arial"/>
              </a:rPr>
              <a:t>Develop targeted promotions and marketing campaigns based on the associations between departments and stores. For instance, if department 37 frequently co-occurs with departments 1, 2, 4, and 40 across different stores, create promotions that span these departments to capitalize on customer purchase patterns.</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400"/>
              <a:buFont typeface="Arial"/>
              <a:buChar char="•"/>
            </a:pPr>
            <a:r>
              <a:rPr b="1" i="0" lang="en-US" sz="1400" u="none" cap="none" strike="noStrike">
                <a:solidFill>
                  <a:schemeClr val="dk1"/>
                </a:solidFill>
                <a:latin typeface="Arial"/>
                <a:ea typeface="Arial"/>
                <a:cs typeface="Arial"/>
                <a:sym typeface="Arial"/>
              </a:rPr>
              <a:t>Dynamic Pricing Strategies: </a:t>
            </a:r>
            <a:r>
              <a:rPr b="0" i="0" lang="en-US" sz="1400" u="none" cap="none" strike="noStrike">
                <a:solidFill>
                  <a:schemeClr val="dk1"/>
                </a:solidFill>
                <a:latin typeface="Arial"/>
                <a:ea typeface="Arial"/>
                <a:cs typeface="Arial"/>
                <a:sym typeface="Arial"/>
              </a:rPr>
              <a:t>Adjust pricing strategies based on the associations between departments and stores. Offer discounts or special pricing for products that are frequently purchased together across different stores to stimulate sales and increase customer satisfaction.</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p22"/>
          <p:cNvSpPr txBox="1"/>
          <p:nvPr>
            <p:ph type="title"/>
          </p:nvPr>
        </p:nvSpPr>
        <p:spPr>
          <a:xfrm>
            <a:off x="938981" y="563050"/>
            <a:ext cx="10515600" cy="774137"/>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accent5"/>
              </a:buClr>
              <a:buSzPts val="4400"/>
              <a:buFont typeface="EB Garamond"/>
              <a:buNone/>
            </a:pPr>
            <a:r>
              <a:rPr lang="en-US" sz="4400"/>
              <a:t>Demand Forecasting</a:t>
            </a:r>
            <a:endParaRPr/>
          </a:p>
        </p:txBody>
      </p:sp>
      <p:grpSp>
        <p:nvGrpSpPr>
          <p:cNvPr id="316" name="Google Shape;316;p22"/>
          <p:cNvGrpSpPr/>
          <p:nvPr/>
        </p:nvGrpSpPr>
        <p:grpSpPr>
          <a:xfrm>
            <a:off x="626000" y="3854091"/>
            <a:ext cx="4564897" cy="2440859"/>
            <a:chOff x="626000" y="3854091"/>
            <a:chExt cx="4564897" cy="2440859"/>
          </a:xfrm>
        </p:grpSpPr>
        <p:pic>
          <p:nvPicPr>
            <p:cNvPr descr="A graph of a graph with blue lines and orange lines&#10;&#10;Description automatically generated" id="317" name="Google Shape;317;p22"/>
            <p:cNvPicPr preferRelativeResize="0"/>
            <p:nvPr/>
          </p:nvPicPr>
          <p:blipFill rotWithShape="1">
            <a:blip r:embed="rId3">
              <a:alphaModFix/>
            </a:blip>
            <a:srcRect b="0" l="0" r="0" t="0"/>
            <a:stretch/>
          </p:blipFill>
          <p:spPr>
            <a:xfrm>
              <a:off x="626000" y="3854091"/>
              <a:ext cx="4564897" cy="2440859"/>
            </a:xfrm>
            <a:prstGeom prst="rect">
              <a:avLst/>
            </a:prstGeom>
            <a:noFill/>
            <a:ln cap="flat" cmpd="sng" w="9525">
              <a:solidFill>
                <a:schemeClr val="dk1"/>
              </a:solidFill>
              <a:prstDash val="solid"/>
              <a:round/>
              <a:headEnd len="sm" w="sm" type="none"/>
              <a:tailEnd len="sm" w="sm" type="none"/>
            </a:ln>
          </p:spPr>
        </p:pic>
        <p:pic>
          <p:nvPicPr>
            <p:cNvPr id="318" name="Google Shape;318;p22"/>
            <p:cNvPicPr preferRelativeResize="0"/>
            <p:nvPr/>
          </p:nvPicPr>
          <p:blipFill rotWithShape="1">
            <a:blip r:embed="rId4">
              <a:alphaModFix/>
            </a:blip>
            <a:srcRect b="0" l="0" r="0" t="0"/>
            <a:stretch/>
          </p:blipFill>
          <p:spPr>
            <a:xfrm>
              <a:off x="2182202" y="4137036"/>
              <a:ext cx="2016173" cy="321954"/>
            </a:xfrm>
            <a:prstGeom prst="rect">
              <a:avLst/>
            </a:prstGeom>
            <a:noFill/>
            <a:ln cap="flat" cmpd="sng" w="9525">
              <a:solidFill>
                <a:schemeClr val="dk1"/>
              </a:solidFill>
              <a:prstDash val="solid"/>
              <a:round/>
              <a:headEnd len="sm" w="sm" type="none"/>
              <a:tailEnd len="sm" w="sm" type="none"/>
            </a:ln>
          </p:spPr>
        </p:pic>
      </p:grpSp>
      <p:grpSp>
        <p:nvGrpSpPr>
          <p:cNvPr id="319" name="Google Shape;319;p22"/>
          <p:cNvGrpSpPr/>
          <p:nvPr/>
        </p:nvGrpSpPr>
        <p:grpSpPr>
          <a:xfrm>
            <a:off x="679487" y="1271761"/>
            <a:ext cx="4564897" cy="2440858"/>
            <a:chOff x="752756" y="1129614"/>
            <a:chExt cx="4564897" cy="2440858"/>
          </a:xfrm>
        </p:grpSpPr>
        <p:pic>
          <p:nvPicPr>
            <p:cNvPr descr="A graph with blue and orange lines&#10;&#10;Description automatically generated" id="320" name="Google Shape;320;p22"/>
            <p:cNvPicPr preferRelativeResize="0"/>
            <p:nvPr/>
          </p:nvPicPr>
          <p:blipFill rotWithShape="1">
            <a:blip r:embed="rId5">
              <a:alphaModFix/>
            </a:blip>
            <a:srcRect b="0" l="0" r="0" t="0"/>
            <a:stretch/>
          </p:blipFill>
          <p:spPr>
            <a:xfrm>
              <a:off x="752756" y="1129614"/>
              <a:ext cx="4564897" cy="2440858"/>
            </a:xfrm>
            <a:prstGeom prst="rect">
              <a:avLst/>
            </a:prstGeom>
            <a:noFill/>
            <a:ln cap="flat" cmpd="sng" w="9525">
              <a:solidFill>
                <a:schemeClr val="dk1"/>
              </a:solidFill>
              <a:prstDash val="solid"/>
              <a:round/>
              <a:headEnd len="sm" w="sm" type="none"/>
              <a:tailEnd len="sm" w="sm" type="none"/>
            </a:ln>
          </p:spPr>
        </p:pic>
        <p:pic>
          <p:nvPicPr>
            <p:cNvPr id="321" name="Google Shape;321;p22"/>
            <p:cNvPicPr preferRelativeResize="0"/>
            <p:nvPr/>
          </p:nvPicPr>
          <p:blipFill rotWithShape="1">
            <a:blip r:embed="rId6">
              <a:alphaModFix/>
            </a:blip>
            <a:srcRect b="0" l="0" r="0" t="0"/>
            <a:stretch/>
          </p:blipFill>
          <p:spPr>
            <a:xfrm>
              <a:off x="2313428" y="1611662"/>
              <a:ext cx="2081591" cy="361217"/>
            </a:xfrm>
            <a:prstGeom prst="rect">
              <a:avLst/>
            </a:prstGeom>
            <a:noFill/>
            <a:ln cap="flat" cmpd="sng" w="9525">
              <a:solidFill>
                <a:schemeClr val="dk1"/>
              </a:solidFill>
              <a:prstDash val="solid"/>
              <a:round/>
              <a:headEnd len="sm" w="sm" type="none"/>
              <a:tailEnd len="sm" w="sm" type="none"/>
            </a:ln>
          </p:spPr>
        </p:pic>
      </p:grpSp>
      <p:sp>
        <p:nvSpPr>
          <p:cNvPr id="322" name="Google Shape;322;p22"/>
          <p:cNvSpPr txBox="1"/>
          <p:nvPr/>
        </p:nvSpPr>
        <p:spPr>
          <a:xfrm>
            <a:off x="5301482" y="1512016"/>
            <a:ext cx="6096000" cy="440120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Arial"/>
                <a:ea typeface="Arial"/>
                <a:cs typeface="Arial"/>
                <a:sym typeface="Arial"/>
              </a:rPr>
              <a:t>Objective-</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400"/>
              <a:buFont typeface="Arial"/>
              <a:buChar char="•"/>
            </a:pPr>
            <a:r>
              <a:rPr b="0" i="0" lang="en-US" sz="1400" u="none" cap="none" strike="noStrike">
                <a:solidFill>
                  <a:schemeClr val="dk1"/>
                </a:solidFill>
                <a:latin typeface="Arial"/>
                <a:ea typeface="Arial"/>
                <a:cs typeface="Arial"/>
                <a:sym typeface="Arial"/>
              </a:rPr>
              <a:t>Build models to forecast weekly sales for each store and department.</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400"/>
              <a:buFont typeface="Arial"/>
              <a:buChar char="•"/>
            </a:pPr>
            <a:r>
              <a:rPr b="0" i="0" lang="en-US" sz="1400" u="none" cap="none" strike="noStrike">
                <a:solidFill>
                  <a:schemeClr val="dk1"/>
                </a:solidFill>
                <a:latin typeface="Arial"/>
                <a:ea typeface="Arial"/>
                <a:cs typeface="Arial"/>
                <a:sym typeface="Arial"/>
              </a:rPr>
              <a:t>Incorporate factors like CPI, unemployment rate, fuel prices, and store/dept attributes.</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400"/>
              <a:buFont typeface="Arial"/>
              <a:buChar char="•"/>
            </a:pPr>
            <a:r>
              <a:rPr b="0" i="0" lang="en-US" sz="1400" u="none" cap="none" strike="noStrike">
                <a:solidFill>
                  <a:schemeClr val="dk1"/>
                </a:solidFill>
                <a:latin typeface="Arial"/>
                <a:ea typeface="Arial"/>
                <a:cs typeface="Arial"/>
                <a:sym typeface="Arial"/>
              </a:rPr>
              <a:t>Explore short-term and long-term forecasting models.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Arial"/>
                <a:ea typeface="Arial"/>
                <a:cs typeface="Arial"/>
                <a:sym typeface="Arial"/>
              </a:rPr>
              <a:t>Significance of Demand Forecasting</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400"/>
              <a:buFont typeface="Arial"/>
              <a:buChar char="•"/>
            </a:pPr>
            <a:r>
              <a:rPr b="0" i="0" lang="en-US" sz="1400" u="none" cap="none" strike="noStrike">
                <a:solidFill>
                  <a:schemeClr val="dk1"/>
                </a:solidFill>
                <a:latin typeface="Arial"/>
                <a:ea typeface="Arial"/>
                <a:cs typeface="Arial"/>
                <a:sym typeface="Arial"/>
              </a:rPr>
              <a:t>Demand forecasting is a process used by businesses to predict future customer demand for their products or services. </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400"/>
              <a:buFont typeface="Arial"/>
              <a:buChar char="•"/>
            </a:pPr>
            <a:r>
              <a:rPr b="0" i="0" lang="en-US" sz="1400" u="none" cap="none" strike="noStrike">
                <a:solidFill>
                  <a:schemeClr val="dk1"/>
                </a:solidFill>
                <a:latin typeface="Arial"/>
                <a:ea typeface="Arial"/>
                <a:cs typeface="Arial"/>
                <a:sym typeface="Arial"/>
              </a:rPr>
              <a:t>It involves analyzing historical sales data, market trends, and other relevant factors to estimate the quantity of goods or services that customers are likely to purchase over a specific period of time.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Arial"/>
                <a:ea typeface="Arial"/>
                <a:cs typeface="Arial"/>
                <a:sym typeface="Arial"/>
              </a:rPr>
              <a:t>Models Used for Demand Forecasting in Retail Data</a:t>
            </a:r>
            <a:endParaRPr b="0" i="0" sz="1400" u="none" cap="none" strike="noStrike">
              <a:solidFill>
                <a:schemeClr val="dk1"/>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400"/>
              <a:buFont typeface="Arial"/>
              <a:buChar char="•"/>
            </a:pPr>
            <a:r>
              <a:rPr b="0" i="0" lang="en-US" sz="1400" u="none" cap="none" strike="noStrike">
                <a:solidFill>
                  <a:schemeClr val="dk1"/>
                </a:solidFill>
                <a:latin typeface="Arial"/>
                <a:ea typeface="Arial"/>
                <a:cs typeface="Arial"/>
                <a:sym typeface="Arial"/>
              </a:rPr>
              <a:t>Short-term forecasting model(SARIMA)- Predicting future events or values over a relatively brief period, often within weeks or months, for immediate operational decisions.</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400"/>
              <a:buFont typeface="Arial"/>
              <a:buChar char="•"/>
            </a:pPr>
            <a:r>
              <a:rPr b="0" i="0" lang="en-US" sz="1400" u="none" cap="none" strike="noStrike">
                <a:solidFill>
                  <a:schemeClr val="dk1"/>
                </a:solidFill>
                <a:latin typeface="Arial"/>
                <a:ea typeface="Arial"/>
                <a:cs typeface="Arial"/>
                <a:sym typeface="Arial"/>
              </a:rPr>
              <a:t>Long-term forecasting model(Random Forest)- Predicting future trends and values over an extended period, typically spanning months to years, for strategic planning and decision-making.</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sp>
        <p:nvSpPr>
          <p:cNvPr id="327" name="Google Shape;327;p23"/>
          <p:cNvSpPr txBox="1"/>
          <p:nvPr/>
        </p:nvSpPr>
        <p:spPr>
          <a:xfrm>
            <a:off x="6673587" y="648798"/>
            <a:ext cx="4404851" cy="224676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Arial"/>
                <a:ea typeface="Arial"/>
                <a:cs typeface="Arial"/>
                <a:sym typeface="Arial"/>
              </a:rPr>
              <a:t>Forecasting for 2013</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Arial"/>
                <a:ea typeface="Arial"/>
                <a:cs typeface="Arial"/>
                <a:sym typeface="Arial"/>
              </a:rPr>
              <a:t>Forecasting using the Holt-Winters Model</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400"/>
              <a:buFont typeface="Arial"/>
              <a:buChar char="•"/>
            </a:pPr>
            <a:r>
              <a:rPr b="0" i="0" lang="en-US" sz="1400" u="none" cap="none" strike="noStrike">
                <a:solidFill>
                  <a:schemeClr val="dk1"/>
                </a:solidFill>
                <a:latin typeface="Arial"/>
                <a:ea typeface="Arial"/>
                <a:cs typeface="Arial"/>
                <a:sym typeface="Arial"/>
              </a:rPr>
              <a:t>To perform forecasting using the Holt-Winters Model, also known as Triple Exponential Smoothing.</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400"/>
              <a:buFont typeface="Arial"/>
              <a:buChar char="•"/>
            </a:pPr>
            <a:r>
              <a:rPr b="0" i="0" lang="en-US" sz="1400" u="none" cap="none" strike="noStrike">
                <a:solidFill>
                  <a:schemeClr val="dk1"/>
                </a:solidFill>
                <a:latin typeface="Arial"/>
                <a:ea typeface="Arial"/>
                <a:cs typeface="Arial"/>
                <a:sym typeface="Arial"/>
              </a:rPr>
              <a:t>We can leverage the Holt-Winters Model to perform forecasting and predict future weekly sales for each store and department, taking into account the level, trend, and seasonality components of the data.</a:t>
            </a:r>
            <a:endParaRPr b="0" i="0" sz="1400" u="none" cap="none" strike="noStrike">
              <a:solidFill>
                <a:srgbClr val="000000"/>
              </a:solidFill>
              <a:latin typeface="Arial"/>
              <a:ea typeface="Arial"/>
              <a:cs typeface="Arial"/>
              <a:sym typeface="Arial"/>
            </a:endParaRPr>
          </a:p>
        </p:txBody>
      </p:sp>
      <p:pic>
        <p:nvPicPr>
          <p:cNvPr descr="A graph of a graph&#10;&#10;Description automatically generated with medium confidence" id="328" name="Google Shape;328;p23"/>
          <p:cNvPicPr preferRelativeResize="0"/>
          <p:nvPr/>
        </p:nvPicPr>
        <p:blipFill rotWithShape="1">
          <a:blip r:embed="rId3">
            <a:alphaModFix/>
          </a:blip>
          <a:srcRect b="0" l="0" r="0" t="0"/>
          <a:stretch/>
        </p:blipFill>
        <p:spPr>
          <a:xfrm>
            <a:off x="5535562" y="3030684"/>
            <a:ext cx="6095998" cy="3178518"/>
          </a:xfrm>
          <a:prstGeom prst="rect">
            <a:avLst/>
          </a:prstGeom>
          <a:noFill/>
          <a:ln cap="flat" cmpd="sng" w="9525">
            <a:solidFill>
              <a:schemeClr val="dk1"/>
            </a:solidFill>
            <a:prstDash val="solid"/>
            <a:round/>
            <a:headEnd len="sm" w="sm" type="none"/>
            <a:tailEnd len="sm" w="sm" type="none"/>
          </a:ln>
        </p:spPr>
      </p:pic>
      <p:pic>
        <p:nvPicPr>
          <p:cNvPr descr="A graph of a line&#10;&#10;Description automatically generated with medium confidence" id="329" name="Google Shape;329;p23"/>
          <p:cNvPicPr preferRelativeResize="0"/>
          <p:nvPr/>
        </p:nvPicPr>
        <p:blipFill rotWithShape="1">
          <a:blip r:embed="rId4">
            <a:alphaModFix/>
          </a:blip>
          <a:srcRect b="0" l="0" r="0" t="0"/>
          <a:stretch/>
        </p:blipFill>
        <p:spPr>
          <a:xfrm>
            <a:off x="560440" y="648798"/>
            <a:ext cx="5375730" cy="2780202"/>
          </a:xfrm>
          <a:prstGeom prst="rect">
            <a:avLst/>
          </a:prstGeom>
          <a:noFill/>
          <a:ln cap="flat" cmpd="sng" w="9525">
            <a:solidFill>
              <a:schemeClr val="dk1"/>
            </a:solidFill>
            <a:prstDash val="solid"/>
            <a:round/>
            <a:headEnd len="sm" w="sm" type="none"/>
            <a:tailEnd len="sm" w="sm" type="none"/>
          </a:ln>
        </p:spPr>
      </p:pic>
      <p:sp>
        <p:nvSpPr>
          <p:cNvPr id="330" name="Google Shape;330;p23"/>
          <p:cNvSpPr txBox="1"/>
          <p:nvPr>
            <p:ph type="title"/>
          </p:nvPr>
        </p:nvSpPr>
        <p:spPr>
          <a:xfrm>
            <a:off x="1093840" y="3982798"/>
            <a:ext cx="3908322" cy="1274289"/>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90000"/>
              </a:lnSpc>
              <a:spcBef>
                <a:spcPts val="0"/>
              </a:spcBef>
              <a:spcAft>
                <a:spcPts val="0"/>
              </a:spcAft>
              <a:buClr>
                <a:schemeClr val="accent5"/>
              </a:buClr>
              <a:buSzPct val="100000"/>
              <a:buFont typeface="EB Garamond"/>
              <a:buNone/>
            </a:pPr>
            <a:r>
              <a:rPr lang="en-US" sz="4400"/>
              <a:t>Demand Forecasting</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sp>
        <p:nvSpPr>
          <p:cNvPr id="335" name="Google Shape;335;p24"/>
          <p:cNvSpPr txBox="1"/>
          <p:nvPr>
            <p:ph type="title"/>
          </p:nvPr>
        </p:nvSpPr>
        <p:spPr>
          <a:xfrm>
            <a:off x="2508455" y="543385"/>
            <a:ext cx="7175090" cy="783969"/>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accent5"/>
              </a:buClr>
              <a:buSzPts val="4400"/>
              <a:buFont typeface="EB Garamond"/>
              <a:buNone/>
            </a:pPr>
            <a:r>
              <a:rPr lang="en-US" sz="4400"/>
              <a:t>Impact of External Factors</a:t>
            </a:r>
            <a:endParaRPr/>
          </a:p>
        </p:txBody>
      </p:sp>
      <p:pic>
        <p:nvPicPr>
          <p:cNvPr descr="A graph showing the impact of external factors on demand&#10;&#10;Description automatically generated" id="336" name="Google Shape;336;p24"/>
          <p:cNvPicPr preferRelativeResize="0"/>
          <p:nvPr/>
        </p:nvPicPr>
        <p:blipFill rotWithShape="1">
          <a:blip r:embed="rId3">
            <a:alphaModFix/>
          </a:blip>
          <a:srcRect b="0" l="0" r="0" t="0"/>
          <a:stretch/>
        </p:blipFill>
        <p:spPr>
          <a:xfrm>
            <a:off x="526510" y="1319525"/>
            <a:ext cx="5715696" cy="3361813"/>
          </a:xfrm>
          <a:prstGeom prst="rect">
            <a:avLst/>
          </a:prstGeom>
          <a:noFill/>
          <a:ln cap="flat" cmpd="sng" w="9525">
            <a:solidFill>
              <a:schemeClr val="dk1"/>
            </a:solidFill>
            <a:prstDash val="solid"/>
            <a:round/>
            <a:headEnd len="sm" w="sm" type="none"/>
            <a:tailEnd len="sm" w="sm" type="none"/>
          </a:ln>
        </p:spPr>
      </p:pic>
      <p:sp>
        <p:nvSpPr>
          <p:cNvPr id="337" name="Google Shape;337;p24"/>
          <p:cNvSpPr txBox="1"/>
          <p:nvPr/>
        </p:nvSpPr>
        <p:spPr>
          <a:xfrm>
            <a:off x="6242206" y="1446161"/>
            <a:ext cx="5565058" cy="310854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Arial"/>
                <a:ea typeface="Arial"/>
                <a:cs typeface="Arial"/>
                <a:sym typeface="Arial"/>
              </a:rPr>
              <a:t>Objective-</a:t>
            </a:r>
            <a:endParaRPr b="0" i="0" sz="1400" u="none" cap="none" strike="noStrike">
              <a:solidFill>
                <a:schemeClr val="dk1"/>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400"/>
              <a:buFont typeface="Arial"/>
              <a:buChar char="•"/>
            </a:pPr>
            <a:r>
              <a:rPr b="0" i="0" lang="en-US" sz="1400" u="none" cap="none" strike="noStrike">
                <a:solidFill>
                  <a:schemeClr val="dk1"/>
                </a:solidFill>
                <a:latin typeface="Arial"/>
                <a:ea typeface="Arial"/>
                <a:cs typeface="Arial"/>
                <a:sym typeface="Arial"/>
              </a:rPr>
              <a:t>Examine how external factors (economic indicators, regional climate) influence sales.</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400"/>
              <a:buFont typeface="Arial"/>
              <a:buChar char="•"/>
            </a:pPr>
            <a:r>
              <a:rPr b="0" i="0" lang="en-US" sz="1400" u="none" cap="none" strike="noStrike">
                <a:solidFill>
                  <a:schemeClr val="dk1"/>
                </a:solidFill>
                <a:latin typeface="Arial"/>
                <a:ea typeface="Arial"/>
                <a:cs typeface="Arial"/>
                <a:sym typeface="Arial"/>
              </a:rPr>
              <a:t>Incorporate these insights into the demand forecasting models.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Arial"/>
                <a:ea typeface="Arial"/>
                <a:cs typeface="Arial"/>
                <a:sym typeface="Arial"/>
              </a:rPr>
              <a:t>Impact of external factors in Demand Forecasting</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Arial"/>
                <a:ea typeface="Arial"/>
                <a:cs typeface="Arial"/>
                <a:sym typeface="Arial"/>
              </a:rPr>
              <a:t>Temperature</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400"/>
              <a:buFont typeface="Arial"/>
              <a:buChar char="•"/>
            </a:pPr>
            <a:r>
              <a:rPr b="0" i="0" lang="en-US" sz="1400" u="none" cap="none" strike="noStrike">
                <a:solidFill>
                  <a:schemeClr val="dk1"/>
                </a:solidFill>
                <a:latin typeface="Arial"/>
                <a:ea typeface="Arial"/>
                <a:cs typeface="Arial"/>
                <a:sym typeface="Arial"/>
              </a:rPr>
              <a:t>It plays a significant role in shaping consumer demand, especially for seasonal products and services.</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400"/>
              <a:buFont typeface="Arial"/>
              <a:buChar char="•"/>
            </a:pPr>
            <a:r>
              <a:rPr b="0" i="0" lang="en-US" sz="1400" u="none" cap="none" strike="noStrike">
                <a:solidFill>
                  <a:schemeClr val="dk1"/>
                </a:solidFill>
                <a:latin typeface="Arial"/>
                <a:ea typeface="Arial"/>
                <a:cs typeface="Arial"/>
                <a:sym typeface="Arial"/>
              </a:rPr>
              <a:t>During colder months, there is typically an increased demand for products such as winter clothing, heating appliances, and comfort foods. Conversely, warmer temperatures can lead to higher demand for items like outdoor recreational equipment, summer clothing, and cold beverages.</a:t>
            </a:r>
            <a:endParaRPr b="0" i="0" sz="1400" u="none" cap="none" strike="noStrike">
              <a:solidFill>
                <a:srgbClr val="000000"/>
              </a:solidFill>
              <a:latin typeface="Arial"/>
              <a:ea typeface="Arial"/>
              <a:cs typeface="Arial"/>
              <a:sym typeface="Arial"/>
            </a:endParaRPr>
          </a:p>
        </p:txBody>
      </p:sp>
      <p:sp>
        <p:nvSpPr>
          <p:cNvPr id="338" name="Google Shape;338;p24"/>
          <p:cNvSpPr txBox="1"/>
          <p:nvPr/>
        </p:nvSpPr>
        <p:spPr>
          <a:xfrm>
            <a:off x="1134049" y="4738256"/>
            <a:ext cx="9923901" cy="160043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Arial"/>
                <a:ea typeface="Arial"/>
                <a:cs typeface="Arial"/>
                <a:sym typeface="Arial"/>
              </a:rPr>
              <a:t>Consumer Price Index (CPI) and Fuel Price Index</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400"/>
              <a:buFont typeface="Arial"/>
              <a:buChar char="•"/>
            </a:pPr>
            <a:r>
              <a:rPr b="0" i="0" lang="en-US" sz="1400" u="none" cap="none" strike="noStrike">
                <a:solidFill>
                  <a:schemeClr val="dk1"/>
                </a:solidFill>
                <a:latin typeface="Arial"/>
                <a:ea typeface="Arial"/>
                <a:cs typeface="Arial"/>
                <a:sym typeface="Arial"/>
              </a:rPr>
              <a:t>The CPI is a measure of the average change over time in the prices paid by urban consumers for a market basket of consumer goods and services.</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400"/>
              <a:buFont typeface="Arial"/>
              <a:buChar char="•"/>
            </a:pPr>
            <a:r>
              <a:rPr b="0" i="0" lang="en-US" sz="1400" u="none" cap="none" strike="noStrike">
                <a:solidFill>
                  <a:schemeClr val="dk1"/>
                </a:solidFill>
                <a:latin typeface="Arial"/>
                <a:ea typeface="Arial"/>
                <a:cs typeface="Arial"/>
                <a:sym typeface="Arial"/>
              </a:rPr>
              <a:t>Changes in the CPI reflect inflationary or deflationary pressures in the economy, which directly impact consumers' purchasing power.</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400"/>
              <a:buFont typeface="Arial"/>
              <a:buChar char="•"/>
            </a:pPr>
            <a:r>
              <a:rPr b="0" i="0" lang="en-US" sz="1400" u="none" cap="none" strike="noStrike">
                <a:solidFill>
                  <a:schemeClr val="dk1"/>
                </a:solidFill>
                <a:latin typeface="Arial"/>
                <a:ea typeface="Arial"/>
                <a:cs typeface="Arial"/>
                <a:sym typeface="Arial"/>
              </a:rPr>
              <a:t>Fluctuations in fuel prices directly affect operational costs for businesses involved in transportation and logistics, leading to changes in product pricing and availability.</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25"/>
          <p:cNvSpPr txBox="1"/>
          <p:nvPr>
            <p:ph type="title"/>
          </p:nvPr>
        </p:nvSpPr>
        <p:spPr>
          <a:xfrm>
            <a:off x="2183990" y="563050"/>
            <a:ext cx="7824019"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accent5"/>
              </a:buClr>
              <a:buSzPts val="4400"/>
              <a:buFont typeface="EB Garamond"/>
              <a:buNone/>
            </a:pPr>
            <a:r>
              <a:rPr lang="en-US" sz="4400"/>
              <a:t>Real-World Application and Strategy Formulation</a:t>
            </a:r>
            <a:endParaRPr sz="4400"/>
          </a:p>
        </p:txBody>
      </p:sp>
      <p:sp>
        <p:nvSpPr>
          <p:cNvPr id="344" name="Google Shape;344;p25"/>
          <p:cNvSpPr txBox="1"/>
          <p:nvPr/>
        </p:nvSpPr>
        <p:spPr>
          <a:xfrm>
            <a:off x="648929" y="2101089"/>
            <a:ext cx="4994787" cy="375487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Arial"/>
                <a:ea typeface="Arial"/>
                <a:cs typeface="Arial"/>
                <a:sym typeface="Arial"/>
              </a:rPr>
              <a:t>Real World Application  and Strategy Formulation in Inventory Management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Arial"/>
                <a:ea typeface="Arial"/>
                <a:cs typeface="Arial"/>
                <a:sym typeface="Arial"/>
              </a:rPr>
              <a:t>Seasonal Forecasting: </a:t>
            </a:r>
            <a:r>
              <a:rPr b="0" i="0" lang="en-US" sz="1400" u="none" cap="none" strike="noStrike">
                <a:solidFill>
                  <a:schemeClr val="dk1"/>
                </a:solidFill>
                <a:latin typeface="Arial"/>
                <a:ea typeface="Arial"/>
                <a:cs typeface="Arial"/>
                <a:sym typeface="Arial"/>
              </a:rPr>
              <a:t>Utilize temperature data to forecast seasonal demand fluctuations. Allocate inventory space and resources accordingly to meet the anticipated demand for seasonal products.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Arial"/>
                <a:ea typeface="Arial"/>
                <a:cs typeface="Arial"/>
                <a:sym typeface="Arial"/>
              </a:rPr>
              <a:t>Dynamic Pricing: </a:t>
            </a:r>
            <a:r>
              <a:rPr b="0" i="0" lang="en-US" sz="1400" u="none" cap="none" strike="noStrike">
                <a:solidFill>
                  <a:schemeClr val="dk1"/>
                </a:solidFill>
                <a:latin typeface="Arial"/>
                <a:ea typeface="Arial"/>
                <a:cs typeface="Arial"/>
                <a:sym typeface="Arial"/>
              </a:rPr>
              <a:t>Incorporate CPI data to adjust pricing strategies in response to changes in consumer purchasing power. Offer promotions or discounts during periods of low inflation to stimulate sales.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Arial"/>
                <a:ea typeface="Arial"/>
                <a:cs typeface="Arial"/>
                <a:sym typeface="Arial"/>
              </a:rPr>
              <a:t>Supply Chain Optimization: </a:t>
            </a:r>
            <a:r>
              <a:rPr b="0" i="0" lang="en-US" sz="1400" u="none" cap="none" strike="noStrike">
                <a:solidFill>
                  <a:schemeClr val="dk1"/>
                </a:solidFill>
                <a:latin typeface="Arial"/>
                <a:ea typeface="Arial"/>
                <a:cs typeface="Arial"/>
                <a:sym typeface="Arial"/>
              </a:rPr>
              <a:t>Monitor fuel price fluctuations to anticipate changes in transportation costs. Optimize supply chain routes and distribution networks to minimize the impact of fuel price changes on logistics expenses.</a:t>
            </a:r>
            <a:endParaRPr b="0" i="0" sz="1400" u="none" cap="none" strike="noStrike">
              <a:solidFill>
                <a:srgbClr val="000000"/>
              </a:solidFill>
              <a:latin typeface="Arial"/>
              <a:ea typeface="Arial"/>
              <a:cs typeface="Arial"/>
              <a:sym typeface="Arial"/>
            </a:endParaRPr>
          </a:p>
        </p:txBody>
      </p:sp>
      <p:sp>
        <p:nvSpPr>
          <p:cNvPr id="345" name="Google Shape;345;p25"/>
          <p:cNvSpPr txBox="1"/>
          <p:nvPr/>
        </p:nvSpPr>
        <p:spPr>
          <a:xfrm>
            <a:off x="5860026" y="2101089"/>
            <a:ext cx="5506064" cy="353943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Arial"/>
                <a:ea typeface="Arial"/>
                <a:cs typeface="Arial"/>
                <a:sym typeface="Arial"/>
              </a:rPr>
              <a:t>Real World Application  and Strategy Formulation  in Marketing Strategies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Arial"/>
                <a:ea typeface="Arial"/>
                <a:cs typeface="Arial"/>
                <a:sym typeface="Arial"/>
              </a:rPr>
              <a:t>Targeted Campaigns:</a:t>
            </a:r>
            <a:r>
              <a:rPr b="0" i="0" lang="en-US" sz="1400" u="none" cap="none" strike="noStrike">
                <a:solidFill>
                  <a:schemeClr val="dk1"/>
                </a:solidFill>
                <a:latin typeface="Arial"/>
                <a:ea typeface="Arial"/>
                <a:cs typeface="Arial"/>
                <a:sym typeface="Arial"/>
              </a:rPr>
              <a:t> Tailor marketing campaigns based on regional climate conditions to promote relevant products. For example, launch winter clothing promotions in colder regions and summer gear promotions in warmer areas.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Arial"/>
                <a:ea typeface="Arial"/>
                <a:cs typeface="Arial"/>
                <a:sym typeface="Arial"/>
              </a:rPr>
              <a:t>Price Sensitivity Analysis:</a:t>
            </a:r>
            <a:r>
              <a:rPr b="0" i="0" lang="en-US" sz="1400" u="none" cap="none" strike="noStrike">
                <a:solidFill>
                  <a:schemeClr val="dk1"/>
                </a:solidFill>
                <a:latin typeface="Arial"/>
                <a:ea typeface="Arial"/>
                <a:cs typeface="Arial"/>
                <a:sym typeface="Arial"/>
              </a:rPr>
              <a:t> Analyze consumer response to price changes using CPI data. Adjust pricing strategies to maximize revenue while remaining competitive in the market.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Arial"/>
                <a:ea typeface="Arial"/>
                <a:cs typeface="Arial"/>
                <a:sym typeface="Arial"/>
              </a:rPr>
              <a:t>Promotional Timing: </a:t>
            </a:r>
            <a:r>
              <a:rPr b="0" i="0" lang="en-US" sz="1400" u="none" cap="none" strike="noStrike">
                <a:solidFill>
                  <a:schemeClr val="dk1"/>
                </a:solidFill>
                <a:latin typeface="Arial"/>
                <a:ea typeface="Arial"/>
                <a:cs typeface="Arial"/>
                <a:sym typeface="Arial"/>
              </a:rPr>
              <a:t>Coordinate marketing efforts with fluctuations in fuel prices. Launch promotions or special offers during periods of low fuel prices to offset potential decreases in consumer discretionary spending.</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 name="Shape 349"/>
        <p:cNvGrpSpPr/>
        <p:nvPr/>
      </p:nvGrpSpPr>
      <p:grpSpPr>
        <a:xfrm>
          <a:off x="0" y="0"/>
          <a:ext cx="0" cy="0"/>
          <a:chOff x="0" y="0"/>
          <a:chExt cx="0" cy="0"/>
        </a:xfrm>
      </p:grpSpPr>
      <p:sp>
        <p:nvSpPr>
          <p:cNvPr id="350" name="Google Shape;350;p26"/>
          <p:cNvSpPr txBox="1"/>
          <p:nvPr>
            <p:ph type="title"/>
          </p:nvPr>
        </p:nvSpPr>
        <p:spPr>
          <a:xfrm>
            <a:off x="2183990" y="563050"/>
            <a:ext cx="7824019"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accent5"/>
              </a:buClr>
              <a:buSzPts val="4400"/>
              <a:buFont typeface="EB Garamond"/>
              <a:buNone/>
            </a:pPr>
            <a:r>
              <a:rPr lang="en-US" sz="4400"/>
              <a:t>Real-World Application and Strategy Formulation</a:t>
            </a:r>
            <a:endParaRPr sz="4400"/>
          </a:p>
        </p:txBody>
      </p:sp>
      <p:sp>
        <p:nvSpPr>
          <p:cNvPr id="351" name="Google Shape;351;p26"/>
          <p:cNvSpPr txBox="1"/>
          <p:nvPr/>
        </p:nvSpPr>
        <p:spPr>
          <a:xfrm>
            <a:off x="845575" y="2036097"/>
            <a:ext cx="4935793" cy="375487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Arial"/>
                <a:ea typeface="Arial"/>
                <a:cs typeface="Arial"/>
                <a:sym typeface="Arial"/>
              </a:rPr>
              <a:t>Real World Application  and Strategy Formulation in Store Optimization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Arial"/>
                <a:ea typeface="Arial"/>
                <a:cs typeface="Arial"/>
                <a:sym typeface="Arial"/>
              </a:rPr>
              <a:t>Product Placement: </a:t>
            </a:r>
            <a:r>
              <a:rPr b="0" i="0" lang="en-US" sz="1400" u="none" cap="none" strike="noStrike">
                <a:solidFill>
                  <a:schemeClr val="dk1"/>
                </a:solidFill>
                <a:latin typeface="Arial"/>
                <a:ea typeface="Arial"/>
                <a:cs typeface="Arial"/>
                <a:sym typeface="Arial"/>
              </a:rPr>
              <a:t>Arrange store layouts to reflect seasonal demand patterns identified through temperature data. Highlight relevant products prominently to attract customer attention.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Arial"/>
                <a:ea typeface="Arial"/>
                <a:cs typeface="Arial"/>
                <a:sym typeface="Arial"/>
              </a:rPr>
              <a:t>Inventory Turnover:</a:t>
            </a:r>
            <a:r>
              <a:rPr b="0" i="0" lang="en-US" sz="1400" u="none" cap="none" strike="noStrike">
                <a:solidFill>
                  <a:schemeClr val="dk1"/>
                </a:solidFill>
                <a:latin typeface="Arial"/>
                <a:ea typeface="Arial"/>
                <a:cs typeface="Arial"/>
                <a:sym typeface="Arial"/>
              </a:rPr>
              <a:t> Use CPI data to optimize inventory levels and minimize carrying costs. Adjust stock levels based on changes in consumer spending patterns to ensure optimal turnover rates.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Arial"/>
                <a:ea typeface="Arial"/>
                <a:cs typeface="Arial"/>
                <a:sym typeface="Arial"/>
              </a:rPr>
              <a:t>Customer Experience:</a:t>
            </a:r>
            <a:r>
              <a:rPr b="0" i="0" lang="en-US" sz="1400" u="none" cap="none" strike="noStrike">
                <a:solidFill>
                  <a:schemeClr val="dk1"/>
                </a:solidFill>
                <a:latin typeface="Arial"/>
                <a:ea typeface="Arial"/>
                <a:cs typeface="Arial"/>
                <a:sym typeface="Arial"/>
              </a:rPr>
              <a:t> Leverage insights from fuel price data to offer convenience-oriented services, such as online ordering with flexible delivery options, to mitigate the impact of increased transportation costs on consumers.</a:t>
            </a:r>
            <a:endParaRPr b="0" i="0" sz="1400" u="none" cap="none" strike="noStrike">
              <a:solidFill>
                <a:srgbClr val="000000"/>
              </a:solidFill>
              <a:latin typeface="Arial"/>
              <a:ea typeface="Arial"/>
              <a:cs typeface="Arial"/>
              <a:sym typeface="Arial"/>
            </a:endParaRPr>
          </a:p>
        </p:txBody>
      </p:sp>
      <p:sp>
        <p:nvSpPr>
          <p:cNvPr id="352" name="Google Shape;352;p26"/>
          <p:cNvSpPr txBox="1"/>
          <p:nvPr/>
        </p:nvSpPr>
        <p:spPr>
          <a:xfrm>
            <a:off x="5899354" y="1893745"/>
            <a:ext cx="5447071" cy="440120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Arial"/>
                <a:ea typeface="Arial"/>
                <a:cs typeface="Arial"/>
                <a:sym typeface="Arial"/>
              </a:rPr>
              <a:t>Challenges in implementing these strategies may include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Arial"/>
                <a:ea typeface="Arial"/>
                <a:cs typeface="Arial"/>
                <a:sym typeface="Arial"/>
              </a:rPr>
              <a:t>Data Integration:</a:t>
            </a:r>
            <a:r>
              <a:rPr b="0" i="0" lang="en-US" sz="1400" u="none" cap="none" strike="noStrike">
                <a:solidFill>
                  <a:schemeClr val="dk1"/>
                </a:solidFill>
                <a:latin typeface="Arial"/>
                <a:ea typeface="Arial"/>
                <a:cs typeface="Arial"/>
                <a:sym typeface="Arial"/>
              </a:rPr>
              <a:t> Ensuring seamless integration of diverse data sources (temperature, CPI, fuel prices) into existing systems for accurate forecasting and decision-making. Resource Allocation: Allocating resources effectively to implement dynamic pricing strategies and targeted marketing campaigns based on real-time data analysis.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Arial"/>
                <a:ea typeface="Arial"/>
                <a:cs typeface="Arial"/>
                <a:sym typeface="Arial"/>
              </a:rPr>
              <a:t>Operational Flexibility:</a:t>
            </a:r>
            <a:r>
              <a:rPr b="0" i="0" lang="en-US" sz="1400" u="none" cap="none" strike="noStrike">
                <a:solidFill>
                  <a:schemeClr val="dk1"/>
                </a:solidFill>
                <a:latin typeface="Arial"/>
                <a:ea typeface="Arial"/>
                <a:cs typeface="Arial"/>
                <a:sym typeface="Arial"/>
              </a:rPr>
              <a:t> Adapting supply chain and inventory management processes to respond quickly to changes in external factors, such as sudden fluctuations in fuel prices or unexpected shifts in consumer behavior.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Arial"/>
                <a:ea typeface="Arial"/>
                <a:cs typeface="Arial"/>
                <a:sym typeface="Arial"/>
              </a:rPr>
              <a:t>Competitive Pressures:</a:t>
            </a:r>
            <a:r>
              <a:rPr b="0" i="0" lang="en-US" sz="1400" u="none" cap="none" strike="noStrike">
                <a:solidFill>
                  <a:schemeClr val="dk1"/>
                </a:solidFill>
                <a:latin typeface="Arial"/>
                <a:ea typeface="Arial"/>
                <a:cs typeface="Arial"/>
                <a:sym typeface="Arial"/>
              </a:rPr>
              <a:t> Navigating competitive pressures and market dynamics while adjusting pricing strategies to maintain profitability and market share. Addressing these challenges requires a combination of technological capabilities, strategic planning, and organizational agility to leverage the insights gained from external factors effectively.</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6" name="Shape 356"/>
        <p:cNvGrpSpPr/>
        <p:nvPr/>
      </p:nvGrpSpPr>
      <p:grpSpPr>
        <a:xfrm>
          <a:off x="0" y="0"/>
          <a:ext cx="0" cy="0"/>
          <a:chOff x="0" y="0"/>
          <a:chExt cx="0" cy="0"/>
        </a:xfrm>
      </p:grpSpPr>
      <p:sp>
        <p:nvSpPr>
          <p:cNvPr id="357" name="Google Shape;357;p27"/>
          <p:cNvSpPr txBox="1"/>
          <p:nvPr>
            <p:ph type="title"/>
          </p:nvPr>
        </p:nvSpPr>
        <p:spPr>
          <a:xfrm>
            <a:off x="3550674" y="681037"/>
            <a:ext cx="5090652" cy="852794"/>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accent5"/>
              </a:buClr>
              <a:buSzPts val="5200"/>
              <a:buFont typeface="EB Garamond"/>
              <a:buNone/>
            </a:pPr>
            <a:r>
              <a:rPr lang="en-US"/>
              <a:t>Conclusion</a:t>
            </a:r>
            <a:endParaRPr/>
          </a:p>
        </p:txBody>
      </p:sp>
      <p:sp>
        <p:nvSpPr>
          <p:cNvPr id="358" name="Google Shape;358;p27"/>
          <p:cNvSpPr txBox="1"/>
          <p:nvPr>
            <p:ph idx="1" type="body"/>
          </p:nvPr>
        </p:nvSpPr>
        <p:spPr>
          <a:xfrm>
            <a:off x="838200" y="1706709"/>
            <a:ext cx="10515600" cy="3998306"/>
          </a:xfrm>
          <a:prstGeom prst="rect">
            <a:avLst/>
          </a:prstGeom>
          <a:solidFill>
            <a:schemeClr val="lt2"/>
          </a:solidFill>
          <a:ln>
            <a:noFill/>
          </a:ln>
        </p:spPr>
        <p:txBody>
          <a:bodyPr anchorCtr="0" anchor="t" bIns="45700" lIns="91425" spcFirstLastPara="1" rIns="91425" wrap="square" tIns="45700">
            <a:normAutofit/>
          </a:bodyPr>
          <a:lstStyle/>
          <a:p>
            <a:pPr indent="-228600" lvl="0" marL="457200" rtl="0" algn="l">
              <a:lnSpc>
                <a:spcPct val="110000"/>
              </a:lnSpc>
              <a:spcBef>
                <a:spcPts val="0"/>
              </a:spcBef>
              <a:spcAft>
                <a:spcPts val="0"/>
              </a:spcAft>
              <a:buSzPts val="1280"/>
              <a:buFont typeface="Noto Sans Symbols"/>
              <a:buChar char="▪"/>
            </a:pPr>
            <a:r>
              <a:rPr lang="en-US" sz="1600">
                <a:solidFill>
                  <a:schemeClr val="dk1"/>
                </a:solidFill>
                <a:latin typeface="Arial"/>
                <a:ea typeface="Arial"/>
                <a:cs typeface="Arial"/>
                <a:sym typeface="Arial"/>
              </a:rPr>
              <a:t>This project aims to optimize store performance, forecast demand accurately, and enhance customer experience through segmentation and personalized marketing strategies.</a:t>
            </a:r>
            <a:endParaRPr/>
          </a:p>
          <a:p>
            <a:pPr indent="-228600" lvl="0" marL="457200" rtl="0" algn="l">
              <a:lnSpc>
                <a:spcPct val="110000"/>
              </a:lnSpc>
              <a:spcBef>
                <a:spcPts val="1000"/>
              </a:spcBef>
              <a:spcAft>
                <a:spcPts val="0"/>
              </a:spcAft>
              <a:buSzPts val="1280"/>
              <a:buFont typeface="Noto Sans Symbols"/>
              <a:buChar char="▪"/>
            </a:pPr>
            <a:r>
              <a:rPr lang="en-US" sz="1600">
                <a:solidFill>
                  <a:schemeClr val="dk1"/>
                </a:solidFill>
                <a:latin typeface="Arial"/>
                <a:ea typeface="Arial"/>
                <a:cs typeface="Arial"/>
                <a:sym typeface="Arial"/>
              </a:rPr>
              <a:t>By incorporating external factors such as regional climate, consumer price index, and fuel prices into our analysis, we have gained valuable insights into the dynamics shaping consumer behavior and purchasing patterns.</a:t>
            </a:r>
            <a:endParaRPr/>
          </a:p>
          <a:p>
            <a:pPr indent="-228600" lvl="0" marL="457200" rtl="0" algn="l">
              <a:lnSpc>
                <a:spcPct val="110000"/>
              </a:lnSpc>
              <a:spcBef>
                <a:spcPts val="1000"/>
              </a:spcBef>
              <a:spcAft>
                <a:spcPts val="0"/>
              </a:spcAft>
              <a:buSzPts val="1280"/>
              <a:buFont typeface="Noto Sans Symbols"/>
              <a:buChar char="▪"/>
            </a:pPr>
            <a:r>
              <a:rPr lang="en-US" sz="1600">
                <a:solidFill>
                  <a:schemeClr val="dk1"/>
                </a:solidFill>
                <a:latin typeface="Arial"/>
                <a:ea typeface="Arial"/>
                <a:cs typeface="Arial"/>
                <a:sym typeface="Arial"/>
              </a:rPr>
              <a:t>A comprehensive approach to inventory management, marketing, and store optimization, we seek to capitalize on these insights to drive sustainable growth and competitive advantage. </a:t>
            </a:r>
            <a:endParaRPr/>
          </a:p>
          <a:p>
            <a:pPr indent="-228600" lvl="0" marL="457200" rtl="0" algn="l">
              <a:lnSpc>
                <a:spcPct val="110000"/>
              </a:lnSpc>
              <a:spcBef>
                <a:spcPts val="1000"/>
              </a:spcBef>
              <a:spcAft>
                <a:spcPts val="0"/>
              </a:spcAft>
              <a:buSzPts val="1280"/>
              <a:buFont typeface="Noto Sans Symbols"/>
              <a:buChar char="▪"/>
            </a:pPr>
            <a:r>
              <a:rPr lang="en-US" sz="1600">
                <a:solidFill>
                  <a:schemeClr val="dk1"/>
                </a:solidFill>
                <a:latin typeface="Arial"/>
                <a:ea typeface="Arial"/>
                <a:cs typeface="Arial"/>
                <a:sym typeface="Arial"/>
              </a:rPr>
              <a:t>Tailoring our strategies to meet the specific needs and preferences of different store and department segments, we can deliver more relevant and engaging experiences that resonate with our target audience.</a:t>
            </a:r>
            <a:endParaRPr/>
          </a:p>
          <a:p>
            <a:pPr indent="-228600" lvl="0" marL="457200" rtl="0" algn="l">
              <a:lnSpc>
                <a:spcPct val="110000"/>
              </a:lnSpc>
              <a:spcBef>
                <a:spcPts val="1000"/>
              </a:spcBef>
              <a:spcAft>
                <a:spcPts val="0"/>
              </a:spcAft>
              <a:buSzPts val="1280"/>
              <a:buFont typeface="Noto Sans Symbols"/>
              <a:buChar char="▪"/>
            </a:pPr>
            <a:r>
              <a:rPr lang="en-US" sz="1600">
                <a:solidFill>
                  <a:schemeClr val="dk1"/>
                </a:solidFill>
                <a:latin typeface="Arial"/>
                <a:ea typeface="Arial"/>
                <a:cs typeface="Arial"/>
                <a:sym typeface="Arial"/>
              </a:rPr>
              <a:t>By Leveraging data-driven techniques such as dynamic pricing and real-time inventory management, we can adapt swiftly to changing market conditions and consumer trends, ensuring optimal product availability and pricing competitiveness.</a:t>
            </a:r>
            <a:endParaRPr/>
          </a:p>
        </p:txBody>
      </p:sp>
    </p:spTree>
  </p:cSld>
  <p:clrMapOvr>
    <a:masterClrMapping/>
  </p:clrMapOvr>
</p:sld>
</file>

<file path=ppt/theme/theme1.xml><?xml version="1.0" encoding="utf-8"?>
<a:theme xmlns:a="http://schemas.openxmlformats.org/drawingml/2006/main" xmlns:r="http://schemas.openxmlformats.org/officeDocument/2006/relationships" name="LuminousVTI">
  <a:themeElements>
    <a:clrScheme name="AnalogousFromRegularSeed_2SEEDS">
      <a:dk1>
        <a:srgbClr val="000000"/>
      </a:dk1>
      <a:lt1>
        <a:srgbClr val="FFFFFF"/>
      </a:lt1>
      <a:dk2>
        <a:srgbClr val="1B2F2E"/>
      </a:dk2>
      <a:lt2>
        <a:srgbClr val="F3F1F0"/>
      </a:lt2>
      <a:accent1>
        <a:srgbClr val="3B9EB1"/>
      </a:accent1>
      <a:accent2>
        <a:srgbClr val="46B196"/>
      </a:accent2>
      <a:accent3>
        <a:srgbClr val="4D7EC3"/>
      </a:accent3>
      <a:accent4>
        <a:srgbClr val="B13B3E"/>
      </a:accent4>
      <a:accent5>
        <a:srgbClr val="C37B4D"/>
      </a:accent5>
      <a:accent6>
        <a:srgbClr val="B19A3B"/>
      </a:accent6>
      <a:hlink>
        <a:srgbClr val="C05944"/>
      </a:hlink>
      <a:folHlink>
        <a:srgbClr val="7F7F7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2024-08-14T03:31:56Z</dcterms:created>
  <dc:creator>mukta barad</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defa4170-0d19-0005-0004-bc88714345d2_Enabled">
    <vt:lpwstr>true</vt:lpwstr>
  </property>
  <property fmtid="{D5CDD505-2E9C-101B-9397-08002B2CF9AE}" pid="3" name="MSIP_Label_defa4170-0d19-0005-0004-bc88714345d2_SetDate">
    <vt:lpwstr>2024-08-14T03:33:49Z</vt:lpwstr>
  </property>
  <property fmtid="{D5CDD505-2E9C-101B-9397-08002B2CF9AE}" pid="4" name="MSIP_Label_defa4170-0d19-0005-0004-bc88714345d2_Method">
    <vt:lpwstr>Standard</vt:lpwstr>
  </property>
  <property fmtid="{D5CDD505-2E9C-101B-9397-08002B2CF9AE}" pid="5" name="MSIP_Label_defa4170-0d19-0005-0004-bc88714345d2_Name">
    <vt:lpwstr>defa4170-0d19-0005-0004-bc88714345d2</vt:lpwstr>
  </property>
  <property fmtid="{D5CDD505-2E9C-101B-9397-08002B2CF9AE}" pid="6" name="MSIP_Label_defa4170-0d19-0005-0004-bc88714345d2_SiteId">
    <vt:lpwstr>a4f9a2ec-76e8-47ff-87d7-42c27af26a9a</vt:lpwstr>
  </property>
  <property fmtid="{D5CDD505-2E9C-101B-9397-08002B2CF9AE}" pid="7" name="MSIP_Label_defa4170-0d19-0005-0004-bc88714345d2_ActionId">
    <vt:lpwstr>70315d0e-5157-4fdf-9676-366f615f247d</vt:lpwstr>
  </property>
  <property fmtid="{D5CDD505-2E9C-101B-9397-08002B2CF9AE}" pid="8" name="MSIP_Label_defa4170-0d19-0005-0004-bc88714345d2_ContentBits">
    <vt:lpwstr>0</vt:lpwstr>
  </property>
</Properties>
</file>